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73152" cy="685800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749808"/>
            <a:ext cx="1097280" cy="1097280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965" y="868680"/>
            <a:ext cx="122011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0520" y="9326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E59"/>
                </a:solidFill>
              </a:rPr>
              <a:t>Laboratorio 2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4160520" y="14813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67B1"/>
                </a:solidFill>
              </a:rPr>
              <a:t>Datos e información para procesos organizacionales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4160520" y="2029968"/>
            <a:ext cx="6492240" cy="0"/>
          </a:xfrm>
          <a:prstGeom prst="line">
            <a:avLst/>
          </a:prstGeom>
          <a:noFill/>
          <a:ln w="15240">
            <a:solidFill>
              <a:srgbClr val="D4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60520" y="23317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</a:rPr>
              <a:t>Organización principal: Instituto Geofísico del Perú (IGP)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</a:rPr>
              <a:t>Organización académica complementaria: Universidad Nacional del Callao (UNAC)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160520" y="32735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16F"/>
                </a:solidFill>
              </a:rPr>
              <a:t>Curso: Diseño y Gestión de Procesos Organizacionales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6616F"/>
                </a:solidFill>
              </a:rPr>
              <a:t>Docente: Ing. Eddie Malca Vicente · Semestre 2026-B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160520" y="409651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51960" y="41696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Grupo 9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160520" y="455371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</a:rPr>
              <a:t>Pinto Pante Gabriela Betsabé · Santos Benites Juan José · Villanueva Portella Jhon Gesell · Escalante Matta Juan José</a:t>
            </a:r>
            <a:endParaRPr lang="en-US" sz="1180" dirty="0"/>
          </a:p>
        </p:txBody>
      </p:sp>
      <p:sp>
        <p:nvSpPr>
          <p:cNvPr id="14" name="Text 10"/>
          <p:cNvSpPr/>
          <p:nvPr/>
        </p:nvSpPr>
        <p:spPr>
          <a:xfrm>
            <a:off x="4160520" y="6172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16F"/>
                </a:solidFill>
              </a:rPr>
              <a:t>Escuela Profesional de Ingeniería de Sistemas · FIIS · UNAC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Preguntas que resuelve el Laboratorio 2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" y="1435608"/>
            <a:ext cx="384048" cy="384048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325880" y="1417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Entidades de datos del IGP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709160" y="143560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Distinguir entidades, documentos, atributos y estados.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2185416"/>
            <a:ext cx="384048" cy="384048"/>
          </a:xfrm>
          <a:prstGeom prst="ellipse">
            <a:avLst/>
          </a:prstGeom>
          <a:solidFill>
            <a:srgbClr val="4CB3D8"/>
          </a:solidFill>
          <a:ln w="12700">
            <a:solidFill>
              <a:srgbClr val="4CB3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2585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325880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Entidades de datos de la UNAC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09160" y="218541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Mapa conceptual de relaciones académicas.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2935224"/>
            <a:ext cx="384048" cy="384048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" y="30083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325880" y="29169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Bases de datos para el IGP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709160" y="293522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Trazabilidad, consulta, interoperabilidad y control.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31520" y="3685032"/>
            <a:ext cx="384048" cy="384048"/>
          </a:xfrm>
          <a:prstGeom prst="ellipse">
            <a:avLst/>
          </a:prstGeom>
          <a:solidFill>
            <a:srgbClr val="4CB3D8"/>
          </a:solidFill>
          <a:ln w="12700">
            <a:solidFill>
              <a:srgbClr val="4CB3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37581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325880" y="3666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Plan de implementación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709160" y="368503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De requerimientos a mantenimiento, alineado a procesos.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31520" y="4434840"/>
            <a:ext cx="384048" cy="384048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1520" y="45079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325880" y="4416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Bases públicas del Perú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709160" y="443484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Plataformas nacionales relevantes con fuentes oficiales.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14400" y="548640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1875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51560" y="560527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875B"/>
                </a:solidFill>
              </a:rPr>
              <a:t>Criterio metodológico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51560" y="589788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El IGP se aborda como entidad pública de investigación; la UNAC se analiza solo cuando la pregunta lo solicita.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Marco conceptual: datos, información y entidades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685800" y="141732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95528" y="1508760"/>
            <a:ext cx="288950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</a:rPr>
              <a:t>Dato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</a:rPr>
              <a:t>Unidad mínima que requiere contexto para adquirir significado.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886200" y="1892808"/>
            <a:ext cx="73152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709160" y="141732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4818888" y="1508760"/>
            <a:ext cx="288950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</a:rPr>
              <a:t>Procesamiento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</a:rPr>
              <a:t>Validación, organización, relación y transformación.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09560" y="1892808"/>
            <a:ext cx="73152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732520" y="1417320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842248" y="1508760"/>
            <a:ext cx="252374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Información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Datos procesados que reducen incertidumbre y apoyan decisiones.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77240" y="27432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Para este laboratorio, una entidad de datos es un objeto que necesitamos identificar y relacionar porque participa en el proceso.</a:t>
            </a:r>
          </a:p>
        </p:txBody>
      </p:sp>
      <p:sp>
        <p:nvSpPr>
          <p:cNvPr id="17" name="Shape 13"/>
          <p:cNvSpPr/>
          <p:nvPr/>
        </p:nvSpPr>
        <p:spPr>
          <a:xfrm>
            <a:off x="822960" y="3657600"/>
            <a:ext cx="1554480" cy="393192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77824" y="3694176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Concepto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377440" y="3657600"/>
            <a:ext cx="3657600" cy="393192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2432304" y="369417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Pregunta clave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35040" y="3657600"/>
            <a:ext cx="5303520" cy="393192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089904" y="3694176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Ejemplo en IGP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22960" y="4050792"/>
            <a:ext cx="1554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877824" y="408736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Entidad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2377440" y="4050792"/>
            <a:ext cx="3657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2432304" y="40873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¿Qué objeto necesitamos seguir?</a:t>
            </a:r>
          </a:p>
        </p:txBody>
      </p:sp>
      <p:sp>
        <p:nvSpPr>
          <p:cNvPr id="27" name="Shape 23"/>
          <p:cNvSpPr/>
          <p:nvPr/>
        </p:nvSpPr>
        <p:spPr>
          <a:xfrm>
            <a:off x="6035040" y="4050792"/>
            <a:ext cx="5303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089904" y="4087368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Orden de servicio, expediente, entregable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822960" y="4443984"/>
            <a:ext cx="15544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877824" y="44805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Atributo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377440" y="4443984"/>
            <a:ext cx="365760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2432304" y="448056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¿Qué dato lo describe?</a:t>
            </a:r>
          </a:p>
        </p:txBody>
      </p:sp>
      <p:sp>
        <p:nvSpPr>
          <p:cNvPr id="33" name="Shape 29"/>
          <p:cNvSpPr/>
          <p:nvPr/>
        </p:nvSpPr>
        <p:spPr>
          <a:xfrm>
            <a:off x="6035040" y="4443984"/>
            <a:ext cx="530352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6089904" y="4480560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Fecha de registro, monto, estado, número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22960" y="4837176"/>
            <a:ext cx="1554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877824" y="4873752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Documento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377440" y="4837176"/>
            <a:ext cx="3657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2432304" y="487375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¿Qué sustenta el trámite?</a:t>
            </a:r>
          </a:p>
        </p:txBody>
      </p:sp>
      <p:sp>
        <p:nvSpPr>
          <p:cNvPr id="39" name="Shape 35"/>
          <p:cNvSpPr/>
          <p:nvPr/>
        </p:nvSpPr>
        <p:spPr>
          <a:xfrm>
            <a:off x="6035040" y="4837176"/>
            <a:ext cx="5303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6089904" y="4873752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Informe, RxH, suspensión de 4.ª categoría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822960" y="5230368"/>
            <a:ext cx="15544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877824" y="5266944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Relación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2377440" y="5230368"/>
            <a:ext cx="365760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4" name="Text 40"/>
          <p:cNvSpPr/>
          <p:nvPr/>
        </p:nvSpPr>
        <p:spPr>
          <a:xfrm>
            <a:off x="2432304" y="526694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¿Cómo se relacionan?</a:t>
            </a:r>
          </a:p>
        </p:txBody>
      </p:sp>
      <p:sp>
        <p:nvSpPr>
          <p:cNvPr id="45" name="Shape 41"/>
          <p:cNvSpPr/>
          <p:nvPr/>
        </p:nvSpPr>
        <p:spPr>
          <a:xfrm>
            <a:off x="6035040" y="5230368"/>
            <a:ext cx="530352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6089904" y="5266944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El proveedor presenta entregables y el expediente agrupa documentos</a:t>
            </a:r>
          </a:p>
        </p:txBody>
      </p:sp>
      <p:sp>
        <p:nvSpPr>
          <p:cNvPr id="47" name="Text 43"/>
          <p:cNvSpPr/>
          <p:nvPr/>
        </p:nvSpPr>
        <p:spPr>
          <a:xfrm>
            <a:off x="822960" y="58064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Fuentes: materiales del curso “Datos e información” y “Sistemas de información”.</a:t>
            </a:r>
          </a:p>
        </p:txBody>
      </p:sp>
      <p:sp>
        <p:nvSpPr>
          <p:cNvPr id="48" name="Shape 44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9" name="Text 45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Proceso base del IGP para identificar entidades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85800" y="12984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Usamos el proceso que uno de los integrantes conoce por experiencia: presentación, revisión, V.B., registro y trámite de entregables de locadores.</a:t>
            </a:r>
          </a:p>
        </p:txBody>
      </p:sp>
      <p:sp>
        <p:nvSpPr>
          <p:cNvPr id="9" name="Shape 5"/>
          <p:cNvSpPr/>
          <p:nvPr/>
        </p:nvSpPr>
        <p:spPr>
          <a:xfrm>
            <a:off x="62179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3152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Locador</a:t>
            </a:r>
          </a:p>
          <a:p>
            <a:r>
              <a:t>prepara</a:t>
            </a:r>
          </a:p>
          <a:p>
            <a:r>
              <a:t>informe</a:t>
            </a:r>
          </a:p>
        </p:txBody>
      </p:sp>
      <p:sp>
        <p:nvSpPr>
          <p:cNvPr id="11" name="Shape 7"/>
          <p:cNvSpPr/>
          <p:nvPr/>
        </p:nvSpPr>
        <p:spPr>
          <a:xfrm>
            <a:off x="224942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249631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260604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Revisor</a:t>
            </a:r>
          </a:p>
          <a:p>
            <a:r>
              <a:t>observa o da</a:t>
            </a:r>
          </a:p>
          <a:p>
            <a:r>
              <a:t>V.B.</a:t>
            </a:r>
          </a:p>
        </p:txBody>
      </p:sp>
      <p:sp>
        <p:nvSpPr>
          <p:cNvPr id="14" name="Shape 10"/>
          <p:cNvSpPr/>
          <p:nvPr/>
        </p:nvSpPr>
        <p:spPr>
          <a:xfrm>
            <a:off x="412394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37083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448056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Responsable</a:t>
            </a:r>
          </a:p>
          <a:p>
            <a:r>
              <a:t>aprueba o</a:t>
            </a:r>
          </a:p>
          <a:p>
            <a:r>
              <a:t>firma</a:t>
            </a:r>
          </a:p>
        </p:txBody>
      </p:sp>
      <p:sp>
        <p:nvSpPr>
          <p:cNvPr id="17" name="Shape 13"/>
          <p:cNvSpPr/>
          <p:nvPr/>
        </p:nvSpPr>
        <p:spPr>
          <a:xfrm>
            <a:off x="599846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24535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35508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Mesa de Partes</a:t>
            </a:r>
          </a:p>
          <a:p>
            <a:r>
              <a:t>registra y genera</a:t>
            </a:r>
          </a:p>
          <a:p>
            <a:r>
              <a:t>expediente</a:t>
            </a:r>
          </a:p>
        </p:txBody>
      </p:sp>
      <p:sp>
        <p:nvSpPr>
          <p:cNvPr id="20" name="Shape 16"/>
          <p:cNvSpPr/>
          <p:nvPr/>
        </p:nvSpPr>
        <p:spPr>
          <a:xfrm>
            <a:off x="787298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11987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822960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Unidad adm.</a:t>
            </a:r>
          </a:p>
          <a:p>
            <a:r>
              <a:t>correspondiente</a:t>
            </a:r>
          </a:p>
        </p:txBody>
      </p:sp>
      <p:sp>
        <p:nvSpPr>
          <p:cNvPr id="23" name="Shape 19"/>
          <p:cNvSpPr/>
          <p:nvPr/>
        </p:nvSpPr>
        <p:spPr>
          <a:xfrm>
            <a:off x="974750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999439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1010412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Tesorería*</a:t>
            </a:r>
          </a:p>
          <a:p>
            <a:r>
              <a:t>caso observado</a:t>
            </a:r>
          </a:p>
        </p:txBody>
      </p:sp>
      <p:sp>
        <p:nvSpPr>
          <p:cNvPr id="26" name="Shape 22"/>
          <p:cNvSpPr/>
          <p:nvPr/>
        </p:nvSpPr>
        <p:spPr>
          <a:xfrm>
            <a:off x="822960" y="37033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6D5DF6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960120" y="38221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5DF6"/>
                </a:solidFill>
              </a:rPr>
              <a:t>Documentos frecuentes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60120" y="4114800"/>
            <a:ext cx="4846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Informe principal · Orden de Servicio · Recibo por Honorarios · suspensión de cuarta categoría, cuando corresponde</a:t>
            </a:r>
          </a:p>
        </p:txBody>
      </p:sp>
      <p:sp>
        <p:nvSpPr>
          <p:cNvPr id="29" name="Shape 25"/>
          <p:cNvSpPr/>
          <p:nvPr/>
        </p:nvSpPr>
        <p:spPr>
          <a:xfrm>
            <a:off x="6263640" y="37033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6400800" y="38221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Condiciones de control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400800" y="4114800"/>
            <a:ext cx="4846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Si el entregable tiene observaciones, se corrige antes del V.B. La penalidad por retraso depende de lo que establezca la OS o los TDR.</a:t>
            </a:r>
          </a:p>
        </p:txBody>
      </p:sp>
      <p:sp>
        <p:nvSpPr>
          <p:cNvPr id="32" name="Text 28"/>
          <p:cNvSpPr/>
          <p:nvPr/>
        </p:nvSpPr>
        <p:spPr>
          <a:xfrm>
            <a:off x="822960" y="517550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* No afirmamos una ruta institucional completa. En un expediente observado por el integrante, el trámite llegó al Equipo de Tesorería.</a:t>
            </a:r>
          </a:p>
        </p:txBody>
      </p:sp>
      <p:sp>
        <p:nvSpPr>
          <p:cNvPr id="33" name="Text 29"/>
          <p:cNvSpPr/>
          <p:nvPr/>
        </p:nvSpPr>
        <p:spPr>
          <a:xfrm>
            <a:off x="822960" y="55778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La Mesa de Partes Virtual permite registrar documentos y consultar el estado del expediente.</a:t>
            </a:r>
          </a:p>
        </p:txBody>
      </p:sp>
      <p:sp>
        <p:nvSpPr>
          <p:cNvPr id="34" name="Shape 3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1. Entidades de datos principales del IGP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502920" y="1298448"/>
            <a:ext cx="1417320" cy="689719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57784" y="1335024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Entidad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1920240" y="1298448"/>
            <a:ext cx="2926080" cy="689719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975104" y="1335024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Descripción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846320" y="1298448"/>
            <a:ext cx="3337560" cy="689719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4901184" y="1335024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Atributos principales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8183880" y="1298448"/>
            <a:ext cx="3429000" cy="689719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238744" y="1335024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Relación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1988167"/>
            <a:ext cx="141732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57784" y="2024743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Proveedor / locador</a:t>
            </a:r>
            <a:endParaRPr lang="en-US" sz="710" dirty="0"/>
          </a:p>
        </p:txBody>
      </p:sp>
      <p:sp>
        <p:nvSpPr>
          <p:cNvPr id="18" name="Shape 14"/>
          <p:cNvSpPr/>
          <p:nvPr/>
        </p:nvSpPr>
        <p:spPr>
          <a:xfrm>
            <a:off x="1920240" y="1988167"/>
            <a:ext cx="292608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975104" y="2024743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Persona externa que presta un servicio y presenta entregables.</a:t>
            </a:r>
          </a:p>
        </p:txBody>
      </p:sp>
      <p:sp>
        <p:nvSpPr>
          <p:cNvPr id="20" name="Shape 16"/>
          <p:cNvSpPr/>
          <p:nvPr/>
        </p:nvSpPr>
        <p:spPr>
          <a:xfrm>
            <a:off x="4846320" y="1988167"/>
            <a:ext cx="333756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4901184" y="2024743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RUC/DNI, nombre, contacto, condición tributaria; RNP cuando corresponda</a:t>
            </a:r>
          </a:p>
        </p:txBody>
      </p:sp>
      <p:sp>
        <p:nvSpPr>
          <p:cNvPr id="22" name="Shape 18"/>
          <p:cNvSpPr/>
          <p:nvPr/>
        </p:nvSpPr>
        <p:spPr>
          <a:xfrm>
            <a:off x="8183880" y="1988167"/>
            <a:ext cx="342900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8238744" y="2024743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Tiene órdenes de servicio y entregables</a:t>
            </a:r>
            <a:endParaRPr lang="en-US" sz="710" dirty="0"/>
          </a:p>
        </p:txBody>
      </p:sp>
      <p:sp>
        <p:nvSpPr>
          <p:cNvPr id="24" name="Shape 20"/>
          <p:cNvSpPr/>
          <p:nvPr/>
        </p:nvSpPr>
        <p:spPr>
          <a:xfrm>
            <a:off x="502920" y="2677886"/>
            <a:ext cx="141732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557784" y="2714462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Orden de servicio</a:t>
            </a:r>
            <a:endParaRPr lang="en-US" sz="710" dirty="0"/>
          </a:p>
        </p:txBody>
      </p:sp>
      <p:sp>
        <p:nvSpPr>
          <p:cNvPr id="26" name="Shape 22"/>
          <p:cNvSpPr/>
          <p:nvPr/>
        </p:nvSpPr>
        <p:spPr>
          <a:xfrm>
            <a:off x="1920240" y="2677886"/>
            <a:ext cx="292608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975104" y="2714462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Documento contractual que define alcance, monto, plazo y entregables.</a:t>
            </a:r>
          </a:p>
        </p:txBody>
      </p:sp>
      <p:sp>
        <p:nvSpPr>
          <p:cNvPr id="28" name="Shape 24"/>
          <p:cNvSpPr/>
          <p:nvPr/>
        </p:nvSpPr>
        <p:spPr>
          <a:xfrm>
            <a:off x="4846320" y="2677886"/>
            <a:ext cx="333756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4901184" y="2714462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N.º OS, fecha, monto, plazo, objeto, área usuaria</a:t>
            </a:r>
          </a:p>
        </p:txBody>
      </p:sp>
      <p:sp>
        <p:nvSpPr>
          <p:cNvPr id="30" name="Shape 26"/>
          <p:cNvSpPr/>
          <p:nvPr/>
        </p:nvSpPr>
        <p:spPr>
          <a:xfrm>
            <a:off x="8183880" y="2677886"/>
            <a:ext cx="342900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8238744" y="2714462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Origina entregables y condiciona conformidad</a:t>
            </a:r>
            <a:endParaRPr lang="en-US" sz="710" dirty="0"/>
          </a:p>
        </p:txBody>
      </p:sp>
      <p:sp>
        <p:nvSpPr>
          <p:cNvPr id="32" name="Shape 28"/>
          <p:cNvSpPr/>
          <p:nvPr/>
        </p:nvSpPr>
        <p:spPr>
          <a:xfrm>
            <a:off x="502920" y="3367605"/>
            <a:ext cx="141732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557784" y="3404181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Entregable</a:t>
            </a:r>
            <a:endParaRPr lang="en-US" sz="710" dirty="0"/>
          </a:p>
        </p:txBody>
      </p:sp>
      <p:sp>
        <p:nvSpPr>
          <p:cNvPr id="34" name="Shape 30"/>
          <p:cNvSpPr/>
          <p:nvPr/>
        </p:nvSpPr>
        <p:spPr>
          <a:xfrm>
            <a:off x="1920240" y="3367605"/>
            <a:ext cx="292608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1975104" y="3404181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Producto comprometido en la orden de servicio.</a:t>
            </a:r>
          </a:p>
        </p:txBody>
      </p:sp>
      <p:sp>
        <p:nvSpPr>
          <p:cNvPr id="36" name="Shape 32"/>
          <p:cNvSpPr/>
          <p:nvPr/>
        </p:nvSpPr>
        <p:spPr>
          <a:xfrm>
            <a:off x="4846320" y="3367605"/>
            <a:ext cx="333756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4901184" y="3404181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N.º, periodo, fecha límite, estado, porcentaje de avance</a:t>
            </a:r>
            <a:endParaRPr lang="en-US" sz="710" dirty="0"/>
          </a:p>
        </p:txBody>
      </p:sp>
      <p:sp>
        <p:nvSpPr>
          <p:cNvPr id="38" name="Shape 34"/>
          <p:cNvSpPr/>
          <p:nvPr/>
        </p:nvSpPr>
        <p:spPr>
          <a:xfrm>
            <a:off x="8183880" y="3367605"/>
            <a:ext cx="342900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8238744" y="3404181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Se sustenta con informe y anexos</a:t>
            </a:r>
            <a:endParaRPr lang="en-US" sz="710" dirty="0"/>
          </a:p>
        </p:txBody>
      </p:sp>
      <p:sp>
        <p:nvSpPr>
          <p:cNvPr id="40" name="Shape 36"/>
          <p:cNvSpPr/>
          <p:nvPr/>
        </p:nvSpPr>
        <p:spPr>
          <a:xfrm>
            <a:off x="502920" y="4057323"/>
            <a:ext cx="141732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557784" y="4093899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Informe</a:t>
            </a:r>
            <a:endParaRPr lang="en-US" sz="710" dirty="0"/>
          </a:p>
        </p:txBody>
      </p:sp>
      <p:sp>
        <p:nvSpPr>
          <p:cNvPr id="42" name="Shape 38"/>
          <p:cNvSpPr/>
          <p:nvPr/>
        </p:nvSpPr>
        <p:spPr>
          <a:xfrm>
            <a:off x="1920240" y="4057323"/>
            <a:ext cx="292608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3" name="Text 39"/>
          <p:cNvSpPr/>
          <p:nvPr/>
        </p:nvSpPr>
        <p:spPr>
          <a:xfrm>
            <a:off x="1975104" y="4093899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Documento técnico que sustenta el entregable.</a:t>
            </a:r>
          </a:p>
        </p:txBody>
      </p:sp>
      <p:sp>
        <p:nvSpPr>
          <p:cNvPr id="44" name="Shape 40"/>
          <p:cNvSpPr/>
          <p:nvPr/>
        </p:nvSpPr>
        <p:spPr>
          <a:xfrm>
            <a:off x="4846320" y="4057323"/>
            <a:ext cx="333756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4901184" y="4093899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Número/código, fecha, asunto, versión, folios</a:t>
            </a:r>
          </a:p>
        </p:txBody>
      </p:sp>
      <p:sp>
        <p:nvSpPr>
          <p:cNvPr id="46" name="Shape 42"/>
          <p:cNvSpPr/>
          <p:nvPr/>
        </p:nvSpPr>
        <p:spPr>
          <a:xfrm>
            <a:off x="8183880" y="4057323"/>
            <a:ext cx="342900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8238744" y="4093899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 registra como documento principal del expediente</a:t>
            </a:r>
          </a:p>
        </p:txBody>
      </p:sp>
      <p:sp>
        <p:nvSpPr>
          <p:cNvPr id="48" name="Shape 44"/>
          <p:cNvSpPr/>
          <p:nvPr/>
        </p:nvSpPr>
        <p:spPr>
          <a:xfrm>
            <a:off x="502920" y="4747042"/>
            <a:ext cx="141732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9" name="Text 45"/>
          <p:cNvSpPr/>
          <p:nvPr/>
        </p:nvSpPr>
        <p:spPr>
          <a:xfrm>
            <a:off x="557784" y="4783618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Expediente</a:t>
            </a:r>
            <a:endParaRPr lang="en-US" sz="710" dirty="0"/>
          </a:p>
        </p:txBody>
      </p:sp>
      <p:sp>
        <p:nvSpPr>
          <p:cNvPr id="50" name="Shape 46"/>
          <p:cNvSpPr/>
          <p:nvPr/>
        </p:nvSpPr>
        <p:spPr>
          <a:xfrm>
            <a:off x="1920240" y="4747042"/>
            <a:ext cx="292608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1975104" y="4783618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Unidad de trazabilidad documental del trámite.</a:t>
            </a:r>
            <a:endParaRPr lang="en-US" sz="710" dirty="0"/>
          </a:p>
        </p:txBody>
      </p:sp>
      <p:sp>
        <p:nvSpPr>
          <p:cNvPr id="52" name="Shape 48"/>
          <p:cNvSpPr/>
          <p:nvPr/>
        </p:nvSpPr>
        <p:spPr>
          <a:xfrm>
            <a:off x="4846320" y="4747042"/>
            <a:ext cx="333756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4901184" y="4783618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N.º expediente, fecha, estado, oficina actual</a:t>
            </a:r>
            <a:endParaRPr lang="en-US" sz="710" dirty="0"/>
          </a:p>
        </p:txBody>
      </p:sp>
      <p:sp>
        <p:nvSpPr>
          <p:cNvPr id="54" name="Shape 50"/>
          <p:cNvSpPr/>
          <p:nvPr/>
        </p:nvSpPr>
        <p:spPr>
          <a:xfrm>
            <a:off x="8183880" y="4747042"/>
            <a:ext cx="342900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5" name="Text 51"/>
          <p:cNvSpPr/>
          <p:nvPr/>
        </p:nvSpPr>
        <p:spPr>
          <a:xfrm>
            <a:off x="8238744" y="4783618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Agrupa documentos y estados</a:t>
            </a:r>
            <a:endParaRPr lang="en-US" sz="710" dirty="0"/>
          </a:p>
        </p:txBody>
      </p:sp>
      <p:sp>
        <p:nvSpPr>
          <p:cNvPr id="56" name="Shape 52"/>
          <p:cNvSpPr/>
          <p:nvPr/>
        </p:nvSpPr>
        <p:spPr>
          <a:xfrm>
            <a:off x="502920" y="5436761"/>
            <a:ext cx="141732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7" name="Text 53"/>
          <p:cNvSpPr/>
          <p:nvPr/>
        </p:nvSpPr>
        <p:spPr>
          <a:xfrm>
            <a:off x="557784" y="5473337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Oficina / área</a:t>
            </a:r>
            <a:endParaRPr lang="en-US" sz="710" dirty="0"/>
          </a:p>
        </p:txBody>
      </p:sp>
      <p:sp>
        <p:nvSpPr>
          <p:cNvPr id="58" name="Shape 54"/>
          <p:cNvSpPr/>
          <p:nvPr/>
        </p:nvSpPr>
        <p:spPr>
          <a:xfrm>
            <a:off x="1920240" y="5436761"/>
            <a:ext cx="292608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1975104" y="5473337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Unidad organizacional que revisa, deriva o atiende el expediente.</a:t>
            </a:r>
          </a:p>
        </p:txBody>
      </p:sp>
      <p:sp>
        <p:nvSpPr>
          <p:cNvPr id="60" name="Shape 56"/>
          <p:cNvSpPr/>
          <p:nvPr/>
        </p:nvSpPr>
        <p:spPr>
          <a:xfrm>
            <a:off x="4846320" y="5436761"/>
            <a:ext cx="333756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61" name="Text 57"/>
          <p:cNvSpPr/>
          <p:nvPr/>
        </p:nvSpPr>
        <p:spPr>
          <a:xfrm>
            <a:off x="4901184" y="5473337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Código, nombre, responsable, función</a:t>
            </a:r>
            <a:endParaRPr lang="en-US" sz="710" dirty="0"/>
          </a:p>
        </p:txBody>
      </p:sp>
      <p:sp>
        <p:nvSpPr>
          <p:cNvPr id="62" name="Shape 58"/>
          <p:cNvSpPr/>
          <p:nvPr/>
        </p:nvSpPr>
        <p:spPr>
          <a:xfrm>
            <a:off x="8183880" y="5436761"/>
            <a:ext cx="342900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8238744" y="5473337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Recibe expedientes, registra atención o deriva</a:t>
            </a:r>
          </a:p>
        </p:txBody>
      </p:sp>
      <p:sp>
        <p:nvSpPr>
          <p:cNvPr id="64" name="Text 60"/>
          <p:cNvSpPr/>
          <p:nvPr/>
        </p:nvSpPr>
        <p:spPr>
          <a:xfrm>
            <a:off x="658368" y="623620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Separamos entidades de documentos, roles y estados para no mezclar el modelo de datos.</a:t>
            </a:r>
          </a:p>
        </p:txBody>
      </p:sp>
      <p:sp>
        <p:nvSpPr>
          <p:cNvPr id="65" name="Shape 61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66" name="Text 62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1. Modelo conceptual simplificado del proceso IGP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224028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4709160" y="1828800"/>
            <a:ext cx="91440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7269480" y="1828800"/>
            <a:ext cx="91440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9738360" y="1828800"/>
            <a:ext cx="68580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400800" y="2240280"/>
            <a:ext cx="0" cy="777240"/>
          </a:xfrm>
          <a:prstGeom prst="line">
            <a:avLst/>
          </a:prstGeom>
          <a:noFill/>
          <a:ln w="20320">
            <a:solidFill>
              <a:srgbClr val="21875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00800" y="3749040"/>
            <a:ext cx="0" cy="777240"/>
          </a:xfrm>
          <a:prstGeom prst="line">
            <a:avLst/>
          </a:prstGeom>
          <a:noFill/>
          <a:ln w="20320">
            <a:solidFill>
              <a:srgbClr val="21875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961120" y="3749040"/>
            <a:ext cx="0" cy="777240"/>
          </a:xfrm>
          <a:prstGeom prst="line">
            <a:avLst/>
          </a:prstGeom>
          <a:noFill/>
          <a:ln w="20320">
            <a:solidFill>
              <a:srgbClr val="6D5D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572000" y="3749040"/>
            <a:ext cx="0" cy="777240"/>
          </a:xfrm>
          <a:prstGeom prst="line">
            <a:avLst/>
          </a:prstGeom>
          <a:noFill/>
          <a:ln w="20320">
            <a:solidFill>
              <a:srgbClr val="6D5D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85800" y="1417320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95528" y="1508760"/>
            <a:ext cx="13350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Persona /</a:t>
            </a:r>
          </a:p>
          <a:p>
            <a:r>
              <a:t>proveedor</a:t>
            </a:r>
          </a:p>
        </p:txBody>
      </p:sp>
      <p:sp>
        <p:nvSpPr>
          <p:cNvPr id="18" name="Shape 14"/>
          <p:cNvSpPr/>
          <p:nvPr/>
        </p:nvSpPr>
        <p:spPr>
          <a:xfrm>
            <a:off x="3063240" y="141732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3172968" y="150876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Orden de</a:t>
            </a:r>
          </a:p>
          <a:p>
            <a:r>
              <a:t>Servicio</a:t>
            </a:r>
          </a:p>
        </p:txBody>
      </p:sp>
      <p:sp>
        <p:nvSpPr>
          <p:cNvPr id="20" name="Shape 16"/>
          <p:cNvSpPr/>
          <p:nvPr/>
        </p:nvSpPr>
        <p:spPr>
          <a:xfrm>
            <a:off x="5623560" y="141732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733288" y="150876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Entregable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83880" y="1417320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8293608" y="1508760"/>
            <a:ext cx="13350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Informe /</a:t>
            </a:r>
          </a:p>
          <a:p>
            <a:r>
              <a:t>documento</a:t>
            </a:r>
          </a:p>
        </p:txBody>
      </p:sp>
      <p:sp>
        <p:nvSpPr>
          <p:cNvPr id="24" name="Shape 20"/>
          <p:cNvSpPr/>
          <p:nvPr/>
        </p:nvSpPr>
        <p:spPr>
          <a:xfrm>
            <a:off x="10424160" y="141732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10533888" y="1508760"/>
            <a:ext cx="11064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Expediente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623560" y="30175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5733288" y="3108960"/>
            <a:ext cx="14264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Rol:</a:t>
            </a:r>
          </a:p>
          <a:p>
            <a:r>
              <a:t>revisor</a:t>
            </a:r>
          </a:p>
        </p:txBody>
      </p:sp>
      <p:sp>
        <p:nvSpPr>
          <p:cNvPr id="28" name="Shape 24"/>
          <p:cNvSpPr/>
          <p:nvPr/>
        </p:nvSpPr>
        <p:spPr>
          <a:xfrm>
            <a:off x="5623560" y="45262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733288" y="461772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Rol:</a:t>
            </a:r>
          </a:p>
          <a:p>
            <a:r>
              <a:t>responsable</a:t>
            </a:r>
          </a:p>
        </p:txBody>
      </p:sp>
      <p:sp>
        <p:nvSpPr>
          <p:cNvPr id="30" name="Shape 26"/>
          <p:cNvSpPr/>
          <p:nvPr/>
        </p:nvSpPr>
        <p:spPr>
          <a:xfrm>
            <a:off x="3749040" y="45262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3858768" y="461772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Anexos:</a:t>
            </a:r>
          </a:p>
          <a:p>
            <a:r>
              <a:t>RxH / constancia</a:t>
            </a:r>
          </a:p>
        </p:txBody>
      </p:sp>
      <p:sp>
        <p:nvSpPr>
          <p:cNvPr id="32" name="Shape 28"/>
          <p:cNvSpPr/>
          <p:nvPr/>
        </p:nvSpPr>
        <p:spPr>
          <a:xfrm>
            <a:off x="8138160" y="45262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8247888" y="461772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Estado del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trámite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22960" y="57607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Lectura: la persona/proveedor se vincula con una Orden de Servicio; la OS genera entregables; el informe y sus anexos forman el expediente. Revisor y responsable se registran como roles dentro del proceso.</a:t>
            </a:r>
          </a:p>
        </p:txBody>
      </p:sp>
      <p:sp>
        <p:nvSpPr>
          <p:cNvPr id="35" name="Shape 31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1. Documentos, roles y atributos asociados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731520" y="1417320"/>
            <a:ext cx="2286000" cy="627017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86384" y="1453896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Elemento evaluado</a:t>
            </a:r>
            <a:endParaRPr lang="en-US" sz="880" dirty="0"/>
          </a:p>
        </p:txBody>
      </p:sp>
      <p:sp>
        <p:nvSpPr>
          <p:cNvPr id="10" name="Shape 6"/>
          <p:cNvSpPr/>
          <p:nvPr/>
        </p:nvSpPr>
        <p:spPr>
          <a:xfrm>
            <a:off x="3017520" y="1417320"/>
            <a:ext cx="2743200" cy="627017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3072384" y="1453896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Clasificación recomendada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5760720" y="1417320"/>
            <a:ext cx="5715000" cy="627017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5815584" y="1453896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Justificación técnica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731520" y="2044337"/>
            <a:ext cx="2286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86384" y="2080913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Recibo por honorarios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017520" y="2044337"/>
            <a:ext cx="27432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072384" y="2080913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Documento asociado</a:t>
            </a:r>
          </a:p>
        </p:txBody>
      </p:sp>
      <p:sp>
        <p:nvSpPr>
          <p:cNvPr id="18" name="Shape 14"/>
          <p:cNvSpPr/>
          <p:nvPr/>
        </p:nvSpPr>
        <p:spPr>
          <a:xfrm>
            <a:off x="5760720" y="2044337"/>
            <a:ext cx="5715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5815584" y="2080913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Sustenta el pago del servicio prestado; se asocia al proveedor y al expediente.</a:t>
            </a:r>
          </a:p>
        </p:txBody>
      </p:sp>
      <p:sp>
        <p:nvSpPr>
          <p:cNvPr id="20" name="Shape 16"/>
          <p:cNvSpPr/>
          <p:nvPr/>
        </p:nvSpPr>
        <p:spPr>
          <a:xfrm>
            <a:off x="731520" y="2671354"/>
            <a:ext cx="2286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86384" y="2707930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Suspensión de cuarta categoría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017520" y="2671354"/>
            <a:ext cx="27432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3072384" y="2707930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Documento asociado</a:t>
            </a:r>
          </a:p>
        </p:txBody>
      </p:sp>
      <p:sp>
        <p:nvSpPr>
          <p:cNvPr id="24" name="Shape 20"/>
          <p:cNvSpPr/>
          <p:nvPr/>
        </p:nvSpPr>
        <p:spPr>
          <a:xfrm>
            <a:off x="5760720" y="2671354"/>
            <a:ext cx="5715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5815584" y="2707930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Acredita la condición tributaria del proveedor para el periodo correspondiente.</a:t>
            </a:r>
          </a:p>
        </p:txBody>
      </p:sp>
      <p:sp>
        <p:nvSpPr>
          <p:cNvPr id="26" name="Shape 22"/>
          <p:cNvSpPr/>
          <p:nvPr/>
        </p:nvSpPr>
        <p:spPr>
          <a:xfrm>
            <a:off x="731520" y="3298371"/>
            <a:ext cx="2286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786384" y="3334947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Estado del trámite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017520" y="3298371"/>
            <a:ext cx="27432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3072384" y="3334947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Atributo o catálogo</a:t>
            </a:r>
          </a:p>
        </p:txBody>
      </p:sp>
      <p:sp>
        <p:nvSpPr>
          <p:cNvPr id="30" name="Shape 26"/>
          <p:cNvSpPr/>
          <p:nvPr/>
        </p:nvSpPr>
        <p:spPr>
          <a:xfrm>
            <a:off x="5760720" y="3298371"/>
            <a:ext cx="5715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5815584" y="3334947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Describe la situación del expediente: registrado, observado, derivado, en proceso, cerrado.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731520" y="3925389"/>
            <a:ext cx="2286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786384" y="3961965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Conformidad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3017520" y="3925389"/>
            <a:ext cx="27432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3072384" y="3961965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Documento / evento de control</a:t>
            </a:r>
          </a:p>
        </p:txBody>
      </p:sp>
      <p:sp>
        <p:nvSpPr>
          <p:cNvPr id="36" name="Shape 32"/>
          <p:cNvSpPr/>
          <p:nvPr/>
        </p:nvSpPr>
        <p:spPr>
          <a:xfrm>
            <a:off x="5760720" y="3925389"/>
            <a:ext cx="5715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5815584" y="3961965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Materializa la aprobación; puede ser entidad si requiere historial y firmas.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731520" y="4552406"/>
            <a:ext cx="2286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786384" y="4588982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Pago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3017520" y="4552406"/>
            <a:ext cx="27432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3072384" y="4588982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Transacción financiera</a:t>
            </a:r>
          </a:p>
        </p:txBody>
      </p:sp>
      <p:sp>
        <p:nvSpPr>
          <p:cNvPr id="42" name="Shape 38"/>
          <p:cNvSpPr/>
          <p:nvPr/>
        </p:nvSpPr>
        <p:spPr>
          <a:xfrm>
            <a:off x="5760720" y="4552406"/>
            <a:ext cx="5715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3" name="Text 39"/>
          <p:cNvSpPr/>
          <p:nvPr/>
        </p:nvSpPr>
        <p:spPr>
          <a:xfrm>
            <a:off x="5815584" y="4588982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Puede modelarse si el alcance llega al módulo financiero; en este laboratorio se trata como salida administrativa.</a:t>
            </a:r>
          </a:p>
        </p:txBody>
      </p:sp>
      <p:sp>
        <p:nvSpPr>
          <p:cNvPr id="44" name="Shape 40"/>
          <p:cNvSpPr/>
          <p:nvPr/>
        </p:nvSpPr>
        <p:spPr>
          <a:xfrm>
            <a:off x="731520" y="5179423"/>
            <a:ext cx="2286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786384" y="5215999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Revisor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3017520" y="5179423"/>
            <a:ext cx="27432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3072384" y="5215999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Rol de una persona</a:t>
            </a:r>
          </a:p>
        </p:txBody>
      </p:sp>
      <p:sp>
        <p:nvSpPr>
          <p:cNvPr id="48" name="Shape 44"/>
          <p:cNvSpPr/>
          <p:nvPr/>
        </p:nvSpPr>
        <p:spPr>
          <a:xfrm>
            <a:off x="5760720" y="5179423"/>
            <a:ext cx="5715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9" name="Text 45"/>
          <p:cNvSpPr/>
          <p:nvPr/>
        </p:nvSpPr>
        <p:spPr>
          <a:xfrm>
            <a:off x="5815584" y="5215999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Modelamos la persona y registramos qué rol cumple en cada etapa.</a:t>
            </a:r>
          </a:p>
        </p:txBody>
      </p:sp>
      <p:sp>
        <p:nvSpPr>
          <p:cNvPr id="50" name="Shape 46"/>
          <p:cNvSpPr/>
          <p:nvPr/>
        </p:nvSpPr>
        <p:spPr>
          <a:xfrm>
            <a:off x="914400" y="580644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1051560" y="592531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Idea central</a:t>
            </a:r>
          </a:p>
        </p:txBody>
      </p:sp>
      <p:sp>
        <p:nvSpPr>
          <p:cNvPr id="52" name="Text 48"/>
          <p:cNvSpPr/>
          <p:nvPr/>
        </p:nvSpPr>
        <p:spPr>
          <a:xfrm>
            <a:off x="1051560" y="6217920"/>
            <a:ext cx="1005840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No todo archivo adjunto es una entidad. Algunos elementos son documentos de soporte, otros son atributos, catálogos o roles dentro del proceso.</a:t>
            </a:r>
          </a:p>
        </p:txBody>
      </p:sp>
      <p:sp>
        <p:nvSpPr>
          <p:cNvPr id="53" name="Shape 49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2. Entidades de datos de la UNAC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92024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429768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67512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905256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897880" y="2240280"/>
            <a:ext cx="0" cy="731520"/>
          </a:xfrm>
          <a:prstGeom prst="line">
            <a:avLst/>
          </a:prstGeom>
          <a:noFill/>
          <a:ln w="20320">
            <a:solidFill>
              <a:srgbClr val="21875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897880" y="3703320"/>
            <a:ext cx="0" cy="731520"/>
          </a:xfrm>
          <a:prstGeom prst="line">
            <a:avLst/>
          </a:prstGeom>
          <a:noFill/>
          <a:ln w="20320">
            <a:solidFill>
              <a:srgbClr val="21875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7498080" y="4434840"/>
            <a:ext cx="822960" cy="0"/>
          </a:xfrm>
          <a:prstGeom prst="line">
            <a:avLst/>
          </a:prstGeom>
          <a:noFill/>
          <a:ln w="20320">
            <a:solidFill>
              <a:srgbClr val="6D5D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297680" y="4434840"/>
            <a:ext cx="-822960" cy="0"/>
          </a:xfrm>
          <a:prstGeom prst="line">
            <a:avLst/>
          </a:prstGeom>
          <a:noFill/>
          <a:ln w="20320">
            <a:solidFill>
              <a:srgbClr val="6D5D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94360" y="1444752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04088" y="1536192"/>
            <a:ext cx="1106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Facultad</a:t>
            </a:r>
          </a:p>
        </p:txBody>
      </p:sp>
      <p:sp>
        <p:nvSpPr>
          <p:cNvPr id="18" name="Shape 14"/>
          <p:cNvSpPr/>
          <p:nvPr/>
        </p:nvSpPr>
        <p:spPr>
          <a:xfrm>
            <a:off x="2743200" y="144475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2852928" y="1536192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Escuela</a:t>
            </a:r>
          </a:p>
          <a:p>
            <a:r>
              <a:t>profesional</a:t>
            </a:r>
          </a:p>
        </p:txBody>
      </p:sp>
      <p:sp>
        <p:nvSpPr>
          <p:cNvPr id="20" name="Shape 16"/>
          <p:cNvSpPr/>
          <p:nvPr/>
        </p:nvSpPr>
        <p:spPr>
          <a:xfrm>
            <a:off x="5120640" y="144475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230368" y="1536192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Plan de</a:t>
            </a:r>
          </a:p>
          <a:p>
            <a:r>
              <a:t>estudios</a:t>
            </a:r>
          </a:p>
        </p:txBody>
      </p:sp>
      <p:sp>
        <p:nvSpPr>
          <p:cNvPr id="22" name="Shape 18"/>
          <p:cNvSpPr/>
          <p:nvPr/>
        </p:nvSpPr>
        <p:spPr>
          <a:xfrm>
            <a:off x="7498080" y="144475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7607808" y="1536192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Asignatura</a:t>
            </a:r>
          </a:p>
        </p:txBody>
      </p:sp>
      <p:sp>
        <p:nvSpPr>
          <p:cNvPr id="24" name="Shape 20"/>
          <p:cNvSpPr/>
          <p:nvPr/>
        </p:nvSpPr>
        <p:spPr>
          <a:xfrm>
            <a:off x="9875520" y="144475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9985248" y="1536192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Docente</a:t>
            </a:r>
          </a:p>
        </p:txBody>
      </p:sp>
      <p:sp>
        <p:nvSpPr>
          <p:cNvPr id="26" name="Shape 22"/>
          <p:cNvSpPr/>
          <p:nvPr/>
        </p:nvSpPr>
        <p:spPr>
          <a:xfrm>
            <a:off x="5120640" y="29718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5230368" y="3063240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Periodo</a:t>
            </a:r>
          </a:p>
          <a:p>
            <a:r>
              <a:t>académico</a:t>
            </a:r>
          </a:p>
        </p:txBody>
      </p:sp>
      <p:sp>
        <p:nvSpPr>
          <p:cNvPr id="28" name="Shape 24"/>
          <p:cNvSpPr/>
          <p:nvPr/>
        </p:nvSpPr>
        <p:spPr>
          <a:xfrm>
            <a:off x="5120640" y="44348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230368" y="4526280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Matrícula</a:t>
            </a:r>
          </a:p>
        </p:txBody>
      </p:sp>
      <p:sp>
        <p:nvSpPr>
          <p:cNvPr id="30" name="Shape 26"/>
          <p:cNvSpPr/>
          <p:nvPr/>
        </p:nvSpPr>
        <p:spPr>
          <a:xfrm>
            <a:off x="1920240" y="40690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2029968" y="4160520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Estudiante</a:t>
            </a:r>
          </a:p>
        </p:txBody>
      </p:sp>
      <p:sp>
        <p:nvSpPr>
          <p:cNvPr id="32" name="Shape 28"/>
          <p:cNvSpPr/>
          <p:nvPr/>
        </p:nvSpPr>
        <p:spPr>
          <a:xfrm>
            <a:off x="8321040" y="40690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8430768" y="4160520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Evaluación</a:t>
            </a:r>
          </a:p>
          <a:p>
            <a:r>
              <a:t>y nota</a:t>
            </a:r>
          </a:p>
        </p:txBody>
      </p:sp>
      <p:sp>
        <p:nvSpPr>
          <p:cNvPr id="34" name="Text 30"/>
          <p:cNvSpPr/>
          <p:nvPr/>
        </p:nvSpPr>
        <p:spPr>
          <a:xfrm>
            <a:off x="777240" y="57150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Relación propuesta: Facultad → Escuela → Plan → Asignatura. El estudiante se matricula en asignaturas por periodo; el docente dicta la asignatura o sección; la matrícula genera evaluaciones y notas.</a:t>
            </a:r>
          </a:p>
        </p:txBody>
      </p:sp>
      <p:sp>
        <p:nvSpPr>
          <p:cNvPr id="35" name="Shape 31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2. Cuadro de entidades académicas de la UNAC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2960" y="1325880"/>
            <a:ext cx="2011680" cy="56388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877824" y="136245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Entidad</a:t>
            </a:r>
            <a:endParaRPr lang="en-US" sz="880" dirty="0"/>
          </a:p>
        </p:txBody>
      </p:sp>
      <p:sp>
        <p:nvSpPr>
          <p:cNvPr id="10" name="Shape 6"/>
          <p:cNvSpPr/>
          <p:nvPr/>
        </p:nvSpPr>
        <p:spPr>
          <a:xfrm>
            <a:off x="2834640" y="1325880"/>
            <a:ext cx="3749040" cy="56388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889504" y="136245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Descripción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6583680" y="1325880"/>
            <a:ext cx="4800600" cy="56388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638544" y="136245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Relación principal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822960" y="1889760"/>
            <a:ext cx="20116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77824" y="192633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Estudiante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834640" y="1889760"/>
            <a:ext cx="3749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2889504" y="192633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Persona matriculada en un programa académico.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583680" y="1889760"/>
            <a:ext cx="480060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638544" y="192633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Se matricula en asignaturas y genera expediente académico.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822960" y="2453640"/>
            <a:ext cx="201168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877824" y="249021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Docente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834640" y="2453640"/>
            <a:ext cx="374904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2889504" y="249021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Responsable de conducir una asignatura o sección.</a:t>
            </a:r>
          </a:p>
        </p:txBody>
      </p:sp>
      <p:sp>
        <p:nvSpPr>
          <p:cNvPr id="24" name="Shape 20"/>
          <p:cNvSpPr/>
          <p:nvPr/>
        </p:nvSpPr>
        <p:spPr>
          <a:xfrm>
            <a:off x="6583680" y="2453640"/>
            <a:ext cx="480060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638544" y="249021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Dicta asignaturas/secciones en un periodo académico.</a:t>
            </a:r>
          </a:p>
        </p:txBody>
      </p:sp>
      <p:sp>
        <p:nvSpPr>
          <p:cNvPr id="26" name="Shape 22"/>
          <p:cNvSpPr/>
          <p:nvPr/>
        </p:nvSpPr>
        <p:spPr>
          <a:xfrm>
            <a:off x="822960" y="3017520"/>
            <a:ext cx="20116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877824" y="305409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Asignatura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834640" y="3017520"/>
            <a:ext cx="3749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2889504" y="305409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Unidad curricular del plan de estudios.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583680" y="3017520"/>
            <a:ext cx="480060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6638544" y="305409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Pertenece a un plan; recibe matrícula y evaluaciones.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822960" y="3581400"/>
            <a:ext cx="201168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877824" y="361797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Plan de estudios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2834640" y="3581400"/>
            <a:ext cx="374904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2889504" y="361797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Estructura curricular por escuela profesional.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6583680" y="3581400"/>
            <a:ext cx="480060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6638544" y="361797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Ordena ciclos, créditos y requisitos.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822960" y="4145280"/>
            <a:ext cx="20116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877824" y="418185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Matrícula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2834640" y="4145280"/>
            <a:ext cx="3749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2889504" y="418185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Registro académico por estudiante, asignatura y periodo.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6583680" y="4145280"/>
            <a:ext cx="480060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3" name="Text 39"/>
          <p:cNvSpPr/>
          <p:nvPr/>
        </p:nvSpPr>
        <p:spPr>
          <a:xfrm>
            <a:off x="6638544" y="418185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Relaciona estudiante + asignatura + periodo académico.</a:t>
            </a:r>
          </a:p>
        </p:txBody>
      </p:sp>
      <p:sp>
        <p:nvSpPr>
          <p:cNvPr id="44" name="Shape 40"/>
          <p:cNvSpPr/>
          <p:nvPr/>
        </p:nvSpPr>
        <p:spPr>
          <a:xfrm>
            <a:off x="822960" y="4709160"/>
            <a:ext cx="201168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877824" y="474573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Evaluación / nota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2834640" y="4709160"/>
            <a:ext cx="374904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2889504" y="474573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Resultado del desempeño académico.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6583680" y="4709160"/>
            <a:ext cx="480060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9" name="Text 45"/>
          <p:cNvSpPr/>
          <p:nvPr/>
        </p:nvSpPr>
        <p:spPr>
          <a:xfrm>
            <a:off x="6638544" y="474573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 registra a partir de la matrícula en una asignatura.</a:t>
            </a:r>
          </a:p>
        </p:txBody>
      </p:sp>
      <p:sp>
        <p:nvSpPr>
          <p:cNvPr id="50" name="Shape 46"/>
          <p:cNvSpPr/>
          <p:nvPr/>
        </p:nvSpPr>
        <p:spPr>
          <a:xfrm>
            <a:off x="822960" y="5273040"/>
            <a:ext cx="20116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877824" y="530961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Expediente académico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2834640" y="5273040"/>
            <a:ext cx="3749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2889504" y="530961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Historial consolidado del estudiante.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6583680" y="5273040"/>
            <a:ext cx="480060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5" name="Text 51"/>
          <p:cNvSpPr/>
          <p:nvPr/>
        </p:nvSpPr>
        <p:spPr>
          <a:xfrm>
            <a:off x="6638544" y="530961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Integra matrículas, notas y situación académica.</a:t>
            </a:r>
            <a:endParaRPr lang="en-US" sz="800" dirty="0"/>
          </a:p>
        </p:txBody>
      </p:sp>
      <p:sp>
        <p:nvSpPr>
          <p:cNvPr id="56" name="Shape 52"/>
          <p:cNvSpPr/>
          <p:nvPr/>
        </p:nvSpPr>
        <p:spPr>
          <a:xfrm>
            <a:off x="822960" y="5836920"/>
            <a:ext cx="201168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7" name="Text 53"/>
          <p:cNvSpPr/>
          <p:nvPr/>
        </p:nvSpPr>
        <p:spPr>
          <a:xfrm>
            <a:off x="877824" y="587349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Aula / ambiente</a:t>
            </a:r>
            <a:endParaRPr lang="en-US" sz="800" dirty="0"/>
          </a:p>
        </p:txBody>
      </p:sp>
      <p:sp>
        <p:nvSpPr>
          <p:cNvPr id="58" name="Shape 54"/>
          <p:cNvSpPr/>
          <p:nvPr/>
        </p:nvSpPr>
        <p:spPr>
          <a:xfrm>
            <a:off x="2834640" y="5836920"/>
            <a:ext cx="374904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2889504" y="587349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Espacio asignado para el desarrollo de clases, si corresponde.</a:t>
            </a:r>
          </a:p>
        </p:txBody>
      </p:sp>
      <p:sp>
        <p:nvSpPr>
          <p:cNvPr id="60" name="Shape 56"/>
          <p:cNvSpPr/>
          <p:nvPr/>
        </p:nvSpPr>
        <p:spPr>
          <a:xfrm>
            <a:off x="6583680" y="5836920"/>
            <a:ext cx="480060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61" name="Text 57"/>
          <p:cNvSpPr/>
          <p:nvPr/>
        </p:nvSpPr>
        <p:spPr>
          <a:xfrm>
            <a:off x="6638544" y="587349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 relaciona con horarios y secciones.</a:t>
            </a:r>
          </a:p>
        </p:txBody>
      </p:sp>
      <p:sp>
        <p:nvSpPr>
          <p:cNvPr id="62" name="Shape 58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64" name="Text 60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3. Importancia de las bases de datos para el proceso IGP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2960" y="1417320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960120" y="157276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Trazabilidad</a:t>
            </a:r>
            <a:endParaRPr lang="en-US" sz="1070" dirty="0"/>
          </a:p>
        </p:txBody>
      </p:sp>
      <p:sp>
        <p:nvSpPr>
          <p:cNvPr id="10" name="Text 6"/>
          <p:cNvSpPr/>
          <p:nvPr/>
        </p:nvSpPr>
        <p:spPr>
          <a:xfrm>
            <a:off x="3063240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Saber qué documento ingresó, cuándo, con qué expediente y en qué oficina se encuentra.</a:t>
            </a:r>
          </a:p>
        </p:txBody>
      </p:sp>
      <p:sp>
        <p:nvSpPr>
          <p:cNvPr id="11" name="Shape 7"/>
          <p:cNvSpPr/>
          <p:nvPr/>
        </p:nvSpPr>
        <p:spPr>
          <a:xfrm>
            <a:off x="822960" y="2258568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960120" y="241401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Interoperabilidad</a:t>
            </a:r>
            <a:endParaRPr lang="en-US" sz="1070" dirty="0"/>
          </a:p>
        </p:txBody>
      </p:sp>
      <p:sp>
        <p:nvSpPr>
          <p:cNvPr id="13" name="Text 9"/>
          <p:cNvSpPr/>
          <p:nvPr/>
        </p:nvSpPr>
        <p:spPr>
          <a:xfrm>
            <a:off x="30632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Relacionar proveedor, Orden de Servicio, entregables, documentos, expediente y oficinas sin duplicar datos.</a:t>
            </a:r>
          </a:p>
        </p:txBody>
      </p:sp>
      <p:sp>
        <p:nvSpPr>
          <p:cNvPr id="14" name="Shape 10"/>
          <p:cNvSpPr/>
          <p:nvPr/>
        </p:nvSpPr>
        <p:spPr>
          <a:xfrm>
            <a:off x="822960" y="3099816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960120" y="325526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Control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063240" y="3172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Verificar plazos, observaciones, V.B., documentos anexos y evidencia del trámite.</a:t>
            </a:r>
          </a:p>
        </p:txBody>
      </p:sp>
      <p:sp>
        <p:nvSpPr>
          <p:cNvPr id="17" name="Shape 13"/>
          <p:cNvSpPr/>
          <p:nvPr/>
        </p:nvSpPr>
        <p:spPr>
          <a:xfrm>
            <a:off x="822960" y="3941064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960120" y="409651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Consulta</a:t>
            </a:r>
            <a:endParaRPr lang="en-US" sz="1070" dirty="0"/>
          </a:p>
        </p:txBody>
      </p:sp>
      <p:sp>
        <p:nvSpPr>
          <p:cNvPr id="19" name="Text 15"/>
          <p:cNvSpPr/>
          <p:nvPr/>
        </p:nvSpPr>
        <p:spPr>
          <a:xfrm>
            <a:off x="3063240" y="40142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Buscar informes, anexos y estados anteriores cuando se necesite revisar un trámite.</a:t>
            </a:r>
          </a:p>
        </p:txBody>
      </p:sp>
      <p:sp>
        <p:nvSpPr>
          <p:cNvPr id="20" name="Shape 16"/>
          <p:cNvSpPr/>
          <p:nvPr/>
        </p:nvSpPr>
        <p:spPr>
          <a:xfrm>
            <a:off x="822960" y="4782312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960120" y="493776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Toma de decisiones</a:t>
            </a:r>
            <a:endParaRPr lang="en-US" sz="1070" dirty="0"/>
          </a:p>
        </p:txBody>
      </p:sp>
      <p:sp>
        <p:nvSpPr>
          <p:cNvPr id="22" name="Text 18"/>
          <p:cNvSpPr/>
          <p:nvPr/>
        </p:nvSpPr>
        <p:spPr>
          <a:xfrm>
            <a:off x="3063240" y="48554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Medir tiempos de revisión, expedientes pendientes y posibles demoras.</a:t>
            </a:r>
          </a:p>
        </p:txBody>
      </p:sp>
      <p:sp>
        <p:nvSpPr>
          <p:cNvPr id="23" name="Shape 19"/>
          <p:cNvSpPr/>
          <p:nvPr/>
        </p:nvSpPr>
        <p:spPr>
          <a:xfrm>
            <a:off x="960120" y="5760720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1097280" y="587959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Utilidad para el grupo</a:t>
            </a:r>
          </a:p>
        </p:txBody>
      </p:sp>
      <p:sp>
        <p:nvSpPr>
          <p:cNvPr id="25" name="Text 21"/>
          <p:cNvSpPr/>
          <p:nvPr/>
        </p:nvSpPr>
        <p:spPr>
          <a:xfrm>
            <a:off x="1097280" y="6172200"/>
            <a:ext cx="9966960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En nuestro caso, la base de datos permitiría unir proceso, documentos y responsables para hacer seguimiento del entregable.</a:t>
            </a:r>
          </a:p>
        </p:txBody>
      </p:sp>
      <p:sp>
        <p:nvSpPr>
          <p:cNvPr id="26" name="Shape 22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3. Cinco bases de datos propuestas para el análisis del IGP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777240" y="1417320"/>
            <a:ext cx="2788920" cy="66294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832104" y="145389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Base propuesta</a:t>
            </a:r>
          </a:p>
        </p:txBody>
      </p:sp>
      <p:sp>
        <p:nvSpPr>
          <p:cNvPr id="10" name="Shape 6"/>
          <p:cNvSpPr/>
          <p:nvPr/>
        </p:nvSpPr>
        <p:spPr>
          <a:xfrm>
            <a:off x="3566160" y="1417320"/>
            <a:ext cx="3886200" cy="66294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3621024" y="145389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Finalidad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452360" y="1417320"/>
            <a:ext cx="3977640" cy="66294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7507224" y="145389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Entidades vinculadas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77240" y="2080260"/>
            <a:ext cx="278892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32104" y="211683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Expedientes y documentos</a:t>
            </a:r>
          </a:p>
        </p:txBody>
      </p:sp>
      <p:sp>
        <p:nvSpPr>
          <p:cNvPr id="16" name="Shape 12"/>
          <p:cNvSpPr/>
          <p:nvPr/>
        </p:nvSpPr>
        <p:spPr>
          <a:xfrm>
            <a:off x="3566160" y="2080260"/>
            <a:ext cx="388620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621024" y="211683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Registrar, consultar y trazar documentos ingresados.</a:t>
            </a:r>
            <a:endParaRPr lang="en-US" sz="830" dirty="0"/>
          </a:p>
        </p:txBody>
      </p:sp>
      <p:sp>
        <p:nvSpPr>
          <p:cNvPr id="18" name="Shape 14"/>
          <p:cNvSpPr/>
          <p:nvPr/>
        </p:nvSpPr>
        <p:spPr>
          <a:xfrm>
            <a:off x="7452360" y="2080260"/>
            <a:ext cx="39776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7507224" y="211683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Documento, expediente, oficina, estado, usuario</a:t>
            </a:r>
            <a:endParaRPr lang="en-US" sz="830" dirty="0"/>
          </a:p>
        </p:txBody>
      </p:sp>
      <p:sp>
        <p:nvSpPr>
          <p:cNvPr id="20" name="Shape 16"/>
          <p:cNvSpPr/>
          <p:nvPr/>
        </p:nvSpPr>
        <p:spPr>
          <a:xfrm>
            <a:off x="777240" y="2743200"/>
            <a:ext cx="278892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832104" y="277977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Proveedores y órdenes de servicio</a:t>
            </a:r>
          </a:p>
        </p:txBody>
      </p:sp>
      <p:sp>
        <p:nvSpPr>
          <p:cNvPr id="22" name="Shape 18"/>
          <p:cNvSpPr/>
          <p:nvPr/>
        </p:nvSpPr>
        <p:spPr>
          <a:xfrm>
            <a:off x="3566160" y="2743200"/>
            <a:ext cx="388620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3621024" y="277977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Controlar contratación de locadores y servicios.</a:t>
            </a:r>
            <a:endParaRPr lang="en-US" sz="830" dirty="0"/>
          </a:p>
        </p:txBody>
      </p:sp>
      <p:sp>
        <p:nvSpPr>
          <p:cNvPr id="24" name="Shape 20"/>
          <p:cNvSpPr/>
          <p:nvPr/>
        </p:nvSpPr>
        <p:spPr>
          <a:xfrm>
            <a:off x="7452360" y="2743200"/>
            <a:ext cx="397764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7507224" y="277977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Proveedor, OS, proyecto, área usuaria, plazo</a:t>
            </a:r>
            <a:endParaRPr lang="en-US" sz="830" dirty="0"/>
          </a:p>
        </p:txBody>
      </p:sp>
      <p:sp>
        <p:nvSpPr>
          <p:cNvPr id="26" name="Shape 22"/>
          <p:cNvSpPr/>
          <p:nvPr/>
        </p:nvSpPr>
        <p:spPr>
          <a:xfrm>
            <a:off x="777240" y="3406140"/>
            <a:ext cx="278892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832104" y="344271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Entregables y conformidades</a:t>
            </a:r>
          </a:p>
        </p:txBody>
      </p:sp>
      <p:sp>
        <p:nvSpPr>
          <p:cNvPr id="28" name="Shape 24"/>
          <p:cNvSpPr/>
          <p:nvPr/>
        </p:nvSpPr>
        <p:spPr>
          <a:xfrm>
            <a:off x="3566160" y="3406140"/>
            <a:ext cx="388620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3621024" y="344271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Monitorear cumplimiento técnico y administrativo.</a:t>
            </a:r>
            <a:endParaRPr lang="en-US" sz="830" dirty="0"/>
          </a:p>
        </p:txBody>
      </p:sp>
      <p:sp>
        <p:nvSpPr>
          <p:cNvPr id="30" name="Shape 26"/>
          <p:cNvSpPr/>
          <p:nvPr/>
        </p:nvSpPr>
        <p:spPr>
          <a:xfrm>
            <a:off x="7452360" y="3406140"/>
            <a:ext cx="39776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7507224" y="344271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Entregable, informe, revisor, responsable, conformidad</a:t>
            </a:r>
            <a:endParaRPr lang="en-US" sz="830" dirty="0"/>
          </a:p>
        </p:txBody>
      </p:sp>
      <p:sp>
        <p:nvSpPr>
          <p:cNvPr id="32" name="Shape 28"/>
          <p:cNvSpPr/>
          <p:nvPr/>
        </p:nvSpPr>
        <p:spPr>
          <a:xfrm>
            <a:off x="777240" y="4069080"/>
            <a:ext cx="278892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832104" y="410565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Proyectos, actividades y productos</a:t>
            </a:r>
          </a:p>
        </p:txBody>
      </p:sp>
      <p:sp>
        <p:nvSpPr>
          <p:cNvPr id="34" name="Shape 30"/>
          <p:cNvSpPr/>
          <p:nvPr/>
        </p:nvSpPr>
        <p:spPr>
          <a:xfrm>
            <a:off x="3566160" y="4069080"/>
            <a:ext cx="388620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3621024" y="410565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Relacionar proyectos, productos, gastos y resultados.</a:t>
            </a:r>
            <a:endParaRPr lang="en-US" sz="830" dirty="0"/>
          </a:p>
        </p:txBody>
      </p:sp>
      <p:sp>
        <p:nvSpPr>
          <p:cNvPr id="36" name="Shape 32"/>
          <p:cNvSpPr/>
          <p:nvPr/>
        </p:nvSpPr>
        <p:spPr>
          <a:xfrm>
            <a:off x="7452360" y="4069080"/>
            <a:ext cx="397764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7507224" y="410565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Proyecto, actividad, presupuesto, entregable, indicador</a:t>
            </a:r>
            <a:endParaRPr lang="en-US" sz="830" dirty="0"/>
          </a:p>
        </p:txBody>
      </p:sp>
      <p:sp>
        <p:nvSpPr>
          <p:cNvPr id="38" name="Shape 34"/>
          <p:cNvSpPr/>
          <p:nvPr/>
        </p:nvSpPr>
        <p:spPr>
          <a:xfrm>
            <a:off x="777240" y="4732020"/>
            <a:ext cx="278892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832104" y="476859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Bienes y adquisiciones</a:t>
            </a:r>
          </a:p>
        </p:txBody>
      </p:sp>
      <p:sp>
        <p:nvSpPr>
          <p:cNvPr id="40" name="Shape 36"/>
          <p:cNvSpPr/>
          <p:nvPr/>
        </p:nvSpPr>
        <p:spPr>
          <a:xfrm>
            <a:off x="3566160" y="4732020"/>
            <a:ext cx="388620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3621024" y="476859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Trazar requerimientos, fichas-producto y órdenes de compra.</a:t>
            </a:r>
            <a:endParaRPr lang="en-US" sz="830" dirty="0"/>
          </a:p>
        </p:txBody>
      </p:sp>
      <p:sp>
        <p:nvSpPr>
          <p:cNvPr id="42" name="Shape 38"/>
          <p:cNvSpPr/>
          <p:nvPr/>
        </p:nvSpPr>
        <p:spPr>
          <a:xfrm>
            <a:off x="7452360" y="4732020"/>
            <a:ext cx="39776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3" name="Text 39"/>
          <p:cNvSpPr/>
          <p:nvPr/>
        </p:nvSpPr>
        <p:spPr>
          <a:xfrm>
            <a:off x="7507224" y="476859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Bien, requerimiento, ficha CEAM, proveedor, recepción</a:t>
            </a:r>
            <a:endParaRPr lang="en-US" sz="830" dirty="0"/>
          </a:p>
        </p:txBody>
      </p:sp>
      <p:sp>
        <p:nvSpPr>
          <p:cNvPr id="44" name="Text 40"/>
          <p:cNvSpPr/>
          <p:nvPr/>
        </p:nvSpPr>
        <p:spPr>
          <a:xfrm>
            <a:off x="822960" y="56509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Denominaciones propuestas para el laboratorio; no se presentan como nombres oficiales de sistemas internos del IGP.</a:t>
            </a:r>
          </a:p>
        </p:txBody>
      </p:sp>
      <p:sp>
        <p:nvSpPr>
          <p:cNvPr id="45" name="Text 41"/>
          <p:cNvSpPr/>
          <p:nvPr/>
        </p:nvSpPr>
        <p:spPr>
          <a:xfrm>
            <a:off x="822960" y="599846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El ejemplo de adquisiciones se relaciona con la consulta de fichas-producto en los Catálogos Electrónicos de Perú Compras.</a:t>
            </a:r>
          </a:p>
        </p:txBody>
      </p:sp>
      <p:sp>
        <p:nvSpPr>
          <p:cNvPr id="46" name="Shape 42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4. Plan de implementación (1/2): análisis y diseño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502920" y="141732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612648" y="159105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612648" y="1655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014984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Requerimientos</a:t>
            </a:r>
          </a:p>
        </p:txBody>
      </p:sp>
      <p:sp>
        <p:nvSpPr>
          <p:cNvPr id="12" name="Text 8"/>
          <p:cNvSpPr/>
          <p:nvPr/>
        </p:nvSpPr>
        <p:spPr>
          <a:xfrm>
            <a:off x="101498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Entrevistas, observación y revisión de OS, informes y expedientes.</a:t>
            </a:r>
          </a:p>
        </p:txBody>
      </p:sp>
      <p:sp>
        <p:nvSpPr>
          <p:cNvPr id="13" name="Shape 9"/>
          <p:cNvSpPr/>
          <p:nvPr/>
        </p:nvSpPr>
        <p:spPr>
          <a:xfrm>
            <a:off x="3154680" y="187452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3383280" y="141732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493008" y="159105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3493008" y="1655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895344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Actores</a:t>
            </a:r>
          </a:p>
        </p:txBody>
      </p:sp>
      <p:sp>
        <p:nvSpPr>
          <p:cNvPr id="18" name="Text 14"/>
          <p:cNvSpPr/>
          <p:nvPr/>
        </p:nvSpPr>
        <p:spPr>
          <a:xfrm>
            <a:off x="389534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Locador, revisor, responsable, Mesa de Partes y unidad administrativa.</a:t>
            </a:r>
          </a:p>
        </p:txBody>
      </p:sp>
      <p:sp>
        <p:nvSpPr>
          <p:cNvPr id="19" name="Shape 15"/>
          <p:cNvSpPr/>
          <p:nvPr/>
        </p:nvSpPr>
        <p:spPr>
          <a:xfrm>
            <a:off x="6035040" y="187452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6263640" y="141732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373368" y="159105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373368" y="1655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775704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Entidades</a:t>
            </a:r>
          </a:p>
        </p:txBody>
      </p:sp>
      <p:sp>
        <p:nvSpPr>
          <p:cNvPr id="24" name="Text 20"/>
          <p:cNvSpPr/>
          <p:nvPr/>
        </p:nvSpPr>
        <p:spPr>
          <a:xfrm>
            <a:off x="677570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Proveedor, OS, entregable, informe, expediente y oficina.</a:t>
            </a:r>
          </a:p>
        </p:txBody>
      </p:sp>
      <p:sp>
        <p:nvSpPr>
          <p:cNvPr id="25" name="Shape 21"/>
          <p:cNvSpPr/>
          <p:nvPr/>
        </p:nvSpPr>
        <p:spPr>
          <a:xfrm>
            <a:off x="8915400" y="187452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144000" y="141732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9253728" y="159105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9253728" y="1655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656064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Modelo conceptual</a:t>
            </a:r>
          </a:p>
        </p:txBody>
      </p:sp>
      <p:sp>
        <p:nvSpPr>
          <p:cNvPr id="30" name="Text 26"/>
          <p:cNvSpPr/>
          <p:nvPr/>
        </p:nvSpPr>
        <p:spPr>
          <a:xfrm>
            <a:off x="965606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Diagrama ER inicial y reglas principales del proceso.</a:t>
            </a:r>
          </a:p>
        </p:txBody>
      </p:sp>
      <p:sp>
        <p:nvSpPr>
          <p:cNvPr id="31" name="Shape 27"/>
          <p:cNvSpPr/>
          <p:nvPr/>
        </p:nvSpPr>
        <p:spPr>
          <a:xfrm>
            <a:off x="502920" y="28803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612648" y="305409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612648" y="3118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01498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Modelo lógico</a:t>
            </a:r>
          </a:p>
        </p:txBody>
      </p:sp>
      <p:sp>
        <p:nvSpPr>
          <p:cNvPr id="35" name="Text 31"/>
          <p:cNvSpPr/>
          <p:nvPr/>
        </p:nvSpPr>
        <p:spPr>
          <a:xfrm>
            <a:off x="101498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Tablas, claves primarias, claves foráneas y relaciones.</a:t>
            </a:r>
          </a:p>
        </p:txBody>
      </p:sp>
      <p:sp>
        <p:nvSpPr>
          <p:cNvPr id="36" name="Shape 32"/>
          <p:cNvSpPr/>
          <p:nvPr/>
        </p:nvSpPr>
        <p:spPr>
          <a:xfrm>
            <a:off x="3154680" y="333756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3383280" y="28803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3493008" y="305409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3493008" y="3118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389534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Normalización</a:t>
            </a:r>
          </a:p>
        </p:txBody>
      </p:sp>
      <p:sp>
        <p:nvSpPr>
          <p:cNvPr id="41" name="Text 37"/>
          <p:cNvSpPr/>
          <p:nvPr/>
        </p:nvSpPr>
        <p:spPr>
          <a:xfrm>
            <a:off x="389534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Reducir duplicidad y dependencias incorrectas.</a:t>
            </a:r>
          </a:p>
        </p:txBody>
      </p:sp>
      <p:sp>
        <p:nvSpPr>
          <p:cNvPr id="42" name="Shape 38"/>
          <p:cNvSpPr/>
          <p:nvPr/>
        </p:nvSpPr>
        <p:spPr>
          <a:xfrm>
            <a:off x="6035040" y="333756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3" name="Shape 39"/>
          <p:cNvSpPr/>
          <p:nvPr/>
        </p:nvSpPr>
        <p:spPr>
          <a:xfrm>
            <a:off x="6263640" y="28803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44" name="Shape 40"/>
          <p:cNvSpPr/>
          <p:nvPr/>
        </p:nvSpPr>
        <p:spPr>
          <a:xfrm>
            <a:off x="6373368" y="305409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6373368" y="3118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677570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Diseño físico</a:t>
            </a:r>
          </a:p>
        </p:txBody>
      </p:sp>
      <p:sp>
        <p:nvSpPr>
          <p:cNvPr id="47" name="Text 43"/>
          <p:cNvSpPr/>
          <p:nvPr/>
        </p:nvSpPr>
        <p:spPr>
          <a:xfrm>
            <a:off x="677570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Motor de base de datos, índices, respaldos y almacenamiento.</a:t>
            </a:r>
          </a:p>
        </p:txBody>
      </p:sp>
      <p:sp>
        <p:nvSpPr>
          <p:cNvPr id="48" name="Shape 44"/>
          <p:cNvSpPr/>
          <p:nvPr/>
        </p:nvSpPr>
        <p:spPr>
          <a:xfrm>
            <a:off x="8915400" y="333756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9" name="Shape 45"/>
          <p:cNvSpPr/>
          <p:nvPr/>
        </p:nvSpPr>
        <p:spPr>
          <a:xfrm>
            <a:off x="9144000" y="28803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50" name="Shape 46"/>
          <p:cNvSpPr/>
          <p:nvPr/>
        </p:nvSpPr>
        <p:spPr>
          <a:xfrm>
            <a:off x="9253728" y="305409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9253728" y="3118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965606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Seguridad y perfiles</a:t>
            </a:r>
          </a:p>
        </p:txBody>
      </p:sp>
      <p:sp>
        <p:nvSpPr>
          <p:cNvPr id="53" name="Text 49"/>
          <p:cNvSpPr/>
          <p:nvPr/>
        </p:nvSpPr>
        <p:spPr>
          <a:xfrm>
            <a:off x="965606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Roles de registro, revisión, aprobación, consulta y auditoría.</a:t>
            </a:r>
          </a:p>
        </p:txBody>
      </p:sp>
      <p:sp>
        <p:nvSpPr>
          <p:cNvPr id="54" name="Shape 50"/>
          <p:cNvSpPr/>
          <p:nvPr/>
        </p:nvSpPr>
        <p:spPr>
          <a:xfrm>
            <a:off x="731520" y="489204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55" name="Text 51"/>
          <p:cNvSpPr/>
          <p:nvPr/>
        </p:nvSpPr>
        <p:spPr>
          <a:xfrm>
            <a:off x="868680" y="50109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875B"/>
                </a:solidFill>
              </a:rPr>
              <a:t>Alineamiento organizacional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868680" y="53035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Primero se entiende el proceso y sus reglas. Después se diseña la base de datos y recién se define la tecnología.</a:t>
            </a:r>
          </a:p>
        </p:txBody>
      </p:sp>
      <p:sp>
        <p:nvSpPr>
          <p:cNvPr id="57" name="Shape 5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58" name="Text 54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59" name="Text 55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4. Plan de implementación (2/2): puesta en marcha y control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77724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0F6FF"/>
          </a:solidFill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1463040" y="1783080"/>
            <a:ext cx="594360" cy="59436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46304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Migración</a:t>
            </a:r>
          </a:p>
        </p:txBody>
      </p:sp>
      <p:sp>
        <p:nvSpPr>
          <p:cNvPr id="12" name="Text 8"/>
          <p:cNvSpPr/>
          <p:nvPr/>
        </p:nvSpPr>
        <p:spPr>
          <a:xfrm>
            <a:off x="96012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Cargar datos históricos necesarios y validar duplicados, fechas y códigos de expediente.</a:t>
            </a:r>
          </a:p>
        </p:txBody>
      </p:sp>
      <p:sp>
        <p:nvSpPr>
          <p:cNvPr id="13" name="Shape 9"/>
          <p:cNvSpPr/>
          <p:nvPr/>
        </p:nvSpPr>
        <p:spPr>
          <a:xfrm>
            <a:off x="301752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3703320" y="1783080"/>
            <a:ext cx="594360" cy="594360"/>
          </a:xfrm>
          <a:prstGeom prst="ellipse">
            <a:avLst/>
          </a:prstGeom>
          <a:solidFill>
            <a:srgbClr val="21875B"/>
          </a:solidFill>
          <a:ln w="1270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370332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0040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Pruebas</a:t>
            </a:r>
          </a:p>
        </p:txBody>
      </p:sp>
      <p:sp>
        <p:nvSpPr>
          <p:cNvPr id="17" name="Text 13"/>
          <p:cNvSpPr/>
          <p:nvPr/>
        </p:nvSpPr>
        <p:spPr>
          <a:xfrm>
            <a:off x="320040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Probar registro, consulta, cambios de estado, anexos y perfiles de usuario.</a:t>
            </a:r>
          </a:p>
        </p:txBody>
      </p:sp>
      <p:sp>
        <p:nvSpPr>
          <p:cNvPr id="18" name="Shape 14"/>
          <p:cNvSpPr/>
          <p:nvPr/>
        </p:nvSpPr>
        <p:spPr>
          <a:xfrm>
            <a:off x="525780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0F6FF"/>
          </a:solidFill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5943600" y="1783080"/>
            <a:ext cx="594360" cy="594360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94360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4068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Capacitación</a:t>
            </a:r>
          </a:p>
        </p:txBody>
      </p:sp>
      <p:sp>
        <p:nvSpPr>
          <p:cNvPr id="22" name="Text 18"/>
          <p:cNvSpPr/>
          <p:nvPr/>
        </p:nvSpPr>
        <p:spPr>
          <a:xfrm>
            <a:off x="544068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Capacitar a usuarios en registro, búsqueda, seguimiento y corrección de errores.</a:t>
            </a:r>
          </a:p>
        </p:txBody>
      </p:sp>
      <p:sp>
        <p:nvSpPr>
          <p:cNvPr id="23" name="Shape 19"/>
          <p:cNvSpPr/>
          <p:nvPr/>
        </p:nvSpPr>
        <p:spPr>
          <a:xfrm>
            <a:off x="749808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8183880" y="1783080"/>
            <a:ext cx="594360" cy="59436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818388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68096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Implementación</a:t>
            </a:r>
          </a:p>
        </p:txBody>
      </p:sp>
      <p:sp>
        <p:nvSpPr>
          <p:cNvPr id="27" name="Text 23"/>
          <p:cNvSpPr/>
          <p:nvPr/>
        </p:nvSpPr>
        <p:spPr>
          <a:xfrm>
            <a:off x="768096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Poner en marcha el sistema con roles, bitácora y controles de acceso.</a:t>
            </a:r>
          </a:p>
        </p:txBody>
      </p:sp>
      <p:sp>
        <p:nvSpPr>
          <p:cNvPr id="28" name="Shape 24"/>
          <p:cNvSpPr/>
          <p:nvPr/>
        </p:nvSpPr>
        <p:spPr>
          <a:xfrm>
            <a:off x="973836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0F6FF"/>
          </a:solidFill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10424160" y="1783080"/>
            <a:ext cx="594360" cy="594360"/>
          </a:xfrm>
          <a:prstGeom prst="ellipse">
            <a:avLst/>
          </a:prstGeom>
          <a:solidFill>
            <a:srgbClr val="4CB3D8"/>
          </a:solidFill>
          <a:ln w="12700">
            <a:solidFill>
              <a:srgbClr val="4CB3D8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1042416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92124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Mantenimiento</a:t>
            </a:r>
          </a:p>
        </p:txBody>
      </p:sp>
      <p:sp>
        <p:nvSpPr>
          <p:cNvPr id="32" name="Text 28"/>
          <p:cNvSpPr/>
          <p:nvPr/>
        </p:nvSpPr>
        <p:spPr>
          <a:xfrm>
            <a:off x="992124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Revisar errores, actualizar catálogos y medir tiempos, pendientes y observaciones.</a:t>
            </a:r>
          </a:p>
        </p:txBody>
      </p:sp>
      <p:sp>
        <p:nvSpPr>
          <p:cNvPr id="33" name="Text 29"/>
          <p:cNvSpPr/>
          <p:nvPr/>
        </p:nvSpPr>
        <p:spPr>
          <a:xfrm>
            <a:off x="914400" y="5212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Controles mínimos: calidad de datos, seguridad, trazabilidad, catálogos únicos e indicadores de seguimiento.</a:t>
            </a:r>
          </a:p>
        </p:txBody>
      </p:sp>
      <p:sp>
        <p:nvSpPr>
          <p:cNvPr id="34" name="Shape 3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5. Cinco bases o plataformas públicas importantes del Perú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731520" y="1417320"/>
            <a:ext cx="3200400" cy="70866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86384" y="145389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Base o plataforma</a:t>
            </a:r>
          </a:p>
        </p:txBody>
      </p:sp>
      <p:sp>
        <p:nvSpPr>
          <p:cNvPr id="10" name="Shape 6"/>
          <p:cNvSpPr/>
          <p:nvPr/>
        </p:nvSpPr>
        <p:spPr>
          <a:xfrm>
            <a:off x="3931920" y="1417320"/>
            <a:ext cx="2560320" cy="70866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3986784" y="145389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Entidad responsable</a:t>
            </a:r>
          </a:p>
        </p:txBody>
      </p:sp>
      <p:sp>
        <p:nvSpPr>
          <p:cNvPr id="12" name="Shape 8"/>
          <p:cNvSpPr/>
          <p:nvPr/>
        </p:nvSpPr>
        <p:spPr>
          <a:xfrm>
            <a:off x="6492240" y="1417320"/>
            <a:ext cx="4983480" cy="70866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547104" y="145389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Uso principal</a:t>
            </a:r>
          </a:p>
        </p:txBody>
      </p:sp>
      <p:sp>
        <p:nvSpPr>
          <p:cNvPr id="14" name="Shape 10"/>
          <p:cNvSpPr/>
          <p:nvPr/>
        </p:nvSpPr>
        <p:spPr>
          <a:xfrm>
            <a:off x="731520" y="2125980"/>
            <a:ext cx="320040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86384" y="216255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RENIEC – identificación</a:t>
            </a:r>
          </a:p>
        </p:txBody>
      </p:sp>
      <p:sp>
        <p:nvSpPr>
          <p:cNvPr id="16" name="Shape 12"/>
          <p:cNvSpPr/>
          <p:nvPr/>
        </p:nvSpPr>
        <p:spPr>
          <a:xfrm>
            <a:off x="3931920" y="2125980"/>
            <a:ext cx="256032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986784" y="216255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RENIEC</a:t>
            </a:r>
          </a:p>
        </p:txBody>
      </p:sp>
      <p:sp>
        <p:nvSpPr>
          <p:cNvPr id="18" name="Shape 14"/>
          <p:cNvSpPr/>
          <p:nvPr/>
        </p:nvSpPr>
        <p:spPr>
          <a:xfrm>
            <a:off x="6492240" y="2125980"/>
            <a:ext cx="498348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547104" y="216255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Permite verificar identidad y sostener trámites digitales.</a:t>
            </a:r>
          </a:p>
        </p:txBody>
      </p:sp>
      <p:sp>
        <p:nvSpPr>
          <p:cNvPr id="20" name="Shape 16"/>
          <p:cNvSpPr/>
          <p:nvPr/>
        </p:nvSpPr>
        <p:spPr>
          <a:xfrm>
            <a:off x="731520" y="2834640"/>
            <a:ext cx="320040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86384" y="287121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Consulta RUC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3931920" y="2834640"/>
            <a:ext cx="256032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3986784" y="287121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SUNAT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6492240" y="2834640"/>
            <a:ext cx="498348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547104" y="287121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Permite consultar contribuyentes, condición y datos tributarios.</a:t>
            </a:r>
          </a:p>
        </p:txBody>
      </p:sp>
      <p:sp>
        <p:nvSpPr>
          <p:cNvPr id="26" name="Shape 22"/>
          <p:cNvSpPr/>
          <p:nvPr/>
        </p:nvSpPr>
        <p:spPr>
          <a:xfrm>
            <a:off x="731520" y="3543300"/>
            <a:ext cx="320040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786384" y="357987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Consulta Amigable / Transparencia Económica</a:t>
            </a:r>
            <a:endParaRPr lang="en-US" sz="820" dirty="0"/>
          </a:p>
        </p:txBody>
      </p:sp>
      <p:sp>
        <p:nvSpPr>
          <p:cNvPr id="28" name="Shape 24"/>
          <p:cNvSpPr/>
          <p:nvPr/>
        </p:nvSpPr>
        <p:spPr>
          <a:xfrm>
            <a:off x="3931920" y="3543300"/>
            <a:ext cx="256032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3986784" y="357987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MEF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6492240" y="3543300"/>
            <a:ext cx="498348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6547104" y="357987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Permite revisar ejecución presupuestal y gasto público.</a:t>
            </a:r>
          </a:p>
        </p:txBody>
      </p:sp>
      <p:sp>
        <p:nvSpPr>
          <p:cNvPr id="32" name="Shape 28"/>
          <p:cNvSpPr/>
          <p:nvPr/>
        </p:nvSpPr>
        <p:spPr>
          <a:xfrm>
            <a:off x="731520" y="4251960"/>
            <a:ext cx="320040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786384" y="428853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Datos Abiertos Perú</a:t>
            </a:r>
          </a:p>
        </p:txBody>
      </p:sp>
      <p:sp>
        <p:nvSpPr>
          <p:cNvPr id="34" name="Shape 30"/>
          <p:cNvSpPr/>
          <p:nvPr/>
        </p:nvSpPr>
        <p:spPr>
          <a:xfrm>
            <a:off x="3931920" y="4251960"/>
            <a:ext cx="256032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3986784" y="428853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PCM / Estado peruano</a:t>
            </a:r>
          </a:p>
        </p:txBody>
      </p:sp>
      <p:sp>
        <p:nvSpPr>
          <p:cNvPr id="36" name="Shape 32"/>
          <p:cNvSpPr/>
          <p:nvPr/>
        </p:nvSpPr>
        <p:spPr>
          <a:xfrm>
            <a:off x="6492240" y="4251960"/>
            <a:ext cx="498348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6547104" y="428853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Publica datos reutilizables de entidades del Estado.</a:t>
            </a:r>
          </a:p>
        </p:txBody>
      </p:sp>
      <p:sp>
        <p:nvSpPr>
          <p:cNvPr id="38" name="Shape 34"/>
          <p:cNvSpPr/>
          <p:nvPr/>
        </p:nvSpPr>
        <p:spPr>
          <a:xfrm>
            <a:off x="731520" y="4960620"/>
            <a:ext cx="320040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786384" y="499719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SEACE</a:t>
            </a:r>
          </a:p>
        </p:txBody>
      </p:sp>
      <p:sp>
        <p:nvSpPr>
          <p:cNvPr id="40" name="Shape 36"/>
          <p:cNvSpPr/>
          <p:nvPr/>
        </p:nvSpPr>
        <p:spPr>
          <a:xfrm>
            <a:off x="3931920" y="4960620"/>
            <a:ext cx="256032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3986784" y="499719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OECE</a:t>
            </a:r>
          </a:p>
        </p:txBody>
      </p:sp>
      <p:sp>
        <p:nvSpPr>
          <p:cNvPr id="42" name="Shape 38"/>
          <p:cNvSpPr/>
          <p:nvPr/>
        </p:nvSpPr>
        <p:spPr>
          <a:xfrm>
            <a:off x="6492240" y="4960620"/>
            <a:ext cx="498348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3" name="Text 39"/>
          <p:cNvSpPr/>
          <p:nvPr/>
        </p:nvSpPr>
        <p:spPr>
          <a:xfrm>
            <a:off x="6547104" y="499719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Registra información de contrataciones públicas. Perú Compras administra los Catálogos Electrónicos, que son otra plataforma vinculada a compras públicas.</a:t>
            </a:r>
          </a:p>
        </p:txBody>
      </p:sp>
      <p:sp>
        <p:nvSpPr>
          <p:cNvPr id="44" name="Text 40"/>
          <p:cNvSpPr/>
          <p:nvPr/>
        </p:nvSpPr>
        <p:spPr>
          <a:xfrm>
            <a:off x="82296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Aunque la consigna habla de bases de datos, varias se consultan mediante plataformas públicas oficiales.</a:t>
            </a:r>
          </a:p>
        </p:txBody>
      </p:sp>
      <p:sp>
        <p:nvSpPr>
          <p:cNvPr id="45" name="Shape 41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Conclusiones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22960" y="1527048"/>
            <a:ext cx="438912" cy="438912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822960" y="1627632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508760" y="15544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En el proceso estudiado, el expediente permite relacionar documentos, responsables, estados y fechas del trámite.</a:t>
            </a:r>
          </a:p>
        </p:txBody>
      </p:sp>
      <p:sp>
        <p:nvSpPr>
          <p:cNvPr id="11" name="Shape 7"/>
          <p:cNvSpPr/>
          <p:nvPr/>
        </p:nvSpPr>
        <p:spPr>
          <a:xfrm>
            <a:off x="822960" y="2368296"/>
            <a:ext cx="438912" cy="438912"/>
          </a:xfrm>
          <a:prstGeom prst="ellipse">
            <a:avLst/>
          </a:prstGeom>
          <a:solidFill>
            <a:srgbClr val="21875B"/>
          </a:solidFill>
          <a:ln w="1270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22960" y="24688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508760" y="23957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No todo archivo adjunto es una entidad: algunos elementos son documentos, otros roles, atributos o transacciones.</a:t>
            </a:r>
          </a:p>
        </p:txBody>
      </p:sp>
      <p:sp>
        <p:nvSpPr>
          <p:cNvPr id="14" name="Shape 10"/>
          <p:cNvSpPr/>
          <p:nvPr/>
        </p:nvSpPr>
        <p:spPr>
          <a:xfrm>
            <a:off x="822960" y="3209544"/>
            <a:ext cx="438912" cy="438912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22960" y="331012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508760" y="323697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La base de datos propuesta debe partir del proceso real antes de decidir tablas, tecnología o interfaz.</a:t>
            </a:r>
          </a:p>
        </p:txBody>
      </p:sp>
      <p:sp>
        <p:nvSpPr>
          <p:cNvPr id="17" name="Shape 13"/>
          <p:cNvSpPr/>
          <p:nvPr/>
        </p:nvSpPr>
        <p:spPr>
          <a:xfrm>
            <a:off x="822960" y="4050792"/>
            <a:ext cx="438912" cy="438912"/>
          </a:xfrm>
          <a:prstGeom prst="ellipse">
            <a:avLst/>
          </a:prstGeom>
          <a:solidFill>
            <a:srgbClr val="21875B"/>
          </a:solidFill>
          <a:ln w="12700">
            <a:solidFill>
              <a:srgbClr val="21875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22960" y="4151376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508760" y="407822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/>
        </p:txBody>
      </p:sp>
      <p:sp>
        <p:nvSpPr>
          <p:cNvPr id="20" name="Shape 16"/>
          <p:cNvSpPr/>
          <p:nvPr/>
        </p:nvSpPr>
        <p:spPr>
          <a:xfrm>
            <a:off x="914400" y="5285232"/>
            <a:ext cx="10332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6D5DF6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051560" y="540410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Para continuar</a:t>
            </a:r>
          </a:p>
        </p:txBody>
      </p:sp>
      <p:sp>
        <p:nvSpPr>
          <p:cNvPr id="22" name="Text 18"/>
          <p:cNvSpPr/>
          <p:nvPr/>
        </p:nvSpPr>
        <p:spPr>
          <a:xfrm>
            <a:off x="1051560" y="569671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Usar este modelo como base para el SIPOC, el flujograma AS-IS y la identificación de puntos de demora.</a:t>
            </a:r>
          </a:p>
        </p:txBody>
      </p:sp>
      <p:sp>
        <p:nvSpPr>
          <p:cNvPr id="23" name="Shape 19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Referencias</a:t>
            </a:r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85800" y="1261872"/>
            <a:ext cx="1088136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Malca Vicente, E. (2026). Sílabo: Diseño y Gestión de Procesos Organizacionales. Universidad Nacional del Callao.</a:t>
            </a:r>
          </a:p>
          <a:p>
            <a:r>
              <a:t>Malca Vicente, E. (2026). Datos e información [material de clase]. Universidad Nacional del Callao.</a:t>
            </a:r>
          </a:p>
          <a:p>
            <a:r>
              <a:t>Malca Vicente, E. (2026). Sistemas de información – clasificación [material de clase]. Universidad Nacional del Callao.</a:t>
            </a:r>
          </a:p>
          <a:p>
            <a:r>
              <a:t>Hernández Trasobares, A. (s. f.). Los sistemas de información: evolución y desarrollo. Universidad de Zaragoza.</a:t>
            </a:r>
          </a:p>
          <a:p>
            <a:r>
              <a:t>Instituto Geofísico del Perú. (s. f.). Mesa de Partes Virtual. https://www.igp.gob.pe/servicios/mesa-partes-virtual/</a:t>
            </a:r>
          </a:p>
          <a:p>
            <a:r>
              <a:t>PERÚ COMPRAS. (s. f.). Buscador de fichas-producto – Catálogos Electrónicos. https://buscadorcatalogos.perucompras.gob.pe/</a:t>
            </a:r>
          </a:p>
          <a:p>
            <a:r>
              <a:t>Universidad Nacional del Callao. (2025). Mapa de Procesos Institucional, Res. N.° 183-2025-CU. https://unac.edu.pe/mapa-de-procesos-institucional/</a:t>
            </a:r>
          </a:p>
          <a:p>
            <a:r>
              <a:t>RENIEC. (s. f.). Servicios en línea. https://www.gob.pe/reniec</a:t>
            </a:r>
          </a:p>
          <a:p>
            <a:r>
              <a:t>SUNAT. (s. f.). Consulta RUC. https://e-consultaruc.sunat.gob.pe/</a:t>
            </a:r>
          </a:p>
          <a:p>
            <a:r>
              <a:t>Ministerio de Economía y Finanzas. (s. f.). Consulta Amigable. https://apps5.mineco.gob.pe/transparencia/</a:t>
            </a:r>
          </a:p>
          <a:p>
            <a:r>
              <a:t>Presidencia del Consejo de Ministros. (s. f.). Plataforma Nacional de Datos Abiertos. https://www.datosabiertos.gob.pe/</a:t>
            </a:r>
          </a:p>
          <a:p>
            <a:r>
              <a:t>OECE. (s. f.). SEACE y herramientas de contratación pública. https://www.gob.pe/oece</a:t>
            </a:r>
          </a:p>
        </p:txBody>
      </p:sp>
      <p:sp>
        <p:nvSpPr>
          <p:cNvPr id="9" name="Shape 5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APA 7</a:t>
            </a:r>
          </a:p>
        </p:txBody>
      </p:sp>
      <p:sp>
        <p:nvSpPr>
          <p:cNvPr id="11" name="Text 7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Nacional del Callao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2 - Datos e información</dc:title>
  <dc:subject>Laboratorio 2 - Diseño y Gestión de Procesos Organizacionales</dc:subject>
  <dc:creator>Grupo 9 - UNAC</dc:creator>
  <cp:lastModifiedBy>Grupo 9 - UNAC</cp:lastModifiedBy>
  <cp:revision>1</cp:revision>
  <dcterms:created xsi:type="dcterms:W3CDTF">2026-09-24T17:03:00Z</dcterms:created>
  <dcterms:modified xsi:type="dcterms:W3CDTF">2026-09-24T17:03:00Z</dcterms:modified>
</cp:coreProperties>
</file>
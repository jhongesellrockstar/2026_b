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432" y="411480"/>
            <a:ext cx="1952176" cy="1097280"/>
          </a:xfrm>
          <a:prstGeom prst="rect">
            <a:avLst/>
          </a:prstGeom>
        </p:spPr>
      </p:pic>
      <p:pic>
        <p:nvPicPr>
          <p:cNvPr id="3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34340"/>
            <a:ext cx="822960" cy="822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1792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3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Laboratorio 3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594360" y="2331720"/>
            <a:ext cx="75895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Metodologías de desarrollo de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sistemas de información</a:t>
            </a:r>
            <a:endParaRPr lang="en-US" sz="3700" dirty="0"/>
          </a:p>
        </p:txBody>
      </p:sp>
      <p:sp>
        <p:nvSpPr>
          <p:cNvPr id="6" name="Text 2"/>
          <p:cNvSpPr/>
          <p:nvPr/>
        </p:nvSpPr>
        <p:spPr>
          <a:xfrm>
            <a:off x="621792" y="3767328"/>
            <a:ext cx="90525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Metodologías para sistemas de información aplicadas a un proceso observado en el IGP</a:t>
            </a:r>
          </a:p>
        </p:txBody>
      </p:sp>
      <p:sp>
        <p:nvSpPr>
          <p:cNvPr id="7" name="Shape 3"/>
          <p:cNvSpPr/>
          <p:nvPr/>
        </p:nvSpPr>
        <p:spPr>
          <a:xfrm>
            <a:off x="640080" y="4361688"/>
            <a:ext cx="5029200" cy="0"/>
          </a:xfrm>
          <a:prstGeom prst="line">
            <a:avLst/>
          </a:prstGeom>
          <a:noFill/>
          <a:ln w="31750">
            <a:solidFill>
              <a:srgbClr val="00A3E0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40080" y="4617720"/>
            <a:ext cx="70408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EF5FF"/>
                </a:solidFill>
              </a:rPr>
              <a:t>Curso: Diseño y Gestión de Procesos Organizacionales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EF5FF"/>
                </a:solidFill>
              </a:rPr>
              <a:t>Docente: Ing. Eddie Malca Vicente · Semestre 2026-B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EF5FF"/>
                </a:solidFill>
              </a:rPr>
              <a:t>Grupo 9: Pinto · Santos · Villanueva · Escalante</a:t>
            </a:r>
            <a:endParaRPr lang="en-US" sz="1120" dirty="0"/>
          </a:p>
        </p:txBody>
      </p:sp>
      <p:sp>
        <p:nvSpPr>
          <p:cNvPr id="9" name="Text 5"/>
          <p:cNvSpPr/>
          <p:nvPr/>
        </p:nvSpPr>
        <p:spPr>
          <a:xfrm>
            <a:off x="640080" y="619963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>
                    <a:alpha val="95000"/>
                  </a:srgbClr>
                </a:solidFill>
              </a:rPr>
              <a:t>Escuela Profesional de Ingeniería de Sistemas · FIIS · UNAC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9509760" y="6199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Grupo 9 · 2026-B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Consigna del Laboratorio 3</a:t>
            </a:r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El laboratorio solicita comparar metodologías de desarrollo de sistemas y revisar paquetes de software aplicables como sistemas de información.</a:t>
            </a:r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1" name="Text 7"/>
          <p:cNvSpPr/>
          <p:nvPr/>
        </p:nvSpPr>
        <p:spPr>
          <a:xfrm>
            <a:off x="54864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solicita el laboratorio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31520" y="1691640"/>
            <a:ext cx="365760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50" dirty="0">
                <a:solidFill>
                  <a:srgbClr val="111827"/>
                </a:solidFill>
              </a:rPr>
              <a:t>Investigar 4 metodologías de desarrollo de sistemas.</a:t>
            </a:r>
            <a:endParaRPr lang="en-US" sz="1150" dirty="0"/>
          </a:p>
          <a:p>
            <a:r>
              <a:rPr lang="en-US" sz="1150" dirty="0">
                <a:solidFill>
                  <a:srgbClr val="111827"/>
                </a:solidFill>
              </a:rPr>
              <a:t>Comparar sus diferencias.</a:t>
            </a:r>
            <a:endParaRPr lang="en-US" sz="1150" dirty="0"/>
          </a:p>
          <a:p>
            <a:r>
              <a:rPr lang="en-US" sz="1150" dirty="0">
                <a:solidFill>
                  <a:srgbClr val="111827"/>
                </a:solidFill>
              </a:rPr>
              <a:t>Describir ventajas e inconvenientes.</a:t>
            </a:r>
            <a:endParaRPr lang="en-US" sz="1150" dirty="0"/>
          </a:p>
          <a:p>
            <a:r>
              <a:rPr lang="en-US" sz="1150" dirty="0">
                <a:solidFill>
                  <a:srgbClr val="111827"/>
                </a:solidFill>
              </a:rPr>
              <a:t>Buscar paquetes de software aplicables como SI.</a:t>
            </a:r>
            <a:endParaRPr lang="en-US" sz="1150" dirty="0"/>
          </a:p>
          <a:p>
            <a:r>
              <a:rPr lang="en-US" sz="1150" dirty="0">
                <a:solidFill>
                  <a:srgbClr val="111827"/>
                </a:solidFill>
              </a:rPr>
              <a:t>Incluir fuentes bibliográficas.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61772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Continuidad del trabajo</a:t>
            </a:r>
          </a:p>
        </p:txBody>
      </p:sp>
      <p:sp>
        <p:nvSpPr>
          <p:cNvPr id="14" name="Text 10"/>
          <p:cNvSpPr/>
          <p:nvPr/>
        </p:nvSpPr>
        <p:spPr>
          <a:xfrm>
            <a:off x="4434840" y="1828800"/>
            <a:ext cx="1417320" cy="777240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Lab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IGP + gestión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de procesos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897880" y="2221992"/>
            <a:ext cx="502920" cy="0"/>
          </a:xfrm>
          <a:prstGeom prst="line">
            <a:avLst/>
          </a:prstGeom>
          <a:noFill/>
          <a:ln w="16510">
            <a:solidFill>
              <a:srgbClr val="005E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6446520" y="1828800"/>
            <a:ext cx="1417320" cy="777240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Lab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Datos + entidades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+ BD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909560" y="2221992"/>
            <a:ext cx="502920" cy="0"/>
          </a:xfrm>
          <a:prstGeom prst="line">
            <a:avLst/>
          </a:prstGeom>
          <a:noFill/>
          <a:ln w="16510">
            <a:solidFill>
              <a:srgbClr val="005E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8458200" y="1828800"/>
            <a:ext cx="1417320" cy="777240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Lab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Metodología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software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61772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Relación con nuestros laboratorios</a:t>
            </a:r>
          </a:p>
        </p:txBody>
      </p:sp>
      <p:sp>
        <p:nvSpPr>
          <p:cNvPr id="20" name="Text 16"/>
          <p:cNvSpPr/>
          <p:nvPr/>
        </p:nvSpPr>
        <p:spPr>
          <a:xfrm>
            <a:off x="4617720" y="3429000"/>
            <a:ext cx="6217920" cy="640080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r>
              <a:t>Después de identificar procesos, datos y entidades, revisamos métodos para desarrollar o configurar un sistema que los soporte.</a:t>
            </a:r>
          </a:p>
        </p:txBody>
      </p:sp>
      <p:sp>
        <p:nvSpPr>
          <p:cNvPr id="21" name="Text 17"/>
          <p:cNvSpPr/>
          <p:nvPr/>
        </p:nvSpPr>
        <p:spPr>
          <a:xfrm>
            <a:off x="4617720" y="4407408"/>
            <a:ext cx="2011680" cy="256032"/>
          </a:xfrm>
          <a:prstGeom prst="rect">
            <a:avLst/>
          </a:prstGeom>
          <a:solidFill>
            <a:srgbClr val="EEF5FF"/>
          </a:solidFill>
          <a:ln w="7620">
            <a:solidFill>
              <a:srgbClr val="D1434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14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inventar procesos internos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812280" y="4407408"/>
            <a:ext cx="2331720" cy="256032"/>
          </a:xfrm>
          <a:prstGeom prst="rect">
            <a:avLst/>
          </a:prstGeom>
          <a:solidFill>
            <a:srgbClr val="EEF5FF"/>
          </a:solidFill>
          <a:ln w="7620"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Distinguir evidencia / inferencia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9326880" y="4407408"/>
            <a:ext cx="1965960" cy="256032"/>
          </a:xfrm>
          <a:prstGeom prst="rect">
            <a:avLst/>
          </a:prstGeom>
          <a:solidFill>
            <a:srgbClr val="EEF5FF"/>
          </a:solidFill>
          <a:ln w="7620">
            <a:solidFill>
              <a:srgbClr val="12957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9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el IGP como caso académico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Fuentes base: consigna del Laboratorio 3; material de clasificación de sistemas de información; sílabo DGPO 2026-B.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Proceso observado en el IGP</a:t>
            </a:r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Usamos un proceso conocido por un integrante del grupo para aterrizar la comparación, sin presentarlo como procedimiento institucional completo.</a:t>
            </a:r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1" name="Text 7"/>
          <p:cNvSpPr/>
          <p:nvPr/>
        </p:nvSpPr>
        <p:spPr>
          <a:xfrm>
            <a:off x="731520" y="1874520"/>
            <a:ext cx="1280160" cy="658368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Locador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elabora informe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057400" y="2203704"/>
            <a:ext cx="502920" cy="0"/>
          </a:xfrm>
          <a:prstGeom prst="line">
            <a:avLst/>
          </a:prstGeom>
          <a:noFill/>
          <a:ln w="16510">
            <a:solidFill>
              <a:srgbClr val="005E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2606040" y="1874520"/>
            <a:ext cx="1280160" cy="658368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Revisor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observa / V.B.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931920" y="2203704"/>
            <a:ext cx="502920" cy="0"/>
          </a:xfrm>
          <a:prstGeom prst="line">
            <a:avLst/>
          </a:prstGeom>
          <a:noFill/>
          <a:ln w="16510">
            <a:solidFill>
              <a:srgbClr val="005E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4480560" y="1874520"/>
            <a:ext cx="1371600" cy="658368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r>
              <a:t>Responsable</a:t>
            </a:r>
          </a:p>
          <a:p>
            <a:r>
              <a:t>aprueba/firma</a:t>
            </a:r>
          </a:p>
        </p:txBody>
      </p:sp>
      <p:sp>
        <p:nvSpPr>
          <p:cNvPr id="16" name="Shape 12"/>
          <p:cNvSpPr/>
          <p:nvPr/>
        </p:nvSpPr>
        <p:spPr>
          <a:xfrm>
            <a:off x="5897880" y="2203704"/>
            <a:ext cx="502920" cy="0"/>
          </a:xfrm>
          <a:prstGeom prst="line">
            <a:avLst/>
          </a:prstGeom>
          <a:noFill/>
          <a:ln w="16510">
            <a:solidFill>
              <a:srgbClr val="005E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446520" y="1874520"/>
            <a:ext cx="1371600" cy="658368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Mesa de Partes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expediente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863840" y="2203704"/>
            <a:ext cx="502920" cy="0"/>
          </a:xfrm>
          <a:prstGeom prst="line">
            <a:avLst/>
          </a:prstGeom>
          <a:noFill/>
          <a:ln w="16510">
            <a:solidFill>
              <a:srgbClr val="005E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8412480" y="1874520"/>
            <a:ext cx="1371600" cy="658368"/>
          </a:xfrm>
          <a:prstGeom prst="rect">
            <a:avLst/>
          </a:prstGeom>
          <a:solidFill>
            <a:srgbClr val="FFF7E6"/>
          </a:solidFill>
          <a:ln w="12700">
            <a:solidFill>
              <a:srgbClr val="F59E0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r>
              <a:t>Derivación</a:t>
            </a:r>
          </a:p>
          <a:p>
            <a:r>
              <a:t>administrativa</a:t>
            </a:r>
          </a:p>
        </p:txBody>
      </p:sp>
      <p:sp>
        <p:nvSpPr>
          <p:cNvPr id="20" name="Shape 16"/>
          <p:cNvSpPr/>
          <p:nvPr/>
        </p:nvSpPr>
        <p:spPr>
          <a:xfrm>
            <a:off x="9829800" y="2203704"/>
            <a:ext cx="502920" cy="0"/>
          </a:xfrm>
          <a:prstGeom prst="line">
            <a:avLst/>
          </a:prstGeom>
          <a:noFill/>
          <a:ln w="16510">
            <a:solidFill>
              <a:srgbClr val="005E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10378440" y="1874520"/>
            <a:ext cx="1097280" cy="658368"/>
          </a:xfrm>
          <a:prstGeom prst="rect">
            <a:avLst/>
          </a:prstGeom>
          <a:solidFill>
            <a:srgbClr val="FFF7E6"/>
          </a:solidFill>
          <a:ln w="12700">
            <a:solidFill>
              <a:srgbClr val="F59E0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r>
              <a:t>Seguimiento</a:t>
            </a:r>
          </a:p>
          <a:p>
            <a:r>
              <a:t>del trámite</a:t>
            </a:r>
          </a:p>
        </p:txBody>
      </p:sp>
      <p:sp>
        <p:nvSpPr>
          <p:cNvPr id="22" name="Text 18"/>
          <p:cNvSpPr/>
          <p:nvPr/>
        </p:nvSpPr>
        <p:spPr>
          <a:xfrm>
            <a:off x="7498080" y="26974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En un expediente observado, el trámite llegó posteriormente al Equipo de Tesorería.</a:t>
            </a:r>
          </a:p>
        </p:txBody>
      </p:sp>
      <p:sp>
        <p:nvSpPr>
          <p:cNvPr id="23" name="Text 19"/>
          <p:cNvSpPr/>
          <p:nvPr/>
        </p:nvSpPr>
        <p:spPr>
          <a:xfrm>
            <a:off x="731520" y="32461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 observados en la experiencia del locador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822960" y="3703320"/>
            <a:ext cx="46634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80" dirty="0">
                <a:solidFill>
                  <a:srgbClr val="111827"/>
                </a:solidFill>
              </a:rPr>
              <a:t>Informe técnico como documento principal.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</a:rPr>
              <a:t>Orden de Servicio como referencia contractual.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</a:rPr>
              <a:t>Recibo por Honorarios y suspensión de 4.ª categoría cuando corresponde.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</a:rPr>
              <a:t>Registro digital mediante Mesa de Partes Virtual.</a:t>
            </a:r>
            <a:endParaRPr lang="en-US" sz="1080" dirty="0"/>
          </a:p>
        </p:txBody>
      </p:sp>
      <p:sp>
        <p:nvSpPr>
          <p:cNvPr id="25" name="Text 21"/>
          <p:cNvSpPr/>
          <p:nvPr/>
        </p:nvSpPr>
        <p:spPr>
          <a:xfrm>
            <a:off x="6400800" y="32461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Nota de alcance</a:t>
            </a:r>
          </a:p>
        </p:txBody>
      </p:sp>
      <p:sp>
        <p:nvSpPr>
          <p:cNvPr id="26" name="Text 22"/>
          <p:cNvSpPr/>
          <p:nvPr/>
        </p:nvSpPr>
        <p:spPr>
          <a:xfrm>
            <a:off x="6400800" y="3675888"/>
            <a:ext cx="1143000" cy="256032"/>
          </a:xfrm>
          <a:prstGeom prst="rect">
            <a:avLst/>
          </a:prstGeom>
          <a:solidFill>
            <a:srgbClr val="129575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Confirmado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7680960" y="3675888"/>
            <a:ext cx="3017520" cy="256032"/>
          </a:xfrm>
          <a:prstGeom prst="rect">
            <a:avLst/>
          </a:prstGeom>
          <a:solidFill>
            <a:srgbClr val="F5F8FF"/>
          </a:solidFill>
          <a:ln w="1270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directa del integrante.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400800" y="4059936"/>
            <a:ext cx="1143000" cy="256032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Oficial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7680960" y="4059936"/>
            <a:ext cx="3017520" cy="256032"/>
          </a:xfrm>
          <a:prstGeom prst="rect">
            <a:avLst/>
          </a:prstGeom>
          <a:solidFill>
            <a:srgbClr val="F5F8FF"/>
          </a:solidFill>
          <a:ln w="1270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 o documento institucional.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400800" y="4443984"/>
            <a:ext cx="1143000" cy="256032"/>
          </a:xfrm>
          <a:prstGeom prst="rect">
            <a:avLst/>
          </a:prstGeom>
          <a:solidFill>
            <a:srgbClr val="6554C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Inferencia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7680960" y="4443984"/>
            <a:ext cx="3017520" cy="256032"/>
          </a:xfrm>
          <a:prstGeom prst="rect">
            <a:avLst/>
          </a:prstGeom>
          <a:solidFill>
            <a:srgbClr val="F5F8FF"/>
          </a:solidFill>
          <a:ln w="1270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Deducción razonable por el flujo.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400800" y="4828032"/>
            <a:ext cx="1143000" cy="25603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Pendiente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7680960" y="4828032"/>
            <a:ext cx="3017520" cy="256032"/>
          </a:xfrm>
          <a:prstGeom prst="rect">
            <a:avLst/>
          </a:prstGeom>
          <a:solidFill>
            <a:srgbClr val="F5F8FF"/>
          </a:solidFill>
          <a:ln w="1270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validación con OS/TDR o unidad.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Fuente base: experiencia directa del integrante; Laboratorios 1 y 2. No se incluyen datos personales del documento de muestra.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se compara cuando hablamos de metodologías de desarrollo?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Una metodología ordena actividades, roles, entregables y controles para construir o implantar un sistema de información.</a:t>
            </a:r>
            <a:endParaRPr lang="en-US" sz="880" dirty="0"/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1" name="Text 7"/>
          <p:cNvSpPr/>
          <p:nvPr/>
        </p:nvSpPr>
        <p:spPr>
          <a:xfrm>
            <a:off x="731520" y="1508760"/>
            <a:ext cx="2057400" cy="347472"/>
          </a:xfrm>
          <a:prstGeom prst="rect">
            <a:avLst/>
          </a:prstGeom>
          <a:solidFill>
            <a:srgbClr val="EAF3FF"/>
          </a:solidFill>
          <a:ln w="12700">
            <a:solidFill>
              <a:srgbClr val="BDD7F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Enfoque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31520" y="1892808"/>
            <a:ext cx="2057400" cy="914400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entiende el problema y el ciclo de vida del sistema.</a:t>
            </a:r>
            <a:endParaRPr lang="en-US" sz="920" dirty="0"/>
          </a:p>
        </p:txBody>
      </p:sp>
      <p:sp>
        <p:nvSpPr>
          <p:cNvPr id="13" name="Text 9"/>
          <p:cNvSpPr/>
          <p:nvPr/>
        </p:nvSpPr>
        <p:spPr>
          <a:xfrm>
            <a:off x="2971800" y="1508760"/>
            <a:ext cx="2057400" cy="347472"/>
          </a:xfrm>
          <a:prstGeom prst="rect">
            <a:avLst/>
          </a:prstGeom>
          <a:solidFill>
            <a:srgbClr val="EAF3FF"/>
          </a:solidFill>
          <a:ln w="12700">
            <a:solidFill>
              <a:srgbClr val="BDD7F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971800" y="1892808"/>
            <a:ext cx="2057400" cy="914400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de análisis, diseño, construcción, pruebas e implantación.</a:t>
            </a:r>
            <a:endParaRPr lang="en-US" sz="920" dirty="0"/>
          </a:p>
        </p:txBody>
      </p:sp>
      <p:sp>
        <p:nvSpPr>
          <p:cNvPr id="15" name="Text 11"/>
          <p:cNvSpPr/>
          <p:nvPr/>
        </p:nvSpPr>
        <p:spPr>
          <a:xfrm>
            <a:off x="5212080" y="1508760"/>
            <a:ext cx="2057400" cy="347472"/>
          </a:xfrm>
          <a:prstGeom prst="rect">
            <a:avLst/>
          </a:prstGeom>
          <a:solidFill>
            <a:srgbClr val="EAF3FF"/>
          </a:solidFill>
          <a:ln w="12700">
            <a:solidFill>
              <a:srgbClr val="BDD7F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Participación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212080" y="1892808"/>
            <a:ext cx="2057400" cy="914400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Grado de intervención del usuario, analista, dirección y área técnica.</a:t>
            </a:r>
            <a:endParaRPr lang="en-US" sz="920" dirty="0"/>
          </a:p>
        </p:txBody>
      </p:sp>
      <p:sp>
        <p:nvSpPr>
          <p:cNvPr id="17" name="Text 13"/>
          <p:cNvSpPr/>
          <p:nvPr/>
        </p:nvSpPr>
        <p:spPr>
          <a:xfrm>
            <a:off x="7452360" y="1508760"/>
            <a:ext cx="2057400" cy="347472"/>
          </a:xfrm>
          <a:prstGeom prst="rect">
            <a:avLst/>
          </a:prstGeom>
          <a:solidFill>
            <a:srgbClr val="EAF3FF"/>
          </a:solidFill>
          <a:ln w="12700">
            <a:solidFill>
              <a:srgbClr val="BDD7F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452360" y="1892808"/>
            <a:ext cx="2057400" cy="914400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Documentos, modelos, prototipos, diagramas, pruebas y manuales.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9692640" y="1508760"/>
            <a:ext cx="2057400" cy="347472"/>
          </a:xfrm>
          <a:prstGeom prst="rect">
            <a:avLst/>
          </a:prstGeom>
          <a:solidFill>
            <a:srgbClr val="EAF3FF"/>
          </a:solidFill>
          <a:ln w="12700">
            <a:solidFill>
              <a:srgbClr val="BDD7F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9692640" y="1892808"/>
            <a:ext cx="2057400" cy="914400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gestiona alcance, cambios, riesgos, calidad y mantenimiento.</a:t>
            </a:r>
            <a:endParaRPr lang="en-US" sz="920" dirty="0"/>
          </a:p>
        </p:txBody>
      </p:sp>
      <p:sp>
        <p:nvSpPr>
          <p:cNvPr id="21" name="Text 17"/>
          <p:cNvSpPr/>
          <p:nvPr/>
        </p:nvSpPr>
        <p:spPr>
          <a:xfrm>
            <a:off x="914400" y="37490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el caso IGP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914400" y="4206240"/>
            <a:ext cx="10241280" cy="685800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comparación se aplica a un sistema que brinde trazabilidad a informes, entregables, revisiones, expedientes, conformidades y estados del trámite, sin reemplazar ni describir sistemas internos no validados.</a:t>
            </a:r>
            <a:endParaRPr lang="en-US" sz="1230" dirty="0"/>
          </a:p>
        </p:txBody>
      </p:sp>
      <p:sp>
        <p:nvSpPr>
          <p:cNvPr id="23" name="Text 19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i="1" dirty="0">
                <a:solidFill>
                  <a:srgbClr val="6B7280"/>
                </a:solidFill>
              </a:rPr>
              <a:t>Fuente base: materiales del curso sobre sistemas de información y procesos; consigna del Laboratorio 3.</a:t>
            </a:r>
            <a:endParaRPr lang="en-US" sz="5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1) James A. Senn (1992)</a:t>
            </a:r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Ordena el desarrollo del sistema desde la investigación inicial hasta la implantación y mantenimiento.</a:t>
            </a:r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1" name="Text 7"/>
          <p:cNvSpPr/>
          <p:nvPr/>
        </p:nvSpPr>
        <p:spPr>
          <a:xfrm>
            <a:off x="731520" y="1554480"/>
            <a:ext cx="1417320" cy="658368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Investigación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preliminar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176272" y="1883664"/>
            <a:ext cx="320040" cy="0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2514600" y="1554480"/>
            <a:ext cx="1417320" cy="658368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Determinación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de requerimientos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959352" y="1883664"/>
            <a:ext cx="320040" cy="0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4297680" y="1554480"/>
            <a:ext cx="1417320" cy="658368"/>
          </a:xfrm>
          <a:prstGeom prst="rect">
            <a:avLst/>
          </a:prstGeom>
          <a:solidFill>
            <a:srgbClr val="EDF8F5"/>
          </a:solidFill>
          <a:ln w="12700">
            <a:solidFill>
              <a:srgbClr val="12957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Diseño del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sistema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742432" y="1883664"/>
            <a:ext cx="320040" cy="0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080760" y="1554480"/>
            <a:ext cx="1417320" cy="658368"/>
          </a:xfrm>
          <a:prstGeom prst="rect">
            <a:avLst/>
          </a:prstGeom>
          <a:solidFill>
            <a:srgbClr val="EDF8F5"/>
          </a:solidFill>
          <a:ln w="12700">
            <a:solidFill>
              <a:srgbClr val="12957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Desarrollo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construcción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525512" y="1883664"/>
            <a:ext cx="320040" cy="0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7863840" y="1554480"/>
            <a:ext cx="1417320" cy="658368"/>
          </a:xfrm>
          <a:prstGeom prst="rect">
            <a:avLst/>
          </a:prstGeom>
          <a:solidFill>
            <a:srgbClr val="FFF7E6"/>
          </a:solidFill>
          <a:ln w="12700">
            <a:solidFill>
              <a:srgbClr val="F59E0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Pruebas 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implantación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9308592" y="1883664"/>
            <a:ext cx="320040" cy="0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9646920" y="1554480"/>
            <a:ext cx="1417320" cy="658368"/>
          </a:xfrm>
          <a:prstGeom prst="rect">
            <a:avLst/>
          </a:prstGeom>
          <a:solidFill>
            <a:srgbClr val="FFF7E6"/>
          </a:solidFill>
          <a:ln w="12700">
            <a:solidFill>
              <a:srgbClr val="F59E0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Evaluación 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mantenimiento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777240" y="28529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Aporte principal</a:t>
            </a:r>
          </a:p>
        </p:txBody>
      </p:sp>
      <p:sp>
        <p:nvSpPr>
          <p:cNvPr id="23" name="Text 19"/>
          <p:cNvSpPr/>
          <p:nvPr/>
        </p:nvSpPr>
        <p:spPr>
          <a:xfrm>
            <a:off x="868680" y="3291840"/>
            <a:ext cx="493776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</a:rPr>
              <a:t>Permite iniciar con un estudio preliminar del flujo real: locador, revisor, responsable y Mesa de Partes.</a:t>
            </a:r>
            <a:endParaRPr lang="en-US" sz="1100" dirty="0"/>
          </a:p>
          <a:p>
            <a:r>
              <a:rPr lang="en-US" sz="1100" dirty="0">
                <a:solidFill>
                  <a:srgbClr val="111827"/>
                </a:solidFill>
              </a:rPr>
              <a:t>Exige determinar requerimientos antes de proponer software o base de datos.</a:t>
            </a:r>
            <a:endParaRPr lang="en-US" sz="1100" dirty="0"/>
          </a:p>
          <a:p>
            <a:r>
              <a:rPr lang="en-US" sz="1100" dirty="0">
                <a:solidFill>
                  <a:srgbClr val="111827"/>
                </a:solidFill>
              </a:rPr>
              <a:t>Es apropiado cuando se requiere control documental y claridad de entregables.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446520" y="28529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Precaución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446520" y="3291840"/>
            <a:ext cx="4297680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6C56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r>
              <a:t>Puede volverse rígido si el proceso real todavía cambia o si los usuarios precisan ajustes durante el desarrollo.</a:t>
            </a:r>
          </a:p>
        </p:txBody>
      </p:sp>
      <p:sp>
        <p:nvSpPr>
          <p:cNvPr id="26" name="Text 22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Referencia base: Senn, J. A. (1992). Analysis and Design of Information Systems. McGraw-Hill.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2) Kendall y Kendall (1997)</a:t>
            </a:r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Da importancia a identificar problemas, necesidades de información, diseño, documentación, pruebas, implementación y evaluación.</a:t>
            </a:r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1" name="Text 7"/>
          <p:cNvSpPr/>
          <p:nvPr/>
        </p:nvSpPr>
        <p:spPr>
          <a:xfrm>
            <a:off x="502920" y="1481328"/>
            <a:ext cx="384048" cy="384048"/>
          </a:xfrm>
          <a:prstGeom prst="rect">
            <a:avLst/>
          </a:prstGeom>
          <a:solidFill>
            <a:srgbClr val="6554C0"/>
          </a:solidFill>
          <a:ln>
            <a:solidFill>
              <a:srgbClr val="6554C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23544" y="1417320"/>
            <a:ext cx="1097280" cy="530352"/>
          </a:xfrm>
          <a:prstGeom prst="rect">
            <a:avLst/>
          </a:prstGeom>
          <a:solidFill>
            <a:srgbClr val="F4F2FF"/>
          </a:solidFill>
          <a:ln w="12700">
            <a:solidFill>
              <a:srgbClr val="C7B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Identificación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problema</a:t>
            </a:r>
            <a:endParaRPr lang="en-US" sz="780" dirty="0"/>
          </a:p>
        </p:txBody>
      </p:sp>
      <p:sp>
        <p:nvSpPr>
          <p:cNvPr id="13" name="Text 9"/>
          <p:cNvSpPr/>
          <p:nvPr/>
        </p:nvSpPr>
        <p:spPr>
          <a:xfrm>
            <a:off x="2103120" y="1481328"/>
            <a:ext cx="384048" cy="384048"/>
          </a:xfrm>
          <a:prstGeom prst="rect">
            <a:avLst/>
          </a:prstGeom>
          <a:solidFill>
            <a:srgbClr val="6554C0"/>
          </a:solidFill>
          <a:ln>
            <a:solidFill>
              <a:srgbClr val="6554C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523744" y="1417320"/>
            <a:ext cx="1097280" cy="530352"/>
          </a:xfrm>
          <a:prstGeom prst="rect">
            <a:avLst/>
          </a:prstGeom>
          <a:solidFill>
            <a:srgbClr val="F4F2FF"/>
          </a:solidFill>
          <a:ln w="12700">
            <a:solidFill>
              <a:srgbClr val="C7B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Determinación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necesidades</a:t>
            </a:r>
            <a:endParaRPr lang="en-US" sz="780" dirty="0"/>
          </a:p>
        </p:txBody>
      </p:sp>
      <p:sp>
        <p:nvSpPr>
          <p:cNvPr id="15" name="Text 11"/>
          <p:cNvSpPr/>
          <p:nvPr/>
        </p:nvSpPr>
        <p:spPr>
          <a:xfrm>
            <a:off x="3703320" y="1481328"/>
            <a:ext cx="384048" cy="384048"/>
          </a:xfrm>
          <a:prstGeom prst="rect">
            <a:avLst/>
          </a:prstGeom>
          <a:solidFill>
            <a:srgbClr val="6554C0"/>
          </a:solidFill>
          <a:ln>
            <a:solidFill>
              <a:srgbClr val="6554C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123944" y="1417320"/>
            <a:ext cx="1097280" cy="530352"/>
          </a:xfrm>
          <a:prstGeom prst="rect">
            <a:avLst/>
          </a:prstGeom>
          <a:solidFill>
            <a:srgbClr val="F4F2FF"/>
          </a:solidFill>
          <a:ln w="12700">
            <a:solidFill>
              <a:srgbClr val="C7B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780" dirty="0"/>
          </a:p>
        </p:txBody>
      </p:sp>
      <p:sp>
        <p:nvSpPr>
          <p:cNvPr id="17" name="Text 13"/>
          <p:cNvSpPr/>
          <p:nvPr/>
        </p:nvSpPr>
        <p:spPr>
          <a:xfrm>
            <a:off x="5303520" y="1481328"/>
            <a:ext cx="384048" cy="384048"/>
          </a:xfrm>
          <a:prstGeom prst="rect">
            <a:avLst/>
          </a:prstGeom>
          <a:solidFill>
            <a:srgbClr val="6554C0"/>
          </a:solidFill>
          <a:ln>
            <a:solidFill>
              <a:srgbClr val="6554C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724144" y="1417320"/>
            <a:ext cx="1097280" cy="530352"/>
          </a:xfrm>
          <a:prstGeom prst="rect">
            <a:avLst/>
          </a:prstGeom>
          <a:solidFill>
            <a:srgbClr val="F4F2FF"/>
          </a:solidFill>
          <a:ln w="12700">
            <a:solidFill>
              <a:srgbClr val="C7B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recomendado</a:t>
            </a:r>
            <a:endParaRPr lang="en-US" sz="780" dirty="0"/>
          </a:p>
        </p:txBody>
      </p:sp>
      <p:sp>
        <p:nvSpPr>
          <p:cNvPr id="19" name="Text 15"/>
          <p:cNvSpPr/>
          <p:nvPr/>
        </p:nvSpPr>
        <p:spPr>
          <a:xfrm>
            <a:off x="6903720" y="1481328"/>
            <a:ext cx="384048" cy="384048"/>
          </a:xfrm>
          <a:prstGeom prst="rect">
            <a:avLst/>
          </a:prstGeom>
          <a:solidFill>
            <a:srgbClr val="6554C0"/>
          </a:solidFill>
          <a:ln>
            <a:solidFill>
              <a:srgbClr val="6554C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324344" y="1417320"/>
            <a:ext cx="1097280" cy="530352"/>
          </a:xfrm>
          <a:prstGeom prst="rect">
            <a:avLst/>
          </a:prstGeom>
          <a:solidFill>
            <a:srgbClr val="F4F2FF"/>
          </a:solidFill>
          <a:ln w="12700">
            <a:solidFill>
              <a:srgbClr val="C7B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y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</a:t>
            </a:r>
            <a:endParaRPr lang="en-US" sz="780" dirty="0"/>
          </a:p>
        </p:txBody>
      </p:sp>
      <p:sp>
        <p:nvSpPr>
          <p:cNvPr id="21" name="Text 17"/>
          <p:cNvSpPr/>
          <p:nvPr/>
        </p:nvSpPr>
        <p:spPr>
          <a:xfrm>
            <a:off x="8503920" y="1481328"/>
            <a:ext cx="384048" cy="384048"/>
          </a:xfrm>
          <a:prstGeom prst="rect">
            <a:avLst/>
          </a:prstGeom>
          <a:solidFill>
            <a:srgbClr val="6554C0"/>
          </a:solidFill>
          <a:ln>
            <a:solidFill>
              <a:srgbClr val="6554C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8924544" y="1417320"/>
            <a:ext cx="1097280" cy="530352"/>
          </a:xfrm>
          <a:prstGeom prst="rect">
            <a:avLst/>
          </a:prstGeom>
          <a:solidFill>
            <a:srgbClr val="F4F2FF"/>
          </a:solidFill>
          <a:ln w="12700">
            <a:solidFill>
              <a:srgbClr val="C7B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+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</a:t>
            </a:r>
            <a:endParaRPr lang="en-US" sz="780" dirty="0"/>
          </a:p>
        </p:txBody>
      </p:sp>
      <p:sp>
        <p:nvSpPr>
          <p:cNvPr id="23" name="Text 19"/>
          <p:cNvSpPr/>
          <p:nvPr/>
        </p:nvSpPr>
        <p:spPr>
          <a:xfrm>
            <a:off x="10104120" y="1481328"/>
            <a:ext cx="384048" cy="384048"/>
          </a:xfrm>
          <a:prstGeom prst="rect">
            <a:avLst/>
          </a:prstGeom>
          <a:solidFill>
            <a:srgbClr val="6554C0"/>
          </a:solidFill>
          <a:ln>
            <a:solidFill>
              <a:srgbClr val="6554C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0524744" y="1417320"/>
            <a:ext cx="1097280" cy="530352"/>
          </a:xfrm>
          <a:prstGeom prst="rect">
            <a:avLst/>
          </a:prstGeom>
          <a:solidFill>
            <a:srgbClr val="F4F2FF"/>
          </a:solidFill>
          <a:ln w="12700">
            <a:solidFill>
              <a:srgbClr val="C7B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evaluación</a:t>
            </a:r>
            <a:endParaRPr lang="en-US" sz="780" dirty="0"/>
          </a:p>
        </p:txBody>
      </p:sp>
      <p:sp>
        <p:nvSpPr>
          <p:cNvPr id="25" name="Text 21"/>
          <p:cNvSpPr/>
          <p:nvPr/>
        </p:nvSpPr>
        <p:spPr>
          <a:xfrm>
            <a:off x="685800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Aporte principal</a:t>
            </a:r>
          </a:p>
        </p:txBody>
      </p:sp>
      <p:sp>
        <p:nvSpPr>
          <p:cNvPr id="26" name="Text 22"/>
          <p:cNvSpPr/>
          <p:nvPr/>
        </p:nvSpPr>
        <p:spPr>
          <a:xfrm>
            <a:off x="804672" y="3127248"/>
            <a:ext cx="530352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</a:rPr>
              <a:t>Identifica usuarios internos y externos: locador, revisor, responsable, Mesa de Partes y unidades administrativas.</a:t>
            </a:r>
            <a:endParaRPr lang="en-US" sz="1100" dirty="0"/>
          </a:p>
          <a:p>
            <a:r>
              <a:rPr lang="en-US" sz="1100" dirty="0">
                <a:solidFill>
                  <a:srgbClr val="111827"/>
                </a:solidFill>
              </a:rPr>
              <a:t>Favorece entrevistas y observación directa, coherentes con el levantamiento AS-IS del sílabo.</a:t>
            </a:r>
            <a:endParaRPr lang="en-US" sz="1100" dirty="0"/>
          </a:p>
          <a:p>
            <a:r>
              <a:rPr lang="en-US" sz="1100" dirty="0">
                <a:solidFill>
                  <a:srgbClr val="111827"/>
                </a:solidFill>
              </a:rPr>
              <a:t>Permite documentar reglas de decisión: observado, aprobado, registrado, derivado o cerrado.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629400" y="2697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Limitación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6629400" y="3127248"/>
            <a:ext cx="4297680" cy="1024128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r>
              <a:t>La dificultad sería conseguir disponibilidad de usuarios y acceso a información suficiente dentro de una entidad pública.</a:t>
            </a:r>
          </a:p>
        </p:txBody>
      </p:sp>
      <p:sp>
        <p:nvSpPr>
          <p:cNvPr id="29" name="Text 25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i="1" dirty="0">
                <a:solidFill>
                  <a:srgbClr val="6B7280"/>
                </a:solidFill>
              </a:rPr>
              <a:t>Referencia base: Kendall, K. E., &amp; Kendall, J. E. (1997). Systems Analysis and Design. Prentice Hall.</a:t>
            </a:r>
            <a:endParaRPr lang="en-US" sz="5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3) Whitten, Bentley y Dittman (2004): FAST</a:t>
            </a:r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El enfoque FAST organiza el desarrollo por fases y ayuda a decidir si conviene comprar, adaptar o construir una solución.</a:t>
            </a:r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1" name="Text 7"/>
          <p:cNvSpPr/>
          <p:nvPr/>
        </p:nvSpPr>
        <p:spPr>
          <a:xfrm>
            <a:off x="731520" y="1417320"/>
            <a:ext cx="2377440" cy="310896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31520" y="1764792"/>
            <a:ext cx="2377440" cy="530352"/>
          </a:xfrm>
          <a:prstGeom prst="rect">
            <a:avLst/>
          </a:prstGeom>
          <a:solidFill>
            <a:srgbClr val="EAF3FF"/>
          </a:solidFill>
          <a:ln w="12700">
            <a:solidFill>
              <a:srgbClr val="BDD7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proceso se estudiará?</a:t>
            </a:r>
            <a:endParaRPr lang="en-US" sz="920" dirty="0"/>
          </a:p>
        </p:txBody>
      </p:sp>
      <p:sp>
        <p:nvSpPr>
          <p:cNvPr id="13" name="Text 9"/>
          <p:cNvSpPr/>
          <p:nvPr/>
        </p:nvSpPr>
        <p:spPr>
          <a:xfrm>
            <a:off x="731520" y="2743200"/>
            <a:ext cx="2377440" cy="310896"/>
          </a:xfrm>
          <a:prstGeom prst="rect">
            <a:avLst/>
          </a:prstGeom>
          <a:solidFill>
            <a:srgbClr val="0A7A8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31520" y="3090672"/>
            <a:ext cx="2377440" cy="530352"/>
          </a:xfrm>
          <a:prstGeom prst="rect">
            <a:avLst/>
          </a:prstGeom>
          <a:solidFill>
            <a:srgbClr val="EDF8F5"/>
          </a:solidFill>
          <a:ln w="12700">
            <a:solidFill>
              <a:srgbClr val="A7D8D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¿Comprar, adaptar o construir?</a:t>
            </a:r>
            <a:endParaRPr lang="en-US" sz="920" dirty="0"/>
          </a:p>
        </p:txBody>
      </p:sp>
      <p:sp>
        <p:nvSpPr>
          <p:cNvPr id="15" name="Text 11"/>
          <p:cNvSpPr/>
          <p:nvPr/>
        </p:nvSpPr>
        <p:spPr>
          <a:xfrm>
            <a:off x="3520440" y="1417320"/>
            <a:ext cx="2377440" cy="310896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20440" y="1764792"/>
            <a:ext cx="2377440" cy="530352"/>
          </a:xfrm>
          <a:prstGeom prst="rect">
            <a:avLst/>
          </a:prstGeom>
          <a:solidFill>
            <a:srgbClr val="EAF3FF"/>
          </a:solidFill>
          <a:ln w="12700">
            <a:solidFill>
              <a:srgbClr val="BDD7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hay demoras o reprocesos?</a:t>
            </a:r>
            <a:endParaRPr lang="en-US" sz="920" dirty="0"/>
          </a:p>
        </p:txBody>
      </p:sp>
      <p:sp>
        <p:nvSpPr>
          <p:cNvPr id="17" name="Text 13"/>
          <p:cNvSpPr/>
          <p:nvPr/>
        </p:nvSpPr>
        <p:spPr>
          <a:xfrm>
            <a:off x="3520440" y="2743200"/>
            <a:ext cx="2377440" cy="310896"/>
          </a:xfrm>
          <a:prstGeom prst="rect">
            <a:avLst/>
          </a:prstGeom>
          <a:solidFill>
            <a:srgbClr val="0A7A8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físico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520440" y="3090672"/>
            <a:ext cx="2377440" cy="530352"/>
          </a:xfrm>
          <a:prstGeom prst="rect">
            <a:avLst/>
          </a:prstGeom>
          <a:solidFill>
            <a:srgbClr val="EDF8F5"/>
          </a:solidFill>
          <a:ln w="12700">
            <a:solidFill>
              <a:srgbClr val="A7D8D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se implementará?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6309360" y="1417320"/>
            <a:ext cx="2377440" cy="310896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309360" y="1764792"/>
            <a:ext cx="2377440" cy="530352"/>
          </a:xfrm>
          <a:prstGeom prst="rect">
            <a:avLst/>
          </a:prstGeom>
          <a:solidFill>
            <a:srgbClr val="EAF3FF"/>
          </a:solidFill>
          <a:ln w="12700">
            <a:solidFill>
              <a:srgbClr val="BDD7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información y reglas se necesitan?</a:t>
            </a:r>
            <a:endParaRPr lang="en-US" sz="920" dirty="0"/>
          </a:p>
        </p:txBody>
      </p:sp>
      <p:sp>
        <p:nvSpPr>
          <p:cNvPr id="21" name="Text 17"/>
          <p:cNvSpPr/>
          <p:nvPr/>
        </p:nvSpPr>
        <p:spPr>
          <a:xfrm>
            <a:off x="6309360" y="2743200"/>
            <a:ext cx="2377440" cy="310896"/>
          </a:xfrm>
          <a:prstGeom prst="rect">
            <a:avLst/>
          </a:prstGeom>
          <a:solidFill>
            <a:srgbClr val="0A7A8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Construcción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309360" y="3090672"/>
            <a:ext cx="2377440" cy="530352"/>
          </a:xfrm>
          <a:prstGeom prst="rect">
            <a:avLst/>
          </a:prstGeom>
          <a:solidFill>
            <a:srgbClr val="EDF8F5"/>
          </a:solidFill>
          <a:ln w="12700">
            <a:solidFill>
              <a:srgbClr val="A7D8D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se desarrolla/configura?</a:t>
            </a:r>
            <a:endParaRPr lang="en-US" sz="920" dirty="0"/>
          </a:p>
        </p:txBody>
      </p:sp>
      <p:sp>
        <p:nvSpPr>
          <p:cNvPr id="23" name="Text 19"/>
          <p:cNvSpPr/>
          <p:nvPr/>
        </p:nvSpPr>
        <p:spPr>
          <a:xfrm>
            <a:off x="9098280" y="1417320"/>
            <a:ext cx="2377440" cy="310896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lógico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9098280" y="1764792"/>
            <a:ext cx="2377440" cy="530352"/>
          </a:xfrm>
          <a:prstGeom prst="rect">
            <a:avLst/>
          </a:prstGeom>
          <a:solidFill>
            <a:srgbClr val="EAF3FF"/>
          </a:solidFill>
          <a:ln w="12700">
            <a:solidFill>
              <a:srgbClr val="BDD7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debe hacer el sistema?</a:t>
            </a:r>
            <a:endParaRPr lang="en-US" sz="920" dirty="0"/>
          </a:p>
        </p:txBody>
      </p:sp>
      <p:sp>
        <p:nvSpPr>
          <p:cNvPr id="25" name="Text 21"/>
          <p:cNvSpPr/>
          <p:nvPr/>
        </p:nvSpPr>
        <p:spPr>
          <a:xfrm>
            <a:off x="9098280" y="2743200"/>
            <a:ext cx="2377440" cy="310896"/>
          </a:xfrm>
          <a:prstGeom prst="rect">
            <a:avLst/>
          </a:prstGeom>
          <a:solidFill>
            <a:srgbClr val="0A7A8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9098280" y="3090672"/>
            <a:ext cx="2377440" cy="530352"/>
          </a:xfrm>
          <a:prstGeom prst="rect">
            <a:avLst/>
          </a:prstGeom>
          <a:solidFill>
            <a:srgbClr val="EDF8F5"/>
          </a:solidFill>
          <a:ln w="12700">
            <a:solidFill>
              <a:srgbClr val="A7D8D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se prueba e instala?</a:t>
            </a:r>
            <a:endParaRPr lang="en-US" sz="920" dirty="0"/>
          </a:p>
        </p:txBody>
      </p:sp>
      <p:sp>
        <p:nvSpPr>
          <p:cNvPr id="27" name="Text 23"/>
          <p:cNvSpPr/>
          <p:nvPr/>
        </p:nvSpPr>
        <p:spPr>
          <a:xfrm>
            <a:off x="822960" y="4069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Aporte principal</a:t>
            </a:r>
          </a:p>
        </p:txBody>
      </p:sp>
      <p:sp>
        <p:nvSpPr>
          <p:cNvPr id="28" name="Text 24"/>
          <p:cNvSpPr/>
          <p:nvPr/>
        </p:nvSpPr>
        <p:spPr>
          <a:xfrm>
            <a:off x="822960" y="4434840"/>
            <a:ext cx="10424160" cy="621792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r>
              <a:t>Nos sirve porque no obliga a programar desde cero: antes compara alternativas como ERP, gestión documental o BPM/workflow, según requerimientos reales.</a:t>
            </a:r>
          </a:p>
        </p:txBody>
      </p:sp>
      <p:sp>
        <p:nvSpPr>
          <p:cNvPr id="29" name="Text 25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Referencia base: Whitten, J. L., Bentley, L. D., &amp; Dittman, K. C. (2004). Systems Analysis and Design Methods (6.ª ed.). McGraw-Hill.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4) George / Batra / Valacich / Hoffer (2004): SDLC</a:t>
            </a:r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El material del laboratorio usa esta denominación; se trabaja como un enfoque SDLC moderno, verificando la referencia bibliográfica en las fuentes.</a:t>
            </a:r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1" name="Text 7"/>
          <p:cNvSpPr/>
          <p:nvPr/>
        </p:nvSpPr>
        <p:spPr>
          <a:xfrm>
            <a:off x="5577840" y="1234440"/>
            <a:ext cx="2057400" cy="658368"/>
          </a:xfrm>
          <a:prstGeom prst="rect">
            <a:avLst/>
          </a:prstGeom>
          <a:solidFill>
            <a:srgbClr val="EDF8F5"/>
          </a:solidFill>
          <a:ln w="12700">
            <a:solidFill>
              <a:srgbClr val="12957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alcance, viabilidad, riesgos</a:t>
            </a:r>
            <a:endParaRPr lang="en-US" sz="940" dirty="0"/>
          </a:p>
        </p:txBody>
      </p:sp>
      <p:sp>
        <p:nvSpPr>
          <p:cNvPr id="12" name="Text 8"/>
          <p:cNvSpPr/>
          <p:nvPr/>
        </p:nvSpPr>
        <p:spPr>
          <a:xfrm>
            <a:off x="8732520" y="2240280"/>
            <a:ext cx="2057400" cy="658368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procesos, datos, requerimientos</a:t>
            </a:r>
            <a:endParaRPr lang="en-US" sz="940" dirty="0"/>
          </a:p>
        </p:txBody>
      </p:sp>
      <p:sp>
        <p:nvSpPr>
          <p:cNvPr id="13" name="Text 9"/>
          <p:cNvSpPr/>
          <p:nvPr/>
        </p:nvSpPr>
        <p:spPr>
          <a:xfrm>
            <a:off x="7589520" y="3977640"/>
            <a:ext cx="2057400" cy="658368"/>
          </a:xfrm>
          <a:prstGeom prst="rect">
            <a:avLst/>
          </a:prstGeom>
          <a:solidFill>
            <a:srgbClr val="EDF8F5"/>
          </a:solidFill>
          <a:ln w="12700">
            <a:solidFill>
              <a:srgbClr val="12957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arquitectura, interfaz, base de datos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4800600" y="3977640"/>
            <a:ext cx="2057400" cy="658368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construcción, pruebas, capacitación</a:t>
            </a:r>
            <a:endParaRPr lang="en-US" sz="940" dirty="0"/>
          </a:p>
        </p:txBody>
      </p:sp>
      <p:sp>
        <p:nvSpPr>
          <p:cNvPr id="15" name="Text 11"/>
          <p:cNvSpPr/>
          <p:nvPr/>
        </p:nvSpPr>
        <p:spPr>
          <a:xfrm>
            <a:off x="3657600" y="2240280"/>
            <a:ext cx="2057400" cy="658368"/>
          </a:xfrm>
          <a:prstGeom prst="rect">
            <a:avLst/>
          </a:prstGeom>
          <a:solidFill>
            <a:srgbClr val="EDF8F5"/>
          </a:solidFill>
          <a:ln w="12700">
            <a:solidFill>
              <a:srgbClr val="12957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soporte, cambios, mejora</a:t>
            </a:r>
            <a:endParaRPr lang="en-US" sz="940" dirty="0"/>
          </a:p>
        </p:txBody>
      </p:sp>
      <p:sp>
        <p:nvSpPr>
          <p:cNvPr id="16" name="Text 12"/>
          <p:cNvSpPr/>
          <p:nvPr/>
        </p:nvSpPr>
        <p:spPr>
          <a:xfrm>
            <a:off x="685800" y="1554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Aporte principal</a:t>
            </a:r>
          </a:p>
        </p:txBody>
      </p:sp>
      <p:sp>
        <p:nvSpPr>
          <p:cNvPr id="17" name="Text 13"/>
          <p:cNvSpPr/>
          <p:nvPr/>
        </p:nvSpPr>
        <p:spPr>
          <a:xfrm>
            <a:off x="777240" y="1965960"/>
            <a:ext cx="26517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20" dirty="0">
                <a:solidFill>
                  <a:srgbClr val="111827"/>
                </a:solidFill>
              </a:rPr>
              <a:t>Útil si el producto final requiere base de datos normalizada.</a:t>
            </a:r>
            <a:endParaRPr lang="en-US" sz="1020" dirty="0"/>
          </a:p>
          <a:p>
            <a:r>
              <a:rPr lang="en-US" sz="1020" dirty="0">
                <a:solidFill>
                  <a:srgbClr val="111827"/>
                </a:solidFill>
              </a:rPr>
              <a:t>Ordena el paso de entidades del Lab 2 hacia tablas y controles.</a:t>
            </a:r>
            <a:endParaRPr lang="en-US" sz="1020" dirty="0"/>
          </a:p>
          <a:p>
            <a:r>
              <a:rPr lang="en-US" sz="1020" dirty="0">
                <a:solidFill>
                  <a:srgbClr val="111827"/>
                </a:solidFill>
              </a:rPr>
              <a:t>Permite planificar mantenimiento y auditoría del expediente.</a:t>
            </a:r>
            <a:endParaRPr lang="en-US" sz="1020" dirty="0"/>
          </a:p>
        </p:txBody>
      </p:sp>
      <p:sp>
        <p:nvSpPr>
          <p:cNvPr id="18" name="Text 14"/>
          <p:cNvSpPr/>
          <p:nvPr/>
        </p:nvSpPr>
        <p:spPr>
          <a:xfrm>
            <a:off x="777240" y="3657600"/>
            <a:ext cx="2743200" cy="868680"/>
          </a:xfrm>
          <a:prstGeom prst="rect">
            <a:avLst/>
          </a:prstGeom>
          <a:solidFill>
            <a:srgbClr val="FFF7E6"/>
          </a:solidFill>
          <a:ln w="12700">
            <a:solidFill>
              <a:srgbClr val="F6C56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r>
              <a:t>Precaución: para este laboratorio no implementamos software; usamos el SDLC para comparar y ordenar ideas.</a:t>
            </a:r>
          </a:p>
        </p:txBody>
      </p:sp>
      <p:sp>
        <p:nvSpPr>
          <p:cNvPr id="19" name="Text 15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Referencia base: se conserva la denominación de la consigna; se cita la edición verificada en la diapositiva de referencias.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Matriz comparativa de metodologías</a:t>
            </a:r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La comparación muestra qué enfatiza cada autor y qué limitación puede aparecer al aplicar la metodología.</a:t>
            </a:r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1" name="Text 7"/>
          <p:cNvSpPr/>
          <p:nvPr/>
        </p:nvSpPr>
        <p:spPr>
          <a:xfrm>
            <a:off x="502920" y="1325880"/>
            <a:ext cx="1005840" cy="320040"/>
          </a:xfrm>
          <a:prstGeom prst="rect">
            <a:avLst/>
          </a:prstGeom>
          <a:solidFill>
            <a:srgbClr val="0B1F4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</a:t>
            </a:r>
            <a:endParaRPr lang="en-US" sz="920" dirty="0"/>
          </a:p>
        </p:txBody>
      </p:sp>
      <p:sp>
        <p:nvSpPr>
          <p:cNvPr id="12" name="Text 8"/>
          <p:cNvSpPr/>
          <p:nvPr/>
        </p:nvSpPr>
        <p:spPr>
          <a:xfrm>
            <a:off x="1645920" y="1325880"/>
            <a:ext cx="1508760" cy="320040"/>
          </a:xfrm>
          <a:prstGeom prst="rect">
            <a:avLst/>
          </a:prstGeom>
          <a:solidFill>
            <a:srgbClr val="0B1F4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Enfoque</a:t>
            </a:r>
            <a:endParaRPr lang="en-US" sz="920" dirty="0"/>
          </a:p>
        </p:txBody>
      </p:sp>
      <p:sp>
        <p:nvSpPr>
          <p:cNvPr id="13" name="Text 9"/>
          <p:cNvSpPr/>
          <p:nvPr/>
        </p:nvSpPr>
        <p:spPr>
          <a:xfrm>
            <a:off x="3383280" y="1325880"/>
            <a:ext cx="1828800" cy="320040"/>
          </a:xfrm>
          <a:prstGeom prst="rect">
            <a:avLst/>
          </a:prstGeom>
          <a:solidFill>
            <a:srgbClr val="0B1F4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Centro</a:t>
            </a:r>
            <a:endParaRPr lang="en-US" sz="920" dirty="0"/>
          </a:p>
        </p:txBody>
      </p:sp>
      <p:sp>
        <p:nvSpPr>
          <p:cNvPr id="14" name="Text 10"/>
          <p:cNvSpPr/>
          <p:nvPr/>
        </p:nvSpPr>
        <p:spPr>
          <a:xfrm>
            <a:off x="5486400" y="1325880"/>
            <a:ext cx="1645920" cy="320040"/>
          </a:xfrm>
          <a:prstGeom prst="rect">
            <a:avLst/>
          </a:prstGeom>
          <a:solidFill>
            <a:srgbClr val="0B1F4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Fortaleza</a:t>
            </a:r>
            <a:endParaRPr lang="en-US" sz="920" dirty="0"/>
          </a:p>
        </p:txBody>
      </p:sp>
      <p:sp>
        <p:nvSpPr>
          <p:cNvPr id="15" name="Text 11"/>
          <p:cNvSpPr/>
          <p:nvPr/>
        </p:nvSpPr>
        <p:spPr>
          <a:xfrm>
            <a:off x="7360920" y="1325880"/>
            <a:ext cx="1828800" cy="320040"/>
          </a:xfrm>
          <a:prstGeom prst="rect">
            <a:avLst/>
          </a:prstGeom>
          <a:solidFill>
            <a:srgbClr val="0B1F4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920" dirty="0"/>
          </a:p>
        </p:txBody>
      </p:sp>
      <p:sp>
        <p:nvSpPr>
          <p:cNvPr id="16" name="Text 12"/>
          <p:cNvSpPr/>
          <p:nvPr/>
        </p:nvSpPr>
        <p:spPr>
          <a:xfrm>
            <a:off x="502920" y="1700784"/>
            <a:ext cx="100584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Senn</a:t>
            </a:r>
            <a:endParaRPr lang="en-US" sz="810" dirty="0"/>
          </a:p>
        </p:txBody>
      </p:sp>
      <p:sp>
        <p:nvSpPr>
          <p:cNvPr id="17" name="Text 13"/>
          <p:cNvSpPr/>
          <p:nvPr/>
        </p:nvSpPr>
        <p:spPr>
          <a:xfrm>
            <a:off x="1645920" y="1700784"/>
            <a:ext cx="150876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 clásico</a:t>
            </a:r>
            <a:endParaRPr lang="en-US" sz="810" dirty="0"/>
          </a:p>
        </p:txBody>
      </p:sp>
      <p:sp>
        <p:nvSpPr>
          <p:cNvPr id="18" name="Text 14"/>
          <p:cNvSpPr/>
          <p:nvPr/>
        </p:nvSpPr>
        <p:spPr>
          <a:xfrm>
            <a:off x="3383280" y="1700784"/>
            <a:ext cx="182880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Factibilidad y requerimientos</a:t>
            </a:r>
            <a:endParaRPr lang="en-US" sz="810" dirty="0"/>
          </a:p>
        </p:txBody>
      </p:sp>
      <p:sp>
        <p:nvSpPr>
          <p:cNvPr id="19" name="Text 15"/>
          <p:cNvSpPr/>
          <p:nvPr/>
        </p:nvSpPr>
        <p:spPr>
          <a:xfrm>
            <a:off x="5486400" y="1700784"/>
            <a:ext cx="164592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 y control</a:t>
            </a:r>
            <a:endParaRPr lang="en-US" sz="810" dirty="0"/>
          </a:p>
        </p:txBody>
      </p:sp>
      <p:sp>
        <p:nvSpPr>
          <p:cNvPr id="20" name="Text 16"/>
          <p:cNvSpPr/>
          <p:nvPr/>
        </p:nvSpPr>
        <p:spPr>
          <a:xfrm>
            <a:off x="7360920" y="1700784"/>
            <a:ext cx="182880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flexibilidad si se aplica rígido</a:t>
            </a:r>
            <a:endParaRPr lang="en-US" sz="810" dirty="0"/>
          </a:p>
        </p:txBody>
      </p:sp>
      <p:sp>
        <p:nvSpPr>
          <p:cNvPr id="21" name="Text 17"/>
          <p:cNvSpPr/>
          <p:nvPr/>
        </p:nvSpPr>
        <p:spPr>
          <a:xfrm>
            <a:off x="502920" y="2359152"/>
            <a:ext cx="100584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Kendall</a:t>
            </a:r>
            <a:endParaRPr lang="en-US" sz="810" dirty="0"/>
          </a:p>
        </p:txBody>
      </p:sp>
      <p:sp>
        <p:nvSpPr>
          <p:cNvPr id="22" name="Text 18"/>
          <p:cNvSpPr/>
          <p:nvPr/>
        </p:nvSpPr>
        <p:spPr>
          <a:xfrm>
            <a:off x="1645920" y="2359152"/>
            <a:ext cx="150876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Usuarios y análisis</a:t>
            </a:r>
            <a:endParaRPr lang="en-US" sz="810" dirty="0"/>
          </a:p>
        </p:txBody>
      </p:sp>
      <p:sp>
        <p:nvSpPr>
          <p:cNvPr id="23" name="Text 19"/>
          <p:cNvSpPr/>
          <p:nvPr/>
        </p:nvSpPr>
        <p:spPr>
          <a:xfrm>
            <a:off x="3383280" y="2359152"/>
            <a:ext cx="182880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Necesidades de información</a:t>
            </a:r>
            <a:endParaRPr lang="en-US" sz="810" dirty="0"/>
          </a:p>
        </p:txBody>
      </p:sp>
      <p:sp>
        <p:nvSpPr>
          <p:cNvPr id="24" name="Text 20"/>
          <p:cNvSpPr/>
          <p:nvPr/>
        </p:nvSpPr>
        <p:spPr>
          <a:xfrm>
            <a:off x="5486400" y="2359152"/>
            <a:ext cx="164592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Interacción con usuarios</a:t>
            </a:r>
            <a:endParaRPr lang="en-US" sz="810" dirty="0"/>
          </a:p>
        </p:txBody>
      </p:sp>
      <p:sp>
        <p:nvSpPr>
          <p:cNvPr id="25" name="Text 21"/>
          <p:cNvSpPr/>
          <p:nvPr/>
        </p:nvSpPr>
        <p:spPr>
          <a:xfrm>
            <a:off x="7360920" y="2359152"/>
            <a:ext cx="182880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disponibilidad de actores</a:t>
            </a:r>
            <a:endParaRPr lang="en-US" sz="810" dirty="0"/>
          </a:p>
        </p:txBody>
      </p:sp>
      <p:sp>
        <p:nvSpPr>
          <p:cNvPr id="26" name="Text 22"/>
          <p:cNvSpPr/>
          <p:nvPr/>
        </p:nvSpPr>
        <p:spPr>
          <a:xfrm>
            <a:off x="502920" y="3017520"/>
            <a:ext cx="100584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Whitten</a:t>
            </a:r>
            <a:endParaRPr lang="en-US" sz="810" dirty="0"/>
          </a:p>
        </p:txBody>
      </p:sp>
      <p:sp>
        <p:nvSpPr>
          <p:cNvPr id="27" name="Text 23"/>
          <p:cNvSpPr/>
          <p:nvPr/>
        </p:nvSpPr>
        <p:spPr>
          <a:xfrm>
            <a:off x="1645920" y="3017520"/>
            <a:ext cx="150876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/ decisión técnica</a:t>
            </a:r>
            <a:endParaRPr lang="en-US" sz="810" dirty="0"/>
          </a:p>
        </p:txBody>
      </p:sp>
      <p:sp>
        <p:nvSpPr>
          <p:cNvPr id="28" name="Text 24"/>
          <p:cNvSpPr/>
          <p:nvPr/>
        </p:nvSpPr>
        <p:spPr>
          <a:xfrm>
            <a:off x="3383280" y="3017520"/>
            <a:ext cx="182880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→ requerimientos → solución</a:t>
            </a:r>
            <a:endParaRPr lang="en-US" sz="810" dirty="0"/>
          </a:p>
        </p:txBody>
      </p:sp>
      <p:sp>
        <p:nvSpPr>
          <p:cNvPr id="29" name="Text 25"/>
          <p:cNvSpPr/>
          <p:nvPr/>
        </p:nvSpPr>
        <p:spPr>
          <a:xfrm>
            <a:off x="5486400" y="3017520"/>
            <a:ext cx="164592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Distingue comprar/adaptar/construir</a:t>
            </a:r>
            <a:endParaRPr lang="en-US" sz="810" dirty="0"/>
          </a:p>
        </p:txBody>
      </p:sp>
      <p:sp>
        <p:nvSpPr>
          <p:cNvPr id="30" name="Text 26"/>
          <p:cNvSpPr/>
          <p:nvPr/>
        </p:nvSpPr>
        <p:spPr>
          <a:xfrm>
            <a:off x="7360920" y="3017520"/>
            <a:ext cx="182880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 mayor madurez de análisis</a:t>
            </a:r>
            <a:endParaRPr lang="en-US" sz="810" dirty="0"/>
          </a:p>
        </p:txBody>
      </p:sp>
      <p:sp>
        <p:nvSpPr>
          <p:cNvPr id="31" name="Text 27"/>
          <p:cNvSpPr/>
          <p:nvPr/>
        </p:nvSpPr>
        <p:spPr>
          <a:xfrm>
            <a:off x="502920" y="3675888"/>
            <a:ext cx="100584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George et al.</a:t>
            </a:r>
            <a:endParaRPr lang="en-US" sz="810" dirty="0"/>
          </a:p>
        </p:txBody>
      </p:sp>
      <p:sp>
        <p:nvSpPr>
          <p:cNvPr id="32" name="Text 28"/>
          <p:cNvSpPr/>
          <p:nvPr/>
        </p:nvSpPr>
        <p:spPr>
          <a:xfrm>
            <a:off x="1645920" y="3675888"/>
            <a:ext cx="150876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SDLC moderno</a:t>
            </a:r>
            <a:endParaRPr lang="en-US" sz="810" dirty="0"/>
          </a:p>
        </p:txBody>
      </p:sp>
      <p:sp>
        <p:nvSpPr>
          <p:cNvPr id="33" name="Text 29"/>
          <p:cNvSpPr/>
          <p:nvPr/>
        </p:nvSpPr>
        <p:spPr>
          <a:xfrm>
            <a:off x="3383280" y="3675888"/>
            <a:ext cx="182880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Plan-análisis-diseño-implantación</a:t>
            </a:r>
            <a:endParaRPr lang="en-US" sz="810" dirty="0"/>
          </a:p>
        </p:txBody>
      </p:sp>
      <p:sp>
        <p:nvSpPr>
          <p:cNvPr id="34" name="Text 30"/>
          <p:cNvSpPr/>
          <p:nvPr/>
        </p:nvSpPr>
        <p:spPr>
          <a:xfrm>
            <a:off x="5486400" y="3675888"/>
            <a:ext cx="164592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 procesos y bases de datos</a:t>
            </a:r>
            <a:endParaRPr lang="en-US" sz="810" dirty="0"/>
          </a:p>
        </p:txBody>
      </p:sp>
      <p:sp>
        <p:nvSpPr>
          <p:cNvPr id="35" name="Text 31"/>
          <p:cNvSpPr/>
          <p:nvPr/>
        </p:nvSpPr>
        <p:spPr>
          <a:xfrm>
            <a:off x="7360920" y="3675888"/>
            <a:ext cx="182880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ser amplio para un piloto</a:t>
            </a:r>
            <a:endParaRPr lang="en-US" sz="810" dirty="0"/>
          </a:p>
        </p:txBody>
      </p:sp>
      <p:sp>
        <p:nvSpPr>
          <p:cNvPr id="36" name="Text 32"/>
          <p:cNvSpPr/>
          <p:nvPr/>
        </p:nvSpPr>
        <p:spPr>
          <a:xfrm>
            <a:off x="685800" y="4617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Lectura del grupo</a:t>
            </a:r>
          </a:p>
        </p:txBody>
      </p:sp>
      <p:sp>
        <p:nvSpPr>
          <p:cNvPr id="37" name="Text 33"/>
          <p:cNvSpPr/>
          <p:nvPr/>
        </p:nvSpPr>
        <p:spPr>
          <a:xfrm>
            <a:off x="685800" y="4983480"/>
            <a:ext cx="10698480" cy="621792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r>
              <a:t>Antes de elegir una herramienta, necesitamos comprender el proceso, sus documentos, responsables, estados y reglas de revisión.</a:t>
            </a:r>
          </a:p>
        </p:txBody>
      </p:sp>
      <p:sp>
        <p:nvSpPr>
          <p:cNvPr id="38" name="Text 34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Fuente: síntesis del Grupo 9 a partir de las metodologías solicitadas en el Laboratorio 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Ventajas e inconvenientes</a:t>
            </a:r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Para nuestro caso, la utilidad de cada enfoque depende del acceso a usuarios, documentación y reglas del proceso.</a:t>
            </a:r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1" name="Text 7"/>
          <p:cNvSpPr/>
          <p:nvPr/>
        </p:nvSpPr>
        <p:spPr>
          <a:xfrm>
            <a:off x="685800" y="1417320"/>
            <a:ext cx="2514600" cy="329184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85800" y="1810512"/>
            <a:ext cx="2514600" cy="960120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Ventaja: claridad secuencial y control de requerimientos.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Inconveniente: puede retrasar cambios si el proceso real aún no está totalmente definido.</a:t>
            </a:r>
            <a:endParaRPr lang="en-US" sz="940" dirty="0"/>
          </a:p>
        </p:txBody>
      </p:sp>
      <p:sp>
        <p:nvSpPr>
          <p:cNvPr id="13" name="Text 9"/>
          <p:cNvSpPr/>
          <p:nvPr/>
        </p:nvSpPr>
        <p:spPr>
          <a:xfrm>
            <a:off x="3474720" y="1417320"/>
            <a:ext cx="2514600" cy="329184"/>
          </a:xfrm>
          <a:prstGeom prst="rect">
            <a:avLst/>
          </a:prstGeom>
          <a:solidFill>
            <a:srgbClr val="6554C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Kendall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74720" y="1810512"/>
            <a:ext cx="2514600" cy="960120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Ventaja: alto valor para levantar necesidades con usuarios.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Inconveniente: depende de entrevistas y disponibilidad de responsables internos.</a:t>
            </a:r>
            <a:endParaRPr lang="en-US" sz="940" dirty="0"/>
          </a:p>
        </p:txBody>
      </p:sp>
      <p:sp>
        <p:nvSpPr>
          <p:cNvPr id="15" name="Text 11"/>
          <p:cNvSpPr/>
          <p:nvPr/>
        </p:nvSpPr>
        <p:spPr>
          <a:xfrm>
            <a:off x="685800" y="3246120"/>
            <a:ext cx="2514600" cy="329184"/>
          </a:xfrm>
          <a:prstGeom prst="rect">
            <a:avLst/>
          </a:prstGeom>
          <a:solidFill>
            <a:srgbClr val="0A7A8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Whitten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85800" y="3639312"/>
            <a:ext cx="2514600" cy="960120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Ventaja: integra decisión técnica y evita construir sin evaluar alternativas.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Inconveniente: demanda más análisis comparativo de solución.</a:t>
            </a:r>
            <a:endParaRPr lang="en-US" sz="940" dirty="0"/>
          </a:p>
        </p:txBody>
      </p:sp>
      <p:sp>
        <p:nvSpPr>
          <p:cNvPr id="17" name="Text 13"/>
          <p:cNvSpPr/>
          <p:nvPr/>
        </p:nvSpPr>
        <p:spPr>
          <a:xfrm>
            <a:off x="3474720" y="3246120"/>
            <a:ext cx="2514600" cy="329184"/>
          </a:xfrm>
          <a:prstGeom prst="rect">
            <a:avLst/>
          </a:prstGeom>
          <a:solidFill>
            <a:srgbClr val="129575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George et al.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474720" y="3639312"/>
            <a:ext cx="2514600" cy="960120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Ventaja: conecta proceso, datos, diseño e implementación.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Inconveniente: puede exceder el alcance de un laboratorio si se detalla demasiado.</a:t>
            </a:r>
            <a:endParaRPr lang="en-US" sz="940" dirty="0"/>
          </a:p>
        </p:txBody>
      </p:sp>
      <p:sp>
        <p:nvSpPr>
          <p:cNvPr id="19" name="Text 15"/>
          <p:cNvSpPr/>
          <p:nvPr/>
        </p:nvSpPr>
        <p:spPr>
          <a:xfrm>
            <a:off x="6263640" y="32461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Aplicación al caso estudiado</a:t>
            </a:r>
          </a:p>
        </p:txBody>
      </p:sp>
      <p:sp>
        <p:nvSpPr>
          <p:cNvPr id="20" name="Text 16"/>
          <p:cNvSpPr/>
          <p:nvPr/>
        </p:nvSpPr>
        <p:spPr>
          <a:xfrm>
            <a:off x="6263640" y="3703320"/>
            <a:ext cx="5120640" cy="877824"/>
          </a:xfrm>
          <a:prstGeom prst="rect">
            <a:avLst/>
          </a:prstGeom>
          <a:solidFill>
            <a:srgbClr val="EDF8F5"/>
          </a:solidFill>
          <a:ln w="12700">
            <a:solidFill>
              <a:srgbClr val="8ED4C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r>
              <a:t>Vemos más útil combinar levantamiento de usuarios con una decisión técnica: primero entender el proceso y después comparar si conviene un ERP, un gestor documental, un BPM o una solución específica.</a:t>
            </a:r>
          </a:p>
        </p:txBody>
      </p:sp>
      <p:sp>
        <p:nvSpPr>
          <p:cNvPr id="21" name="Text 17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Fuente: comparación del Grupo 9 a partir de las metodologías solicitadas y el proceso revisado en los Laboratorios 1 y 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Aplicación al proceso de entregables del IGP</a:t>
            </a:r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Aplicación ilustrativa basada en la experiencia de un integrante; no representa el procedimiento institucional completo.</a:t>
            </a:r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1" name="Text 7"/>
          <p:cNvSpPr/>
          <p:nvPr/>
        </p:nvSpPr>
        <p:spPr>
          <a:xfrm>
            <a:off x="685800" y="1325880"/>
            <a:ext cx="1828800" cy="310896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Alcance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2743200" y="1325880"/>
            <a:ext cx="8138160" cy="310896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Proceso: entregable → revisión → conformidad → expediente → seguimiento.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85800" y="1947672"/>
            <a:ext cx="1828800" cy="310896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Requerimientos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743200" y="1947672"/>
            <a:ext cx="8138160" cy="310896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Estados, actores, documentos, plazos, observaciones, conformidad y anexos.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85800" y="2569464"/>
            <a:ext cx="1828800" cy="310896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Alternativas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2743200" y="2569464"/>
            <a:ext cx="8138160" cy="310896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ERP, DMS, BPM/Workflow, Mesa de Partes integrada o desarrollo específico.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85800" y="3191256"/>
            <a:ext cx="1828800" cy="310896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Diseño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743200" y="3191256"/>
            <a:ext cx="8138160" cy="310896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de datos, flujo AS-IS/TO-BE, perfiles, validaciones y reportes.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85800" y="3813048"/>
            <a:ext cx="1828800" cy="310896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Control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2743200" y="3813048"/>
            <a:ext cx="8138160" cy="310896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Indicadores: tiempo de ciclo, observaciones, pendientes, expedientes vencidos.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68680" y="4754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Alcance</a:t>
            </a:r>
          </a:p>
        </p:txBody>
      </p:sp>
      <p:sp>
        <p:nvSpPr>
          <p:cNvPr id="22" name="Text 18"/>
          <p:cNvSpPr/>
          <p:nvPr/>
        </p:nvSpPr>
        <p:spPr>
          <a:xfrm>
            <a:off x="868680" y="5102352"/>
            <a:ext cx="10058400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F2A5A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r>
              <a:t>El análisis solo usa el flujo observado: informe, revisión, V.B., aprobación/firma del responsable en el caso estudiado, Mesa de Partes y seguimiento del expediente.</a:t>
            </a:r>
          </a:p>
        </p:txBody>
      </p:sp>
      <p:sp>
        <p:nvSpPr>
          <p:cNvPr id="23" name="Text 19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Fuente: experiencia directa del integrante y materiales del curso.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Paquetes de software revisados</a:t>
            </a:r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Revisamos alternativas libres, open-source o con edición comunitaria que pueden servir como referencia técnica para un sistema de información.</a:t>
            </a:r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1" name="Text 7"/>
          <p:cNvSpPr/>
          <p:nvPr/>
        </p:nvSpPr>
        <p:spPr>
          <a:xfrm>
            <a:off x="411480" y="1234440"/>
            <a:ext cx="1143000" cy="310896"/>
          </a:xfrm>
          <a:prstGeom prst="rect">
            <a:avLst/>
          </a:prstGeom>
          <a:solidFill>
            <a:srgbClr val="0B1F4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</a:t>
            </a:r>
            <a:endParaRPr lang="en-US" sz="880" dirty="0"/>
          </a:p>
        </p:txBody>
      </p:sp>
      <p:sp>
        <p:nvSpPr>
          <p:cNvPr id="12" name="Text 8"/>
          <p:cNvSpPr/>
          <p:nvPr/>
        </p:nvSpPr>
        <p:spPr>
          <a:xfrm>
            <a:off x="1691640" y="1234440"/>
            <a:ext cx="1417320" cy="310896"/>
          </a:xfrm>
          <a:prstGeom prst="rect">
            <a:avLst/>
          </a:prstGeom>
          <a:solidFill>
            <a:srgbClr val="0B1F4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</a:t>
            </a:r>
            <a:endParaRPr lang="en-US" sz="880" dirty="0"/>
          </a:p>
        </p:txBody>
      </p:sp>
      <p:sp>
        <p:nvSpPr>
          <p:cNvPr id="13" name="Text 9"/>
          <p:cNvSpPr/>
          <p:nvPr/>
        </p:nvSpPr>
        <p:spPr>
          <a:xfrm>
            <a:off x="3246120" y="1234440"/>
            <a:ext cx="3611880" cy="310896"/>
          </a:xfrm>
          <a:prstGeom prst="rect">
            <a:avLst/>
          </a:prstGeom>
          <a:solidFill>
            <a:srgbClr val="0B1F4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potencial</a:t>
            </a:r>
            <a:endParaRPr lang="en-US" sz="880" dirty="0"/>
          </a:p>
        </p:txBody>
      </p:sp>
      <p:sp>
        <p:nvSpPr>
          <p:cNvPr id="14" name="Text 10"/>
          <p:cNvSpPr/>
          <p:nvPr/>
        </p:nvSpPr>
        <p:spPr>
          <a:xfrm>
            <a:off x="7040880" y="1234440"/>
            <a:ext cx="2514600" cy="310896"/>
          </a:xfrm>
          <a:prstGeom prst="rect">
            <a:avLst/>
          </a:prstGeom>
          <a:solidFill>
            <a:srgbClr val="0B1F4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Bondad principal</a:t>
            </a:r>
            <a:endParaRPr lang="en-US" sz="880" dirty="0"/>
          </a:p>
        </p:txBody>
      </p:sp>
      <p:sp>
        <p:nvSpPr>
          <p:cNvPr id="15" name="Text 11"/>
          <p:cNvSpPr/>
          <p:nvPr/>
        </p:nvSpPr>
        <p:spPr>
          <a:xfrm>
            <a:off x="411480" y="1600200"/>
            <a:ext cx="114300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Odoo</a:t>
            </a:r>
            <a:endParaRPr lang="en-US" sz="735" dirty="0"/>
          </a:p>
        </p:txBody>
      </p:sp>
      <p:sp>
        <p:nvSpPr>
          <p:cNvPr id="16" name="Text 12"/>
          <p:cNvSpPr/>
          <p:nvPr/>
        </p:nvSpPr>
        <p:spPr>
          <a:xfrm>
            <a:off x="1691640" y="1600200"/>
            <a:ext cx="141732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modular</a:t>
            </a:r>
            <a:endParaRPr lang="en-US" sz="735" dirty="0"/>
          </a:p>
        </p:txBody>
      </p:sp>
      <p:sp>
        <p:nvSpPr>
          <p:cNvPr id="17" name="Text 13"/>
          <p:cNvSpPr/>
          <p:nvPr/>
        </p:nvSpPr>
        <p:spPr>
          <a:xfrm>
            <a:off x="3246120" y="1600200"/>
            <a:ext cx="361188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Proyectos, compras, documentos, aprobaciones, contabilidad</a:t>
            </a:r>
            <a:endParaRPr lang="en-US" sz="735" dirty="0"/>
          </a:p>
        </p:txBody>
      </p:sp>
      <p:sp>
        <p:nvSpPr>
          <p:cNvPr id="18" name="Text 14"/>
          <p:cNvSpPr/>
          <p:nvPr/>
        </p:nvSpPr>
        <p:spPr>
          <a:xfrm>
            <a:off x="7040880" y="1600200"/>
            <a:ext cx="251460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 de apps open source de negocio</a:t>
            </a:r>
            <a:endParaRPr lang="en-US" sz="735" dirty="0"/>
          </a:p>
        </p:txBody>
      </p:sp>
      <p:sp>
        <p:nvSpPr>
          <p:cNvPr id="19" name="Text 15"/>
          <p:cNvSpPr/>
          <p:nvPr/>
        </p:nvSpPr>
        <p:spPr>
          <a:xfrm>
            <a:off x="411480" y="2112264"/>
            <a:ext cx="114300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ERPNext</a:t>
            </a:r>
            <a:endParaRPr lang="en-US" sz="735" dirty="0"/>
          </a:p>
        </p:txBody>
      </p:sp>
      <p:sp>
        <p:nvSpPr>
          <p:cNvPr id="20" name="Text 16"/>
          <p:cNvSpPr/>
          <p:nvPr/>
        </p:nvSpPr>
        <p:spPr>
          <a:xfrm>
            <a:off x="1691640" y="2112264"/>
            <a:ext cx="141732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open-source</a:t>
            </a:r>
            <a:endParaRPr lang="en-US" sz="735" dirty="0"/>
          </a:p>
        </p:txBody>
      </p:sp>
      <p:sp>
        <p:nvSpPr>
          <p:cNvPr id="21" name="Text 17"/>
          <p:cNvSpPr/>
          <p:nvPr/>
        </p:nvSpPr>
        <p:spPr>
          <a:xfrm>
            <a:off x="3246120" y="2112264"/>
            <a:ext cx="361188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Proyectos, compras, RR. HH., contabilidad, educación</a:t>
            </a:r>
            <a:endParaRPr lang="en-US" sz="735" dirty="0"/>
          </a:p>
        </p:txBody>
      </p:sp>
      <p:sp>
        <p:nvSpPr>
          <p:cNvPr id="22" name="Text 18"/>
          <p:cNvSpPr/>
          <p:nvPr/>
        </p:nvSpPr>
        <p:spPr>
          <a:xfrm>
            <a:off x="7040880" y="2112264"/>
            <a:ext cx="251460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libre/open-source con módulos integrados</a:t>
            </a:r>
            <a:endParaRPr lang="en-US" sz="735" dirty="0"/>
          </a:p>
        </p:txBody>
      </p:sp>
      <p:sp>
        <p:nvSpPr>
          <p:cNvPr id="23" name="Text 19"/>
          <p:cNvSpPr/>
          <p:nvPr/>
        </p:nvSpPr>
        <p:spPr>
          <a:xfrm>
            <a:off x="411480" y="2624328"/>
            <a:ext cx="114300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OpenKM</a:t>
            </a:r>
            <a:endParaRPr lang="en-US" sz="735" dirty="0"/>
          </a:p>
        </p:txBody>
      </p:sp>
      <p:sp>
        <p:nvSpPr>
          <p:cNvPr id="24" name="Text 20"/>
          <p:cNvSpPr/>
          <p:nvPr/>
        </p:nvSpPr>
        <p:spPr>
          <a:xfrm>
            <a:off x="1691640" y="2624328"/>
            <a:ext cx="141732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documental</a:t>
            </a:r>
            <a:endParaRPr lang="en-US" sz="735" dirty="0"/>
          </a:p>
        </p:txBody>
      </p:sp>
      <p:sp>
        <p:nvSpPr>
          <p:cNvPr id="25" name="Text 21"/>
          <p:cNvSpPr/>
          <p:nvPr/>
        </p:nvSpPr>
        <p:spPr>
          <a:xfrm>
            <a:off x="3246120" y="2624328"/>
            <a:ext cx="361188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Documentos, seguridad, roles, búsqueda, trazabilidad</a:t>
            </a:r>
            <a:endParaRPr lang="en-US" sz="735" dirty="0"/>
          </a:p>
        </p:txBody>
      </p:sp>
      <p:sp>
        <p:nvSpPr>
          <p:cNvPr id="26" name="Text 22"/>
          <p:cNvSpPr/>
          <p:nvPr/>
        </p:nvSpPr>
        <p:spPr>
          <a:xfrm>
            <a:off x="7040880" y="2624328"/>
            <a:ext cx="251460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DMS con edición comunitaria</a:t>
            </a:r>
            <a:endParaRPr lang="en-US" sz="735" dirty="0"/>
          </a:p>
        </p:txBody>
      </p:sp>
      <p:sp>
        <p:nvSpPr>
          <p:cNvPr id="27" name="Text 23"/>
          <p:cNvSpPr/>
          <p:nvPr/>
        </p:nvSpPr>
        <p:spPr>
          <a:xfrm>
            <a:off x="411480" y="3136392"/>
            <a:ext cx="114300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ProcessMaker</a:t>
            </a:r>
            <a:endParaRPr lang="en-US" sz="735" dirty="0"/>
          </a:p>
        </p:txBody>
      </p:sp>
      <p:sp>
        <p:nvSpPr>
          <p:cNvPr id="28" name="Text 24"/>
          <p:cNvSpPr/>
          <p:nvPr/>
        </p:nvSpPr>
        <p:spPr>
          <a:xfrm>
            <a:off x="1691640" y="3136392"/>
            <a:ext cx="141732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Workflow/BPM</a:t>
            </a:r>
            <a:endParaRPr lang="en-US" sz="735" dirty="0"/>
          </a:p>
        </p:txBody>
      </p:sp>
      <p:sp>
        <p:nvSpPr>
          <p:cNvPr id="29" name="Text 25"/>
          <p:cNvSpPr/>
          <p:nvPr/>
        </p:nvSpPr>
        <p:spPr>
          <a:xfrm>
            <a:off x="3246120" y="3136392"/>
            <a:ext cx="361188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Formularios, reglas de ruta, roles, documentos</a:t>
            </a:r>
            <a:endParaRPr lang="en-US" sz="735" dirty="0"/>
          </a:p>
        </p:txBody>
      </p:sp>
      <p:sp>
        <p:nvSpPr>
          <p:cNvPr id="30" name="Text 26"/>
          <p:cNvSpPr/>
          <p:nvPr/>
        </p:nvSpPr>
        <p:spPr>
          <a:xfrm>
            <a:off x="7040880" y="3136392"/>
            <a:ext cx="251460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Automatización de flujos</a:t>
            </a:r>
            <a:endParaRPr lang="en-US" sz="735" dirty="0"/>
          </a:p>
        </p:txBody>
      </p:sp>
      <p:sp>
        <p:nvSpPr>
          <p:cNvPr id="31" name="Text 27"/>
          <p:cNvSpPr/>
          <p:nvPr/>
        </p:nvSpPr>
        <p:spPr>
          <a:xfrm>
            <a:off x="411480" y="3648456"/>
            <a:ext cx="114300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Camunda</a:t>
            </a:r>
            <a:endParaRPr lang="en-US" sz="735" dirty="0"/>
          </a:p>
        </p:txBody>
      </p:sp>
      <p:sp>
        <p:nvSpPr>
          <p:cNvPr id="32" name="Text 28"/>
          <p:cNvSpPr/>
          <p:nvPr/>
        </p:nvSpPr>
        <p:spPr>
          <a:xfrm>
            <a:off x="1691640" y="3648456"/>
            <a:ext cx="141732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BPMN / orquestación</a:t>
            </a:r>
            <a:endParaRPr lang="en-US" sz="735" dirty="0"/>
          </a:p>
        </p:txBody>
      </p:sp>
      <p:sp>
        <p:nvSpPr>
          <p:cNvPr id="33" name="Text 29"/>
          <p:cNvSpPr/>
          <p:nvPr/>
        </p:nvSpPr>
        <p:spPr>
          <a:xfrm>
            <a:off x="3246120" y="3648456"/>
            <a:ext cx="361188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Modelado y ejecución de procesos BPMN</a:t>
            </a:r>
            <a:endParaRPr lang="en-US" sz="735" dirty="0"/>
          </a:p>
        </p:txBody>
      </p:sp>
      <p:sp>
        <p:nvSpPr>
          <p:cNvPr id="34" name="Text 30"/>
          <p:cNvSpPr/>
          <p:nvPr/>
        </p:nvSpPr>
        <p:spPr>
          <a:xfrm>
            <a:off x="7040880" y="3648456"/>
            <a:ext cx="251460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 personas y sistemas</a:t>
            </a:r>
            <a:endParaRPr lang="en-US" sz="735" dirty="0"/>
          </a:p>
        </p:txBody>
      </p:sp>
      <p:sp>
        <p:nvSpPr>
          <p:cNvPr id="35" name="Text 31"/>
          <p:cNvSpPr/>
          <p:nvPr/>
        </p:nvSpPr>
        <p:spPr>
          <a:xfrm>
            <a:off x="411480" y="4160520"/>
            <a:ext cx="114300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Bonita</a:t>
            </a:r>
            <a:endParaRPr lang="en-US" sz="735" dirty="0"/>
          </a:p>
        </p:txBody>
      </p:sp>
      <p:sp>
        <p:nvSpPr>
          <p:cNvPr id="36" name="Text 32"/>
          <p:cNvSpPr/>
          <p:nvPr/>
        </p:nvSpPr>
        <p:spPr>
          <a:xfrm>
            <a:off x="1691640" y="4160520"/>
            <a:ext cx="141732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BPM / low-code</a:t>
            </a:r>
            <a:endParaRPr lang="en-US" sz="735" dirty="0"/>
          </a:p>
        </p:txBody>
      </p:sp>
      <p:sp>
        <p:nvSpPr>
          <p:cNvPr id="37" name="Text 33"/>
          <p:cNvSpPr/>
          <p:nvPr/>
        </p:nvSpPr>
        <p:spPr>
          <a:xfrm>
            <a:off x="3246120" y="4160520"/>
            <a:ext cx="361188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basadas en procesos y portales</a:t>
            </a:r>
            <a:endParaRPr lang="en-US" sz="735" dirty="0"/>
          </a:p>
        </p:txBody>
      </p:sp>
      <p:sp>
        <p:nvSpPr>
          <p:cNvPr id="38" name="Text 34"/>
          <p:cNvSpPr/>
          <p:nvPr/>
        </p:nvSpPr>
        <p:spPr>
          <a:xfrm>
            <a:off x="7040880" y="4160520"/>
            <a:ext cx="251460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Enfoque BPM con edición open-source</a:t>
            </a:r>
            <a:endParaRPr lang="en-US" sz="735" dirty="0"/>
          </a:p>
        </p:txBody>
      </p:sp>
      <p:sp>
        <p:nvSpPr>
          <p:cNvPr id="39" name="Text 35"/>
          <p:cNvSpPr/>
          <p:nvPr/>
        </p:nvSpPr>
        <p:spPr>
          <a:xfrm>
            <a:off x="640080" y="48920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Precisión</a:t>
            </a:r>
          </a:p>
        </p:txBody>
      </p:sp>
      <p:sp>
        <p:nvSpPr>
          <p:cNvPr id="40" name="Text 36"/>
          <p:cNvSpPr/>
          <p:nvPr/>
        </p:nvSpPr>
        <p:spPr>
          <a:xfrm>
            <a:off x="1234440" y="4864608"/>
            <a:ext cx="9875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Ninguna herramienta se presenta como usada por el IGP. Solo se evalúan como opciones técnicas para procesos, documentos y trazabilidad.</a:t>
            </a:r>
          </a:p>
        </p:txBody>
      </p:sp>
      <p:sp>
        <p:nvSpPr>
          <p:cNvPr id="41" name="Text 37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Fuentes: Odoo, Frappe/ERPNext, OpenKM, Flowable y Bonitasoft, páginas oficiales y documentación oficial.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Criterios para evaluar software</a:t>
            </a:r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Una herramienta sirve si responde al proceso, a los documentos y a la trazabilidad que se necesita.</a:t>
            </a:r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1" name="Text 7"/>
          <p:cNvSpPr/>
          <p:nvPr/>
        </p:nvSpPr>
        <p:spPr>
          <a:xfrm>
            <a:off x="731520" y="1353312"/>
            <a:ext cx="2286000" cy="292608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</a:t>
            </a:r>
            <a:endParaRPr lang="en-US" sz="1120" dirty="0"/>
          </a:p>
        </p:txBody>
      </p:sp>
      <p:sp>
        <p:nvSpPr>
          <p:cNvPr id="12" name="Text 8"/>
          <p:cNvSpPr/>
          <p:nvPr/>
        </p:nvSpPr>
        <p:spPr>
          <a:xfrm>
            <a:off x="731520" y="1673352"/>
            <a:ext cx="2286000" cy="38404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historial, estados, bitácora</a:t>
            </a:r>
            <a:endParaRPr lang="en-US" sz="860" dirty="0"/>
          </a:p>
        </p:txBody>
      </p:sp>
      <p:sp>
        <p:nvSpPr>
          <p:cNvPr id="13" name="Text 9"/>
          <p:cNvSpPr/>
          <p:nvPr/>
        </p:nvSpPr>
        <p:spPr>
          <a:xfrm>
            <a:off x="3474720" y="1353312"/>
            <a:ext cx="2286000" cy="292608"/>
          </a:xfrm>
          <a:prstGeom prst="rect">
            <a:avLst/>
          </a:prstGeom>
          <a:solidFill>
            <a:srgbClr val="0A7A8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documental</a:t>
            </a:r>
            <a:endParaRPr lang="en-US" sz="1120" dirty="0"/>
          </a:p>
        </p:txBody>
      </p:sp>
      <p:sp>
        <p:nvSpPr>
          <p:cNvPr id="14" name="Text 10"/>
          <p:cNvSpPr/>
          <p:nvPr/>
        </p:nvSpPr>
        <p:spPr>
          <a:xfrm>
            <a:off x="3474720" y="1673352"/>
            <a:ext cx="2286000" cy="38404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versiones, anexos, expediente</a:t>
            </a:r>
            <a:endParaRPr lang="en-US" sz="860" dirty="0"/>
          </a:p>
        </p:txBody>
      </p:sp>
      <p:sp>
        <p:nvSpPr>
          <p:cNvPr id="15" name="Text 11"/>
          <p:cNvSpPr/>
          <p:nvPr/>
        </p:nvSpPr>
        <p:spPr>
          <a:xfrm>
            <a:off x="6217920" y="1353312"/>
            <a:ext cx="2286000" cy="292608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6217920" y="1673352"/>
            <a:ext cx="2286000" cy="38404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observación, V.B., conformidad, derivación</a:t>
            </a:r>
            <a:endParaRPr lang="en-US" sz="860" dirty="0"/>
          </a:p>
        </p:txBody>
      </p:sp>
      <p:sp>
        <p:nvSpPr>
          <p:cNvPr id="17" name="Text 13"/>
          <p:cNvSpPr/>
          <p:nvPr/>
        </p:nvSpPr>
        <p:spPr>
          <a:xfrm>
            <a:off x="8961120" y="1353312"/>
            <a:ext cx="2286000" cy="292608"/>
          </a:xfrm>
          <a:prstGeom prst="rect">
            <a:avLst/>
          </a:prstGeom>
          <a:solidFill>
            <a:srgbClr val="0A7A8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1120" dirty="0"/>
          </a:p>
        </p:txBody>
      </p:sp>
      <p:sp>
        <p:nvSpPr>
          <p:cNvPr id="18" name="Text 14"/>
          <p:cNvSpPr/>
          <p:nvPr/>
        </p:nvSpPr>
        <p:spPr>
          <a:xfrm>
            <a:off x="8961120" y="1673352"/>
            <a:ext cx="2286000" cy="38404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roles, permisos, auditoría</a:t>
            </a:r>
            <a:endParaRPr lang="en-US" sz="860" dirty="0"/>
          </a:p>
        </p:txBody>
      </p:sp>
      <p:sp>
        <p:nvSpPr>
          <p:cNvPr id="19" name="Text 15"/>
          <p:cNvSpPr/>
          <p:nvPr/>
        </p:nvSpPr>
        <p:spPr>
          <a:xfrm>
            <a:off x="731520" y="2788920"/>
            <a:ext cx="2286000" cy="292608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Interoperabilidad</a:t>
            </a:r>
            <a:endParaRPr lang="en-US" sz="1120" dirty="0"/>
          </a:p>
        </p:txBody>
      </p:sp>
      <p:sp>
        <p:nvSpPr>
          <p:cNvPr id="20" name="Text 16"/>
          <p:cNvSpPr/>
          <p:nvPr/>
        </p:nvSpPr>
        <p:spPr>
          <a:xfrm>
            <a:off x="731520" y="3108960"/>
            <a:ext cx="2286000" cy="38404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API, formatos, integración</a:t>
            </a:r>
            <a:endParaRPr lang="en-US" sz="860" dirty="0"/>
          </a:p>
        </p:txBody>
      </p:sp>
      <p:sp>
        <p:nvSpPr>
          <p:cNvPr id="21" name="Text 17"/>
          <p:cNvSpPr/>
          <p:nvPr/>
        </p:nvSpPr>
        <p:spPr>
          <a:xfrm>
            <a:off x="3474720" y="2788920"/>
            <a:ext cx="2286000" cy="292608"/>
          </a:xfrm>
          <a:prstGeom prst="rect">
            <a:avLst/>
          </a:prstGeom>
          <a:solidFill>
            <a:srgbClr val="0A7A8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 total</a:t>
            </a:r>
            <a:endParaRPr lang="en-US" sz="1120" dirty="0"/>
          </a:p>
        </p:txBody>
      </p:sp>
      <p:sp>
        <p:nvSpPr>
          <p:cNvPr id="22" name="Text 18"/>
          <p:cNvSpPr/>
          <p:nvPr/>
        </p:nvSpPr>
        <p:spPr>
          <a:xfrm>
            <a:off x="3474720" y="3108960"/>
            <a:ext cx="2286000" cy="38404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licencia, soporte, capacitación</a:t>
            </a:r>
            <a:endParaRPr lang="en-US" sz="860" dirty="0"/>
          </a:p>
        </p:txBody>
      </p:sp>
      <p:sp>
        <p:nvSpPr>
          <p:cNvPr id="23" name="Text 19"/>
          <p:cNvSpPr/>
          <p:nvPr/>
        </p:nvSpPr>
        <p:spPr>
          <a:xfrm>
            <a:off x="6217920" y="2788920"/>
            <a:ext cx="2286000" cy="292608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Adaptabilidad</a:t>
            </a:r>
            <a:endParaRPr lang="en-US" sz="1120" dirty="0"/>
          </a:p>
        </p:txBody>
      </p:sp>
      <p:sp>
        <p:nvSpPr>
          <p:cNvPr id="24" name="Text 20"/>
          <p:cNvSpPr/>
          <p:nvPr/>
        </p:nvSpPr>
        <p:spPr>
          <a:xfrm>
            <a:off x="6217920" y="3108960"/>
            <a:ext cx="2286000" cy="38404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del sector público</a:t>
            </a:r>
            <a:endParaRPr lang="en-US" sz="860" dirty="0"/>
          </a:p>
        </p:txBody>
      </p:sp>
      <p:sp>
        <p:nvSpPr>
          <p:cNvPr id="25" name="Text 21"/>
          <p:cNvSpPr/>
          <p:nvPr/>
        </p:nvSpPr>
        <p:spPr>
          <a:xfrm>
            <a:off x="8961120" y="2788920"/>
            <a:ext cx="2286000" cy="292608"/>
          </a:xfrm>
          <a:prstGeom prst="rect">
            <a:avLst/>
          </a:prstGeom>
          <a:solidFill>
            <a:srgbClr val="0A7A8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Sostenibilidad</a:t>
            </a:r>
            <a:endParaRPr lang="en-US" sz="1120" dirty="0"/>
          </a:p>
        </p:txBody>
      </p:sp>
      <p:sp>
        <p:nvSpPr>
          <p:cNvPr id="26" name="Text 22"/>
          <p:cNvSpPr/>
          <p:nvPr/>
        </p:nvSpPr>
        <p:spPr>
          <a:xfrm>
            <a:off x="8961120" y="3108960"/>
            <a:ext cx="2286000" cy="38404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comunidad, mantenimiento</a:t>
            </a:r>
            <a:endParaRPr lang="en-US" sz="860" dirty="0"/>
          </a:p>
        </p:txBody>
      </p:sp>
      <p:sp>
        <p:nvSpPr>
          <p:cNvPr id="27" name="Text 23"/>
          <p:cNvSpPr/>
          <p:nvPr/>
        </p:nvSpPr>
        <p:spPr>
          <a:xfrm>
            <a:off x="822960" y="4572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Lectura del grupo</a:t>
            </a:r>
          </a:p>
        </p:txBody>
      </p:sp>
      <p:sp>
        <p:nvSpPr>
          <p:cNvPr id="28" name="Text 24"/>
          <p:cNvSpPr/>
          <p:nvPr/>
        </p:nvSpPr>
        <p:spPr>
          <a:xfrm>
            <a:off x="822960" y="4956048"/>
            <a:ext cx="10332720" cy="621792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r>
              <a:t>Para un flujo de entregables, Flowable o Bonita ayudan a modelar workflow; OpenKM ayuda al expediente documental; Odoo Community o ERPNext serían útiles si se busca integrar compras, proyectos y documentación.</a:t>
            </a:r>
          </a:p>
        </p:txBody>
      </p:sp>
      <p:sp>
        <p:nvSpPr>
          <p:cNvPr id="29" name="Text 25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Fuente: comparación del Grupo 9 con base en funcionalidades declaradas por los proveedores y el proceso estudiado.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Ejemplo de componentes de un SI para este proceso</a:t>
            </a:r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Vista de referencia para entender qué componentes podría requerir un sistema de apoyo al proceso estudiado.</a:t>
            </a:r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1" name="Text 7"/>
          <p:cNvSpPr/>
          <p:nvPr/>
        </p:nvSpPr>
        <p:spPr>
          <a:xfrm>
            <a:off x="822960" y="1554480"/>
            <a:ext cx="1463040" cy="566928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Usuario / locador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0" y="1554480"/>
            <a:ext cx="1645920" cy="566928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Portal de registro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y consulta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892040" y="1554480"/>
            <a:ext cx="1645920" cy="566928"/>
          </a:xfrm>
          <a:prstGeom prst="rect">
            <a:avLst/>
          </a:prstGeom>
          <a:solidFill>
            <a:srgbClr val="EDF8F5"/>
          </a:solidFill>
          <a:ln w="12700">
            <a:solidFill>
              <a:srgbClr val="12957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Motor de workflow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BPM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040880" y="1554480"/>
            <a:ext cx="1645920" cy="566928"/>
          </a:xfrm>
          <a:prstGeom prst="rect">
            <a:avLst/>
          </a:prstGeom>
          <a:solidFill>
            <a:srgbClr val="EDF8F5"/>
          </a:solidFill>
          <a:ln w="12700">
            <a:solidFill>
              <a:srgbClr val="12957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Gestor documental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expediente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9189720" y="1554480"/>
            <a:ext cx="1645920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59E0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r>
              <a:t>Base de datos</a:t>
            </a:r>
          </a:p>
          <a:p>
            <a:r>
              <a:t>del sistema</a:t>
            </a:r>
          </a:p>
        </p:txBody>
      </p:sp>
      <p:sp>
        <p:nvSpPr>
          <p:cNvPr id="16" name="Shape 12"/>
          <p:cNvSpPr/>
          <p:nvPr/>
        </p:nvSpPr>
        <p:spPr>
          <a:xfrm>
            <a:off x="2304288" y="1837944"/>
            <a:ext cx="393192" cy="0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4416552" y="1837944"/>
            <a:ext cx="429768" cy="0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6565392" y="1837944"/>
            <a:ext cx="429768" cy="0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8714232" y="1837944"/>
            <a:ext cx="429768" cy="0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2011680" y="3200400"/>
            <a:ext cx="1417320" cy="512064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1F46"/>
                </a:solidFill>
              </a:rPr>
              <a:t>Revisor técnico</a:t>
            </a:r>
            <a:endParaRPr lang="en-US" sz="860" dirty="0"/>
          </a:p>
        </p:txBody>
      </p:sp>
      <p:sp>
        <p:nvSpPr>
          <p:cNvPr id="21" name="Text 17"/>
          <p:cNvSpPr/>
          <p:nvPr/>
        </p:nvSpPr>
        <p:spPr>
          <a:xfrm>
            <a:off x="3931920" y="3200400"/>
            <a:ext cx="1417320" cy="512064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1F46"/>
                </a:solidFill>
              </a:rPr>
              <a:t>Responsable /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0B1F46"/>
                </a:solidFill>
              </a:rPr>
              <a:t>conformidad</a:t>
            </a:r>
            <a:endParaRPr lang="en-US" sz="860" dirty="0"/>
          </a:p>
        </p:txBody>
      </p:sp>
      <p:sp>
        <p:nvSpPr>
          <p:cNvPr id="22" name="Text 18"/>
          <p:cNvSpPr/>
          <p:nvPr/>
        </p:nvSpPr>
        <p:spPr>
          <a:xfrm>
            <a:off x="5852160" y="3200400"/>
            <a:ext cx="1417320" cy="512064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1F46"/>
                </a:solidFill>
              </a:rPr>
              <a:t>Mesa de Partes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0B1F46"/>
                </a:solidFill>
              </a:rPr>
              <a:t>/ trámite</a:t>
            </a:r>
            <a:endParaRPr lang="en-US" sz="860" dirty="0"/>
          </a:p>
        </p:txBody>
      </p:sp>
      <p:sp>
        <p:nvSpPr>
          <p:cNvPr id="23" name="Text 19"/>
          <p:cNvSpPr/>
          <p:nvPr/>
        </p:nvSpPr>
        <p:spPr>
          <a:xfrm>
            <a:off x="7772400" y="3200400"/>
            <a:ext cx="1554480" cy="512064"/>
          </a:xfrm>
          <a:prstGeom prst="rect">
            <a:avLst/>
          </a:prstGeom>
          <a:solidFill>
            <a:srgbClr val="FFF7E6"/>
          </a:solidFill>
          <a:ln w="12700">
            <a:solidFill>
              <a:srgbClr val="F59E0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r>
              <a:t>Unidad adm.</a:t>
            </a:r>
          </a:p>
          <a:p>
            <a:r>
              <a:t>correspondiente</a:t>
            </a:r>
          </a:p>
        </p:txBody>
      </p:sp>
      <p:sp>
        <p:nvSpPr>
          <p:cNvPr id="24" name="Shape 20"/>
          <p:cNvSpPr/>
          <p:nvPr/>
        </p:nvSpPr>
        <p:spPr>
          <a:xfrm>
            <a:off x="5715000" y="2148840"/>
            <a:ext cx="-3017520" cy="1024128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5715000" y="2148840"/>
            <a:ext cx="-1143000" cy="1024128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5715000" y="2148840"/>
            <a:ext cx="731520" cy="1024128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5715000" y="2148840"/>
            <a:ext cx="2606040" cy="1024128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914400" y="4663440"/>
            <a:ext cx="10149840" cy="457200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 transversales: roles, bitácora, validaciones, estado del expediente, reportes e indicadores.</a:t>
            </a:r>
            <a:endParaRPr lang="en-US" sz="1160" dirty="0"/>
          </a:p>
        </p:txBody>
      </p:sp>
      <p:sp>
        <p:nvSpPr>
          <p:cNvPr id="29" name="Text 25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Fuente: elaboración del Grupo 9 a partir de Laboratorios 1 y 2 y de la consigna del Laboratorio 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Conclusiones</a:t>
            </a:r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Tres ideas para cerrar la exposición.</a:t>
            </a:r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1" name="Text 7"/>
          <p:cNvSpPr/>
          <p:nvPr/>
        </p:nvSpPr>
        <p:spPr>
          <a:xfrm>
            <a:off x="777240" y="1325880"/>
            <a:ext cx="384048" cy="384048"/>
          </a:xfrm>
          <a:prstGeom prst="rect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280160" y="1316736"/>
            <a:ext cx="9966960" cy="402336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metodologías no son solo teoría: ayudan a decidir cómo levantar requerimientos, modelar datos, diseñar controles y seleccionar software.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77240" y="2075688"/>
            <a:ext cx="384048" cy="384048"/>
          </a:xfrm>
          <a:prstGeom prst="rect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80160" y="2066544"/>
            <a:ext cx="9966960" cy="402336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caso de entregables del IGP requiere trazabilidad documental, validación técnica, control de estados y resguardo de evidencia.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77240" y="2825496"/>
            <a:ext cx="384048" cy="384048"/>
          </a:xfrm>
          <a:prstGeom prst="rect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280160" y="2816352"/>
            <a:ext cx="9966960" cy="402336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Whitten aporta un criterio práctico para comparar alternativas: comprar, adaptar, configurar o desarrollar.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77240" y="3575304"/>
            <a:ext cx="384048" cy="384048"/>
          </a:xfrm>
          <a:prstGeom prst="rect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280160" y="3566160"/>
            <a:ext cx="9966960" cy="402336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soluciones open-source o comunitarias son útiles para evaluación académica, pero toda implementación real debe validarse con normas, seguridad e integración institucional.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68680" y="4800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/>
        </p:txBody>
      </p:sp>
      <p:sp>
        <p:nvSpPr>
          <p:cNvPr id="20" name="Text 16"/>
          <p:cNvSpPr/>
          <p:nvPr/>
        </p:nvSpPr>
        <p:spPr>
          <a:xfrm>
            <a:off x="868680" y="5184648"/>
            <a:ext cx="10058400" cy="475488"/>
          </a:xfrm>
          <a:prstGeom prst="rect">
            <a:avLst/>
          </a:prstGeom>
          <a:solidFill>
            <a:srgbClr val="EDF8F5"/>
          </a:solidFill>
          <a:ln w="12700">
            <a:solidFill>
              <a:srgbClr val="8ED4C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/>
        </p:txBody>
      </p:sp>
      <p:sp>
        <p:nvSpPr>
          <p:cNvPr id="21" name="Text 17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Fuente: síntesis del Grupo 9 con base en materiales del curso y revisión de metodologías.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Referencias</a:t>
            </a:r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Fuentes utilizadas para el Laboratorio 3.</a:t>
            </a:r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1" name="Text 7"/>
          <p:cNvSpPr/>
          <p:nvPr/>
        </p:nvSpPr>
        <p:spPr>
          <a:xfrm>
            <a:off x="594360" y="1234440"/>
            <a:ext cx="5486400" cy="4983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t>Malca Vicente, E. (2026). Clasificación de sistemas de información [material de clase]. Universidad Nacional del Callao.</a:t>
            </a:r>
          </a:p>
          <a:p>
            <a:r>
              <a:t>Senn, J. A. (1992). Analysis and Design of Information Systems. McGraw-Hill.</a:t>
            </a:r>
          </a:p>
          <a:p>
            <a:r>
              <a:t>Kendall, K. E., &amp; Kendall, J. E. (1997). Systems Analysis and Design. Prentice Hall.</a:t>
            </a:r>
          </a:p>
          <a:p>
            <a:r>
              <a:t>Whitten, J. L., Bentley, L. D., &amp; Dittman, K. C. (2004). Systems Analysis and Design Methods (6.ª ed.). McGraw-Hill.</a:t>
            </a:r>
          </a:p>
          <a:p>
            <a:r>
              <a:t>Hoffer, J. A., George, J. F., &amp; Valacich, J. S. (ed. verificada). Modern Systems Analysis and Design. Pearson.</a:t>
            </a:r>
          </a:p>
          <a:p>
            <a:r>
              <a:t>Odoo. (2026). Odoo Community and Enterprise. https://www.odoo.com/</a:t>
            </a:r>
          </a:p>
          <a:p>
            <a:r>
              <a:t>Frappe Technologies. (2026). ERPNext Documentation. https://docs.frappe.io/erpnext/</a:t>
            </a:r>
          </a:p>
          <a:p>
            <a:r>
              <a:t>OpenKM. (2026). Community Edition. https://www.openkm.com/</a:t>
            </a:r>
          </a:p>
          <a:p>
            <a:r>
              <a:t>Flowable. (2026). Flowable Engine. https://github.com/flowable/flowable-engine</a:t>
            </a:r>
          </a:p>
          <a:p>
            <a:r>
              <a:t>Bonitasoft. (2026). Bonita Platform. https://www.bonitasoft.com/</a:t>
            </a:r>
          </a:p>
        </p:txBody>
      </p:sp>
      <p:sp>
        <p:nvSpPr>
          <p:cNvPr id="12" name="Text 8"/>
          <p:cNvSpPr/>
          <p:nvPr/>
        </p:nvSpPr>
        <p:spPr>
          <a:xfrm>
            <a:off x="6263640" y="1234440"/>
            <a:ext cx="5349240" cy="4983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Odoo. (2026). Open Source ERP and CRM. https://www.odoo.com/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ERPNext. (2026). Open Source Cloud ERP Software. https://frappe.io/erpnext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OpenKM. (2026). Document Management System. https://www.openkm.com/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ProcessMaker. (2026). BPM Core. https://github.com/processmaker/processmaker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Camunda. (2026). BPMN and process orchestration documentation. https://docs.camunda.io/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Bonita. (2026). Bonita Open Source. https://www.ofelia.com/downloads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Universidad Nacional del Callao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 3 DGPO - Grupo 9 - IGP</dc:title>
  <dc:subject>Laboratorio 3 - Metodologías de desarrollo de sistemas de información</dc:subject>
  <dc:creator>Grupo 9 - DGPO</dc:creator>
  <cp:lastModifiedBy>Grupo 9 - DGPO</cp:lastModifiedBy>
  <cp:revision>1</cp:revision>
  <dcterms:created xsi:type="dcterms:W3CDTF">2026-09-24T17:38:50Z</dcterms:created>
  <dcterms:modified xsi:type="dcterms:W3CDTF">2026-09-24T17:38:50Z</dcterms:modified>
</cp:coreProperties>
</file>
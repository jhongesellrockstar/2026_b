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pic>
        <p:nvPicPr>
          <p:cNvPr id="3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1143000" cy="1143000"/>
          </a:xfrm>
          <a:prstGeom prst="rect">
            <a:avLst/>
          </a:prstGeom>
        </p:spPr>
      </p:pic>
      <p:pic>
        <p:nvPicPr>
          <p:cNvPr id="4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464" y="640080"/>
            <a:ext cx="1545472" cy="868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21A"/>
                </a:solidFill>
              </a:rPr>
              <a:t>Laboratorio 1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7240" y="24231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Inicio del Proyecto de Curso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04672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7FF"/>
                </a:solidFill>
              </a:rPr>
              <a:t>Diseño y Gestión de Procesos Organizacionales · 2026-B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77240" y="3886200"/>
            <a:ext cx="6766560" cy="960120"/>
          </a:xfrm>
          <a:prstGeom prst="roundRect">
            <a:avLst>
              <a:gd name="adj" fmla="val 9524"/>
            </a:avLst>
          </a:prstGeom>
          <a:solidFill>
            <a:srgbClr val="0B4EA2">
              <a:alpha val="90000"/>
            </a:srgbClr>
          </a:solidFill>
          <a:ln w="12700">
            <a:solidFill>
              <a:srgbClr val="0B4EA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05840" y="409651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Organización bajo estudio: Instituto Geofísico del Perú (IGP)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05840" y="444398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</a:rPr>
              <a:t>Grupo 9 · Escuela Profesional de Ingeniería de Sistemas · UNAC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04672" y="59893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7FF"/>
                </a:solidFill>
              </a:rPr>
              <a:t>Docente: Ing. Eddie Malca Vicente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Equipo de trabajo y alcance del laboratorio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La guía del laboratorio solicita una exposición grupal en PPT con organización, visión, misión, organigrama, gestión de procesos y aplicación a la UNAC.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32588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51560" y="1627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EB8"/>
                </a:solidFill>
              </a:rPr>
              <a:t>Grupo 9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05156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Integrantes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78992" y="257860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8016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Pinto Pante Gabriela Betsabé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78992" y="308152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28016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Santos Benites Juan José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078992" y="358444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28016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Villanueva Portella Jhon Gesell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078992" y="408736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28016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Escalante Matta Juan José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989320" y="13258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0F7FF"/>
          </a:solidFill>
          <a:ln w="12700">
            <a:solidFill>
              <a:srgbClr val="B7D9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55080" y="1645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Alcance de la presentación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355080" y="205740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19672" y="2221992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19672" y="23134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013448" y="2221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Organización principal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013448" y="2560320"/>
            <a:ext cx="36576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Instituto Geofísico del Perú (IGP).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355080" y="2880360"/>
            <a:ext cx="45262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19672" y="3044952"/>
            <a:ext cx="384048" cy="384048"/>
          </a:xfrm>
          <a:prstGeom prst="ellipse">
            <a:avLst/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19672" y="31363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013448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Contexto académico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013448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UNAC solo se analiza en el punto específico de aplicación universitaria.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355080" y="384048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519672" y="4005072"/>
            <a:ext cx="384048" cy="38404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519672" y="409651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7013448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Base conceptual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7013448" y="4343400"/>
            <a:ext cx="36576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Gestión de procesos, estructura organizativa y entidades públicas.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Fuente: Guía del Laboratorio 1; Sílabus DGPO 2026-B; material del curso.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Marco conceptual del curso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El proyecto se alinea con la Unidad 1: información, organización, procesos y herramientas de representación.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</a:rPr>
              <a:t>Idea central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77240" y="1609344"/>
            <a:ext cx="4389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Un proceso organiza entradas, actividades, responsables y salidas con valor para un usuario, ciudadano o área interna.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577840" y="1417320"/>
            <a:ext cx="1600200" cy="731520"/>
          </a:xfrm>
          <a:prstGeom prst="roundRect">
            <a:avLst>
              <a:gd name="adj" fmla="val 10000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50992" y="1490472"/>
            <a:ext cx="1453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Entradas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(datos/documentos)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178040" y="178308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726680" y="141732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99832" y="1490472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Proceso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(actividades)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144000" y="178308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9692640" y="141732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65792" y="1490472"/>
            <a:ext cx="14996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Salidas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(servicios/decisiones)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31520" y="2834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0584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Procesos de negocio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05840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Conjunto de actividades que transforman recursos e información en un producto o servicio valioso.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1005840" y="4334256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78992" y="4402836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Valor agregado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480560" y="2834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5488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Gestión de procesos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4754880" y="3520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Identifica, mide, relaciona y mejora procesos para elevar productividad, calidad, tiempo y costo.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4754880" y="4334256"/>
            <a:ext cx="1691640" cy="320040"/>
          </a:xfrm>
          <a:prstGeom prst="roundRect">
            <a:avLst>
              <a:gd name="adj" fmla="val 2285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28032" y="4402836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Mejora continua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229600" y="2834640"/>
            <a:ext cx="31089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50392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Estructura organizativa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50392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Define responsabilidades, coordinación, jerarquía y flujos para lograr objetivos institucionales.</a:t>
            </a:r>
            <a:endParaRPr lang="en-US" sz="1350" dirty="0"/>
          </a:p>
        </p:txBody>
      </p:sp>
      <p:sp>
        <p:nvSpPr>
          <p:cNvPr id="33" name="Shape 29"/>
          <p:cNvSpPr/>
          <p:nvPr/>
        </p:nvSpPr>
        <p:spPr>
          <a:xfrm>
            <a:off x="8503920" y="4334256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577072" y="4402836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Coordinación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Procesos de Negocio.pdf; Organización de la Empresa.pdf; Sílabus DGPO 2026-B.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Organización bajo estudio: Instituto Geofísico del Perú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Entidad pública especializada en investigación, estudios y desarrollo tecnológico en geofísica.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56774ee4-13b7-4637-a4cb-7c93e8ae347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19" y="1325880"/>
            <a:ext cx="2684242" cy="15087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31520" y="3154680"/>
            <a:ext cx="3931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005840" y="3429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Rol institucional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005840" y="385876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El IGP desarrolla investigación, estudios y desarrollo tecnológico en el campo de la geofísica; su conocimiento apoya la gestión del riesgo y la toma de decisiones públicas.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05840" y="5074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Fuente oficial: gob.pe / IGP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983480" y="1325880"/>
            <a:ext cx="6355080" cy="4160520"/>
          </a:xfrm>
          <a:prstGeom prst="roundRect">
            <a:avLst>
              <a:gd name="adj" fmla="val 1758"/>
            </a:avLst>
          </a:prstGeom>
          <a:solidFill>
            <a:srgbClr val="F0F7FF"/>
          </a:solidFill>
          <a:ln w="12700">
            <a:solidFill>
              <a:srgbClr val="B7D9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349240" y="1691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Campos de aporte público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5394960" y="214884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596128" y="22494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Sismología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132320" y="224942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monitoreo y estudios sísmicos</a:t>
            </a:r>
            <a:endParaRPr lang="en-US" sz="1220" dirty="0"/>
          </a:p>
        </p:txBody>
      </p:sp>
      <p:sp>
        <p:nvSpPr>
          <p:cNvPr id="20" name="Shape 15"/>
          <p:cNvSpPr/>
          <p:nvPr/>
        </p:nvSpPr>
        <p:spPr>
          <a:xfrm>
            <a:off x="5394960" y="288036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596128" y="298094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Vulcanología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132320" y="29809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observación y generación de información</a:t>
            </a:r>
            <a:endParaRPr lang="en-US" sz="1220" dirty="0"/>
          </a:p>
        </p:txBody>
      </p:sp>
      <p:sp>
        <p:nvSpPr>
          <p:cNvPr id="23" name="Shape 18"/>
          <p:cNvSpPr/>
          <p:nvPr/>
        </p:nvSpPr>
        <p:spPr>
          <a:xfrm>
            <a:off x="5394960" y="361188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596128" y="37124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Clima y ambiente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132320" y="371246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investigación geofísica aplicada</a:t>
            </a:r>
            <a:endParaRPr lang="en-US" sz="1220" dirty="0"/>
          </a:p>
        </p:txBody>
      </p:sp>
      <p:sp>
        <p:nvSpPr>
          <p:cNvPr id="26" name="Shape 21"/>
          <p:cNvSpPr/>
          <p:nvPr/>
        </p:nvSpPr>
        <p:spPr>
          <a:xfrm>
            <a:off x="5394960" y="434340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D4E5F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96128" y="44439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EB8"/>
                </a:solidFill>
              </a:rPr>
              <a:t>Datos científicos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132320" y="44439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</a:rPr>
              <a:t>productos técnicos y servicios de información</a:t>
            </a:r>
            <a:endParaRPr lang="en-US" sz="1220" dirty="0"/>
          </a:p>
        </p:txBody>
      </p:sp>
      <p:sp>
        <p:nvSpPr>
          <p:cNvPr id="29" name="Shape 24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 web: Plataforma del Estado Peruano, “Instituto Geofísico del Perú”.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Misión y visión institucional del IGP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Tomamos la misión y la visión de documentos oficiales del IGP para describir el rumbo institucional.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2344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05156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EB8"/>
                </a:solidFill>
              </a:rPr>
              <a:t>Misión institucional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051560" y="1965960"/>
            <a:ext cx="4526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Desarrollar investigación científica, innovación tecnológica y vigilancia permanente de fenómenos geofísicos para el bienestar de la sociedad de manera eficiente y eficaz.</a:t>
            </a:r>
          </a:p>
        </p:txBody>
      </p:sp>
      <p:sp>
        <p:nvSpPr>
          <p:cNvPr id="13" name="Shape 9"/>
          <p:cNvSpPr/>
          <p:nvPr/>
        </p:nvSpPr>
        <p:spPr>
          <a:xfrm>
            <a:off x="6263640" y="123444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FFF9E6"/>
          </a:solidFill>
          <a:ln w="12700">
            <a:solidFill>
              <a:srgbClr val="F4D46E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658368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Visión institucional adoptada</a:t>
            </a:r>
          </a:p>
        </p:txBody>
      </p:sp>
      <p:sp>
        <p:nvSpPr>
          <p:cNvPr id="15" name="Text 11"/>
          <p:cNvSpPr/>
          <p:nvPr/>
        </p:nvSpPr>
        <p:spPr>
          <a:xfrm>
            <a:off x="6583680" y="1965960"/>
            <a:ext cx="4206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Un país moderno que aproveche sosteniblemente sus recursos naturales y que se preocupe por conservar el ambiente, conciliando el desarrollo económico con la sostenibilidad ambiental en beneficio de sus ciudadanos.</a:t>
            </a:r>
          </a:p>
        </p:txBody>
      </p:sp>
      <p:sp>
        <p:nvSpPr>
          <p:cNvPr id="16" name="Text 12"/>
          <p:cNvSpPr/>
          <p:nvPr/>
        </p:nvSpPr>
        <p:spPr>
          <a:xfrm>
            <a:off x="82296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Enfoque institucional</a:t>
            </a:r>
          </a:p>
        </p:txBody>
      </p:sp>
      <p:sp>
        <p:nvSpPr>
          <p:cNvPr id="17" name="Text 13"/>
          <p:cNvSpPr/>
          <p:nvPr/>
        </p:nvSpPr>
        <p:spPr>
          <a:xfrm>
            <a:off x="822960" y="4023360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El IGP adopta como visión institucional la visión del Sector Ambiental y orienta su trabajo científico a generar conocimiento con valor público.</a:t>
            </a:r>
          </a:p>
        </p:txBody>
      </p:sp>
      <p:sp>
        <p:nvSpPr>
          <p:cNvPr id="18" name="Shape 14"/>
          <p:cNvSpPr/>
          <p:nvPr/>
        </p:nvSpPr>
        <p:spPr>
          <a:xfrm>
            <a:off x="1005840" y="4983480"/>
            <a:ext cx="9966960" cy="0"/>
          </a:xfrm>
          <a:prstGeom prst="line">
            <a:avLst/>
          </a:prstGeom>
          <a:noFill/>
          <a:ln w="1524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1097280" y="5303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170432" y="537667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Investigación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74320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3291840" y="530352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364992" y="5376672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Datos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57200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120640" y="53035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193792" y="537667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Información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76656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7315200" y="53035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7388352" y="5376672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Decisión pública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9235440" y="5577840"/>
            <a:ext cx="54864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9784080" y="530352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9857232" y="5376672"/>
            <a:ext cx="1362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Valor social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IGP, PEI 2020–2026; documento institucional “Contexto de la organización”.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Estructura organizacional simplificada del IGP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Síntesis basada en el organigrama y el Reglamento de Organización y Funciones del IGP.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09160" y="12344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4782312" y="1307592"/>
            <a:ext cx="25968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Consejo Directivo</a:t>
            </a:r>
          </a:p>
          <a:p>
            <a:r>
              <a:t>Presidencia Ejecutiva</a:t>
            </a:r>
          </a:p>
        </p:txBody>
      </p:sp>
      <p:sp>
        <p:nvSpPr>
          <p:cNvPr id="12" name="Shape 8"/>
          <p:cNvSpPr/>
          <p:nvPr/>
        </p:nvSpPr>
        <p:spPr>
          <a:xfrm>
            <a:off x="4892040" y="23317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4965192" y="2404872"/>
            <a:ext cx="22311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Secretaría General</a:t>
            </a:r>
          </a:p>
        </p:txBody>
      </p:sp>
      <p:sp>
        <p:nvSpPr>
          <p:cNvPr id="14" name="Shape 10"/>
          <p:cNvSpPr/>
          <p:nvPr/>
        </p:nvSpPr>
        <p:spPr>
          <a:xfrm>
            <a:off x="1645920" y="333756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719072" y="341071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Oficinas de apoyo y asesoramiento</a:t>
            </a:r>
          </a:p>
        </p:txBody>
      </p:sp>
      <p:sp>
        <p:nvSpPr>
          <p:cNvPr id="16" name="Shape 12"/>
          <p:cNvSpPr/>
          <p:nvPr/>
        </p:nvSpPr>
        <p:spPr>
          <a:xfrm>
            <a:off x="4709160" y="333756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782312" y="341071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Dirección Científica</a:t>
            </a:r>
          </a:p>
        </p:txBody>
      </p:sp>
      <p:sp>
        <p:nvSpPr>
          <p:cNvPr id="18" name="Shape 14"/>
          <p:cNvSpPr/>
          <p:nvPr/>
        </p:nvSpPr>
        <p:spPr>
          <a:xfrm>
            <a:off x="7818120" y="333756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891272" y="341071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Observatorios</a:t>
            </a:r>
          </a:p>
        </p:txBody>
      </p:sp>
      <p:sp>
        <p:nvSpPr>
          <p:cNvPr id="20" name="Shape 16"/>
          <p:cNvSpPr/>
          <p:nvPr/>
        </p:nvSpPr>
        <p:spPr>
          <a:xfrm>
            <a:off x="1508760" y="443484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581912" y="4507992"/>
            <a:ext cx="287121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Administración · Planeamiento y Presupuesto</a:t>
            </a:r>
          </a:p>
          <a:p>
            <a:r>
              <a:t>Asesoría Jurídica · TI y Datos Geofísicos</a:t>
            </a:r>
          </a:p>
        </p:txBody>
      </p:sp>
      <p:sp>
        <p:nvSpPr>
          <p:cNvPr id="22" name="Shape 18"/>
          <p:cNvSpPr/>
          <p:nvPr/>
        </p:nvSpPr>
        <p:spPr>
          <a:xfrm>
            <a:off x="4617720" y="44348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4690872" y="4507992"/>
            <a:ext cx="277977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Ciencias de la Tierra Sólida · Atmósfera e Hidrósfera</a:t>
            </a:r>
          </a:p>
          <a:p>
            <a:r>
              <a:t>Redes Geofísicas · Geofísica y Sociedad</a:t>
            </a:r>
          </a:p>
        </p:txBody>
      </p:sp>
      <p:sp>
        <p:nvSpPr>
          <p:cNvPr id="24" name="Shape 20"/>
          <p:cNvSpPr/>
          <p:nvPr/>
        </p:nvSpPr>
        <p:spPr>
          <a:xfrm>
            <a:off x="7909560" y="44348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7982712" y="4507992"/>
            <a:ext cx="25054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Huancayo · Jicamarca · Observatorio Vulcanológico del Sur</a:t>
            </a:r>
          </a:p>
        </p:txBody>
      </p:sp>
      <p:sp>
        <p:nvSpPr>
          <p:cNvPr id="26" name="Text 22"/>
          <p:cNvSpPr/>
          <p:nvPr/>
        </p:nvSpPr>
        <p:spPr>
          <a:xfrm>
            <a:off x="868680" y="56509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Uso en el proyecto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68680" y="5961888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Esta estructura nos ayuda a ubicar las áreas científicas y administrativas que intervienen en los procesos institucionales.</a:t>
            </a:r>
          </a:p>
        </p:txBody>
      </p:sp>
      <p:sp>
        <p:nvSpPr>
          <p:cNvPr id="28" name="Shape 24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Fuente: organigrama y ROF del Instituto Geofísico del Perú.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Importancia de la gestión de procesos en una entidad pública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Para nosotros, gestionar por procesos permite saber qué se hace, quién es responsable, cuánto demora y dónde aparecen reprocesos o esperas.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941832" y="1581912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4183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43560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Transparencia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35608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Deja claro quién interviene y qué documento sustenta cada etapa.</a:t>
            </a:r>
          </a:p>
        </p:txBody>
      </p:sp>
      <p:sp>
        <p:nvSpPr>
          <p:cNvPr id="15" name="Shape 11"/>
          <p:cNvSpPr/>
          <p:nvPr/>
        </p:nvSpPr>
        <p:spPr>
          <a:xfrm>
            <a:off x="452628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690872" y="1581912"/>
            <a:ext cx="384048" cy="38404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69087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18464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Eficiencia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84648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Ayuda a reducir esperas, correcciones repetidas y actividades que no agregan valor.</a:t>
            </a:r>
          </a:p>
        </p:txBody>
      </p:sp>
      <p:sp>
        <p:nvSpPr>
          <p:cNvPr id="20" name="Shape 16"/>
          <p:cNvSpPr/>
          <p:nvPr/>
        </p:nvSpPr>
        <p:spPr>
          <a:xfrm>
            <a:off x="8275320" y="141732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439912" y="1581912"/>
            <a:ext cx="384048" cy="384048"/>
          </a:xfrm>
          <a:prstGeom prst="ellipse">
            <a:avLst/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8439912" y="16733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933688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Trazabilidad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933688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Permite conocer el estado de un expediente y la unidad que lo está atendiendo.</a:t>
            </a:r>
          </a:p>
        </p:txBody>
      </p:sp>
      <p:sp>
        <p:nvSpPr>
          <p:cNvPr id="25" name="Shape 21"/>
          <p:cNvSpPr/>
          <p:nvPr/>
        </p:nvSpPr>
        <p:spPr>
          <a:xfrm>
            <a:off x="2651760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2816352" y="4050792"/>
            <a:ext cx="384048" cy="38404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2816352" y="4142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31012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Control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310128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Permite medir tiempos, cumplimiento y resultados con evidencia.</a:t>
            </a:r>
          </a:p>
        </p:txBody>
      </p:sp>
      <p:sp>
        <p:nvSpPr>
          <p:cNvPr id="30" name="Shape 26"/>
          <p:cNvSpPr/>
          <p:nvPr/>
        </p:nvSpPr>
        <p:spPr>
          <a:xfrm>
            <a:off x="6400800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6565392" y="4050792"/>
            <a:ext cx="384048" cy="384048"/>
          </a:xfrm>
          <a:prstGeom prst="ellipse">
            <a:avLst/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6565392" y="4142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059168" y="4050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Calidad de servicio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059168" y="4389120"/>
            <a:ext cx="2377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Orienta el proceso a una atención más clara para usuarios y áreas internas.</a:t>
            </a:r>
          </a:p>
        </p:txBody>
      </p:sp>
      <p:sp>
        <p:nvSpPr>
          <p:cNvPr id="35" name="Shape 31"/>
          <p:cNvSpPr/>
          <p:nvPr/>
        </p:nvSpPr>
        <p:spPr>
          <a:xfrm>
            <a:off x="822960" y="3401568"/>
            <a:ext cx="105613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material del curso “Procesos de Negocio”; Mapa de Procesos Institucional del IGP, aprobado por RGG N.° 051-IGP/2025.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IGP 1: Mesa de Partes Virtual y seguimiento de expedientes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Uno de los integrantes utiliza este servicio para registrar sus entregables y consultar después el estado del trámite.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d451ba8f-916c-426e-acb6-2c2adbe6e8b0.png">    </p:cNvPr>
          <p:cNvPicPr>
            <a:picLocks noChangeAspect="1"/>
          </p:cNvPicPr>
          <p:nvPr/>
        </p:nvPicPr>
        <p:blipFill>
          <a:blip r:embed="rId3"/>
          <a:srcRect l="782" r="782" t="0" b="0"/>
          <a:stretch/>
        </p:blipFill>
        <p:spPr>
          <a:xfrm>
            <a:off x="731520" y="1325880"/>
            <a:ext cx="5166360" cy="2926080"/>
          </a:xfrm>
          <a:prstGeom prst="rect">
            <a:avLst/>
          </a:prstGeom>
        </p:spPr>
      </p:pic>
      <p:pic>
        <p:nvPicPr>
          <p:cNvPr id="11" name="Image 3" descr="/mnt/data/81d27562-7f89-4821-a51b-89c1d149653f.png">    </p:cNvPr>
          <p:cNvPicPr>
            <a:picLocks noChangeAspect="1"/>
          </p:cNvPicPr>
          <p:nvPr/>
        </p:nvPicPr>
        <p:blipFill>
          <a:blip r:embed="rId4"/>
          <a:srcRect l="999" r="999" t="0" b="0"/>
          <a:stretch/>
        </p:blipFill>
        <p:spPr>
          <a:xfrm>
            <a:off x="6172200" y="1325880"/>
            <a:ext cx="5212080" cy="292608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77240" y="4526280"/>
            <a:ext cx="10607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3" name="Text 7"/>
          <p:cNvSpPr/>
          <p:nvPr/>
        </p:nvSpPr>
        <p:spPr>
          <a:xfrm>
            <a:off x="1051560" y="46817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 que observamos</a:t>
            </a:r>
          </a:p>
        </p:txBody>
      </p:sp>
      <p:sp>
        <p:nvSpPr>
          <p:cNvPr id="14" name="Text 8"/>
          <p:cNvSpPr/>
          <p:nvPr/>
        </p:nvSpPr>
        <p:spPr>
          <a:xfrm>
            <a:off x="1051560" y="5010912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Se carga el informe con sus anexos, el sistema registra el trámite y permite consultar datos como número de expediente, fecha, estado y oficina en atención.</a:t>
            </a:r>
          </a:p>
        </p:txBody>
      </p:sp>
      <p:sp>
        <p:nvSpPr>
          <p:cNvPr id="15" name="Text 9"/>
          <p:cNvSpPr/>
          <p:nvPr/>
        </p:nvSpPr>
        <p:spPr>
          <a:xfrm>
            <a:off x="1051560" y="53766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La captura proviene del uso real de la Mesa de Partes Virtual por un integrante del grupo. Se han omitido datos personales sensibles.</a:t>
            </a:r>
          </a:p>
        </p:txBody>
      </p:sp>
      <p:sp>
        <p:nvSpPr>
          <p:cNvPr id="16" name="Shape 10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7" name="Text 11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experiencia directa del integrante; portal institucional de Mesa de Partes Virtual del IGP.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IGP 2: entregables de locadores de servicios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El flujo mostrado corresponde a la experiencia de un integrante en el proyecto PP00089; no representa necesariamente todos los servicios del IGP.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94560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3941064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687568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7434072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180576" y="2212848"/>
            <a:ext cx="329184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850392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Informe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2523744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2596896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V.B. técnico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270248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343400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Registro MPV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16752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6089904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Expediente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7763256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7836408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Firma / aprobación</a:t>
            </a:r>
          </a:p>
        </p:txBody>
      </p:sp>
      <p:sp>
        <p:nvSpPr>
          <p:cNvPr id="25" name="Shape 21"/>
          <p:cNvSpPr/>
          <p:nvPr/>
        </p:nvSpPr>
        <p:spPr>
          <a:xfrm>
            <a:off x="9509760" y="192024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9582912" y="1993392"/>
            <a:ext cx="12710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Derivación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77240" y="306324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1078992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Documentos del trámite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1060704" y="376732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1261872" y="37033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Informe como documento principal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1060704" y="4114800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1261872" y="40507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Orden de servicio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1060704" y="4462272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1261872" y="439826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Recibo por honorarios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1060704" y="4809744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1261872" y="4745736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Suspensión de cuarta categoría, cuando corresponde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263640" y="306324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FFF9E6"/>
          </a:solidFill>
          <a:ln w="12700">
            <a:solidFill>
              <a:srgbClr val="F4D46E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6565392" y="3337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Condiciones observadas</a:t>
            </a:r>
          </a:p>
        </p:txBody>
      </p:sp>
      <p:sp>
        <p:nvSpPr>
          <p:cNvPr id="39" name="Shape 35"/>
          <p:cNvSpPr/>
          <p:nvPr/>
        </p:nvSpPr>
        <p:spPr>
          <a:xfrm>
            <a:off x="6547104" y="3767328"/>
            <a:ext cx="109728" cy="10972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40" name="Text 36"/>
          <p:cNvSpPr/>
          <p:nvPr/>
        </p:nvSpPr>
        <p:spPr>
          <a:xfrm>
            <a:off x="6748272" y="3703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Si el entregable tiene observaciones, primero debe corregirse para obtener el V.B.</a:t>
            </a:r>
          </a:p>
        </p:txBody>
      </p:sp>
      <p:sp>
        <p:nvSpPr>
          <p:cNvPr id="41" name="Shape 37"/>
          <p:cNvSpPr/>
          <p:nvPr/>
        </p:nvSpPr>
        <p:spPr>
          <a:xfrm>
            <a:off x="6547104" y="4178808"/>
            <a:ext cx="109728" cy="10972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6748272" y="41148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La presentación fuera de plazo puede generar penalidad si así lo establecen la Orden de Servicio o los TDR.</a:t>
            </a:r>
          </a:p>
        </p:txBody>
      </p:sp>
      <p:sp>
        <p:nvSpPr>
          <p:cNvPr id="43" name="Shape 39"/>
          <p:cNvSpPr/>
          <p:nvPr/>
        </p:nvSpPr>
        <p:spPr>
          <a:xfrm>
            <a:off x="6547104" y="4590288"/>
            <a:ext cx="109728" cy="10972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44" name="Text 40"/>
          <p:cNvSpPr/>
          <p:nvPr/>
        </p:nvSpPr>
        <p:spPr>
          <a:xfrm>
            <a:off x="6748272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Después del registro, el expediente continúa por la unidad administrativa que corresponda.</a:t>
            </a:r>
          </a:p>
        </p:txBody>
      </p:sp>
      <p:sp>
        <p:nvSpPr>
          <p:cNvPr id="45" name="Text 41"/>
          <p:cNvSpPr/>
          <p:nvPr/>
        </p:nvSpPr>
        <p:spPr>
          <a:xfrm>
            <a:off x="868680" y="5715000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Etapa administrativa posterior pendiente de validar.</a:t>
            </a:r>
          </a:p>
        </p:txBody>
      </p:sp>
      <p:sp>
        <p:nvSpPr>
          <p:cNvPr id="46" name="Shape 42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Fuente: experiencia directa del integrante en el proyecto PP00089 y uso de la Mesa de Partes Virtual del IGP.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IGP 3: adquisición de bienes mediante Perú Compras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En una entidad pública no se compra simplemente el equipo que uno prefiere: se debe trabajar con las fichas-producto, proveedores, condiciones y presupuesto disponibles dentro del procedimiento aplicable.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8e1a533b-00bd-4cef-9ea2-c657e2a0f4ab.png">    </p:cNvPr>
          <p:cNvPicPr>
            <a:picLocks noChangeAspect="1"/>
          </p:cNvPicPr>
          <p:nvPr/>
        </p:nvPicPr>
        <p:blipFill>
          <a:blip r:embed="rId3"/>
          <a:srcRect l="7356" r="7356" t="0" b="0"/>
          <a:stretch/>
        </p:blipFill>
        <p:spPr>
          <a:xfrm>
            <a:off x="685800" y="1234440"/>
            <a:ext cx="5257800" cy="33375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63640" y="123444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6565392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Ejemplo observado</a:t>
            </a:r>
          </a:p>
        </p:txBody>
      </p:sp>
      <p:sp>
        <p:nvSpPr>
          <p:cNvPr id="13" name="Shape 8"/>
          <p:cNvSpPr/>
          <p:nvPr/>
        </p:nvSpPr>
        <p:spPr>
          <a:xfrm>
            <a:off x="6565392" y="1965960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6766560" y="1901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Identificación de necesidad técnica.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65392" y="2404872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6766560" y="23408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Búsqueda en Catálogos Electrónicos.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65392" y="2843784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6766560" y="27797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Selección de ficha-producto disponible.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65392" y="3282696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676656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Validación presupuestal y contratación.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565392" y="3721608"/>
            <a:ext cx="109728" cy="10972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6766560" y="3657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Recepción, conformidad y control.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296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El buscador público de Perú Compras muestra actualmente el Acuerdo Marco EXT-CE-2022-5 para computadoras de escritorio, computadoras portátiles y escáneres.</a:t>
            </a:r>
          </a:p>
        </p:txBody>
      </p:sp>
      <p:sp>
        <p:nvSpPr>
          <p:cNvPr id="24" name="Shape 19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Buscador de Fichas-Producto de Perú Compras; comunicado oficial del Acuerdo Marco EXT-CE-2022-5.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ejemplos de adecuada gestión de procesos en entidades públicas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Seleccionamos cinco casos que permiten ver cómo la gestión por procesos ayuda a ordenar actividades, responsables y seguimiento.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68680" y="14264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61872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IGP: Mesa de Partes Virtual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61872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Registro digital de documentos y seguimiento de expedientes.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1261872" y="257860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335024" y="26471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IGP / Manual de Procesos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53712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690872" y="14264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084064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IGP: entregables por expediente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084064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Revisión de informes, V.B., registro y seguimiento del expediente.</a:t>
            </a:r>
          </a:p>
        </p:txBody>
      </p:sp>
      <p:sp>
        <p:nvSpPr>
          <p:cNvPr id="20" name="Shape 16"/>
          <p:cNvSpPr/>
          <p:nvPr/>
        </p:nvSpPr>
        <p:spPr>
          <a:xfrm>
            <a:off x="5084064" y="257860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157216" y="26471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Experiencia del integrante + MPV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8375904" y="128016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8513064" y="14264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55A3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906256" y="14264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Perú Compras: CEAM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8906256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475569"/>
                </a:solidFill>
              </a:rPr>
              <a:t>Catálogos Electrónicos y fichas-producto para compras públicas.</a:t>
            </a:r>
            <a:endParaRPr lang="en-US" sz="1120" dirty="0"/>
          </a:p>
        </p:txBody>
      </p:sp>
      <p:sp>
        <p:nvSpPr>
          <p:cNvPr id="26" name="Shape 22"/>
          <p:cNvSpPr/>
          <p:nvPr/>
        </p:nvSpPr>
        <p:spPr>
          <a:xfrm>
            <a:off x="8906256" y="257860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8979408" y="26471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Perú Compras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651760" y="39319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2788920" y="4078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21A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182112" y="4078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UNAC: mapa de procesos</a:t>
            </a:r>
            <a:endParaRPr lang="en-US" sz="1350" dirty="0"/>
          </a:p>
        </p:txBody>
      </p:sp>
      <p:sp>
        <p:nvSpPr>
          <p:cNvPr id="31" name="Text 27"/>
          <p:cNvSpPr/>
          <p:nvPr/>
        </p:nvSpPr>
        <p:spPr>
          <a:xfrm>
            <a:off x="3182112" y="4572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Mapa institucional aprobado con Resolución N.° 183-2025-CU.</a:t>
            </a:r>
          </a:p>
        </p:txBody>
      </p:sp>
      <p:sp>
        <p:nvSpPr>
          <p:cNvPr id="32" name="Shape 28"/>
          <p:cNvSpPr/>
          <p:nvPr/>
        </p:nvSpPr>
        <p:spPr>
          <a:xfrm>
            <a:off x="3182112" y="523036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3255264" y="529894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UNAC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473952" y="39319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6611112" y="4078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80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004304" y="4078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IGP: atención de quejas y reclamos</a:t>
            </a:r>
          </a:p>
        </p:txBody>
      </p:sp>
      <p:sp>
        <p:nvSpPr>
          <p:cNvPr id="37" name="Text 33"/>
          <p:cNvSpPr/>
          <p:nvPr/>
        </p:nvSpPr>
        <p:spPr>
          <a:xfrm>
            <a:off x="7004304" y="4572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Procedimiento documentado de atención y seguimiento al ciudadano.</a:t>
            </a:r>
          </a:p>
        </p:txBody>
      </p:sp>
      <p:sp>
        <p:nvSpPr>
          <p:cNvPr id="38" name="Shape 34"/>
          <p:cNvSpPr/>
          <p:nvPr/>
        </p:nvSpPr>
        <p:spPr>
          <a:xfrm>
            <a:off x="7004304" y="5230368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7077456" y="529894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de Procesos IGP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IGP; Perú Compras; UNAC. El flujo de entregables incorpora experiencia directa de un integrante.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aplicaríamos la gestión de procesos en la UNAC?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Tomamos como punto de partida el mapa de procesos que la UNAC ya tiene aprobado y lo aplicamos a trámites concretos del estudiante.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pic>
        <p:nvPicPr>
          <p:cNvPr id="10" name="Image 2" descr="/mnt/data/75ea8243-f536-4e7d-82c9-725d5d68cac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1417320" cy="1417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2316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UNAC como sistema de procesos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423160" y="1828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La UNAC cuenta con un Mapa de Procesos Institucional aprobado por Resolución N.° 183-2025-CU. A partir de ese marco podemos estudiar procesos como matrícula, constancias o trámite documentario.</a:t>
            </a:r>
          </a:p>
        </p:txBody>
      </p:sp>
      <p:sp>
        <p:nvSpPr>
          <p:cNvPr id="13" name="Shape 8"/>
          <p:cNvSpPr/>
          <p:nvPr/>
        </p:nvSpPr>
        <p:spPr>
          <a:xfrm>
            <a:off x="822960" y="30175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987552" y="3182112"/>
            <a:ext cx="384048" cy="384048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987552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481328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1. Seleccionar proceso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481328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Matrícula, constancias, pagos, trámite documentario o atención SGA.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0" y="30175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4736592" y="3182112"/>
            <a:ext cx="384048" cy="384048"/>
          </a:xfrm>
          <a:prstGeom prst="ellipse">
            <a:avLst/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4736592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230368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2. Levantar AS-IS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30368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Entrevistas, observación y trazabilidad de solicitudes.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321040" y="30175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8485632" y="3182112"/>
            <a:ext cx="384048" cy="384048"/>
          </a:xfrm>
          <a:prstGeom prst="ellipse">
            <a:avLst/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8485632" y="327355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979408" y="3182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3. Medir desempeño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979408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Tiempo de ciclo, reprocesos, errores y satisfacción del usuario.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22960" y="4434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987552" y="4599432"/>
            <a:ext cx="384048" cy="384048"/>
          </a:xfrm>
          <a:prstGeom prst="ellipse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987552" y="46908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48132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4. Rediseñar TO-BE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1481328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Simplificación, digitalización, reglas claras y responsables.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4572000" y="443484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4" name="Shape 29"/>
          <p:cNvSpPr/>
          <p:nvPr/>
        </p:nvSpPr>
        <p:spPr>
          <a:xfrm>
            <a:off x="4736592" y="4599432"/>
            <a:ext cx="384048" cy="384048"/>
          </a:xfrm>
          <a:prstGeom prst="ellipse">
            <a:avLst/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  <p:txBody>
          <a:bodyPr/>
          <a:p/>
        </p:txBody>
      </p:sp>
      <p:sp>
        <p:nvSpPr>
          <p:cNvPr id="35" name="Text 30"/>
          <p:cNvSpPr/>
          <p:nvPr/>
        </p:nvSpPr>
        <p:spPr>
          <a:xfrm>
            <a:off x="4736592" y="469087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23036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5. Controlar con KPIs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5230368" y="4937760"/>
            <a:ext cx="2377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Tablero de seguimiento por escuela, facultad y área.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Fuentes: UNAC, Mapa de Procesos Institucional aprobado por Resolución N.° 183-2025-CU; sílabo DGPO 2026-B.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propuesta del proyecto de curso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El Laboratorio 1 deja preparado el caso para los siguientes entregables del curso.</a:t>
            </a:r>
            <a:endParaRPr lang="en-US" sz="1050" dirty="0"/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5740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420624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35508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8503920" y="2880360"/>
            <a:ext cx="73152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7724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039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 1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8580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Organización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 contexto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92608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923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Lab 2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83464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Datos, entidades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 bases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7492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6455A3"/>
          </a:solidFill>
          <a:ln w="12700">
            <a:solidFill>
              <a:srgbClr val="6455A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4807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Unidad 2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98348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AS-IS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diagnóstico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22376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9691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Unidad 3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13232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TO-BE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rediseño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9372600" y="23317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003B80"/>
          </a:solidFill>
          <a:ln w="12700">
            <a:solidFill>
              <a:srgbClr val="003B8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445752" y="2404872"/>
            <a:ext cx="11338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Unidad 4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9281160" y="31546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KPIs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control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1234440" y="45902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EB8"/>
                </a:solidFill>
              </a:rPr>
              <a:t>Proceso candidato para continuidad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1234440" y="491947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b="1" dirty="0">
                <a:solidFill>
                  <a:srgbClr val="0F172A"/>
                </a:solidFill>
              </a:rPr>
              <a:t>Presentación, revisión, conformidad y trámite de entregables de locadores de servicios en el IGP.</a:t>
            </a:r>
            <a:endParaRPr lang="en-US" sz="1410" dirty="0"/>
          </a:p>
        </p:txBody>
      </p:sp>
      <p:sp>
        <p:nvSpPr>
          <p:cNvPr id="31" name="Text 27"/>
          <p:cNvSpPr/>
          <p:nvPr/>
        </p:nvSpPr>
        <p:spPr>
          <a:xfrm>
            <a:off x="1234440" y="532180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Por verificar: responsables, unidades administrativas y reglas contractuales específicas antes de modelar el AS-IS final.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4360" y="6510528"/>
            <a:ext cx="10972800" cy="0"/>
          </a:xfrm>
          <a:prstGeom prst="line">
            <a:avLst/>
          </a:prstGeom>
          <a:noFill/>
          <a:ln w="10160">
            <a:solidFill>
              <a:srgbClr val="DDE7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4360" y="6601968"/>
            <a:ext cx="10927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Fuentes: Sílabus DGPO 2026-B; experiencia del integrante; futuras entrevistas y documentación del proceso.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F6C21A"/>
          </a:solidFill>
          <a:ln w="12700">
            <a:solidFill>
              <a:srgbClr val="F6C21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320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Referencias</a:t>
            </a:r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0789920" cy="0"/>
          </a:xfrm>
          <a:prstGeom prst="line">
            <a:avLst/>
          </a:prstGeom>
          <a:noFill/>
          <a:ln w="12700">
            <a:solidFill>
              <a:srgbClr val="DDE7F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93268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Fuentes utilizadas en la presentación.</a:t>
            </a:r>
          </a:p>
        </p:txBody>
      </p:sp>
      <p:pic>
        <p:nvPicPr>
          <p:cNvPr id="8" name="Image 0" descr="/mnt/data/75ea8243-f536-4e7d-82c9-725d5d68cac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219456"/>
            <a:ext cx="685800" cy="685800"/>
          </a:xfrm>
          <a:prstGeom prst="rect">
            <a:avLst/>
          </a:prstGeom>
        </p:spPr>
      </p:pic>
      <p:pic>
        <p:nvPicPr>
          <p:cNvPr id="9" name="Image 1" descr="/mnt/data/56774ee4-13b7-4637-a4cb-7c93e8ae34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364" y="228600"/>
            <a:ext cx="9435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234440"/>
            <a:ext cx="10561320" cy="5120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Instituto Geofísico del Perú. (2022). Plan Estratégico Institucional 2020–2026. https://www.igp.gob.pe/informacion-institucional/public/files/planes_politicas/pei/2022_05_16_PEI_Ampliado-al-2026%5BR%5D%5BR%5D.pdf</a:t>
            </a:r>
          </a:p>
          <a:p/>
          <a:p>
            <a:r>
              <a:t>Instituto Geofísico del Perú. (2025). Mapa de Procesos Institucional del IGP. https://www.igp.gob.pe/informacion-institucional/instrumentos-gestion/mapa</a:t>
            </a:r>
          </a:p>
          <a:p/>
          <a:p>
            <a:r>
              <a:t>Instituto Geofísico del Perú. (2023). Manual del Clasificador de Cargos – organigrama institucional. https://www.igp.gob.pe/informacion-institucional/public/files/instrumentos_gestion/mcc/2023/0025_2023-MODIFICACION_DEL_CLASIFICADOR_DE_CARGOS.pdf</a:t>
            </a:r>
          </a:p>
          <a:p/>
          <a:p>
            <a:r>
              <a:t>PERÚ COMPRAS. (s. f.). Buscador de Fichas-Producto de Catálogos Electrónicos. https://buscadorcatalogos.perucompras.gob.pe/</a:t>
            </a:r>
          </a:p>
          <a:p/>
          <a:p>
            <a:r>
              <a:t>Universidad Nacional del Callao. (2025). Mapa de Procesos Institucional, Res. N.° 183-2025-CU. https://unac.edu.pe/mapa-de-procesos-institucional/</a:t>
            </a:r>
          </a:p>
          <a:p/>
          <a:p>
            <a:r>
              <a:t>Malca Vicente, E. (2026). Sílabo: Diseño y Gestión de Procesos Organizacionales 2026-B. UNAC.</a:t>
            </a:r>
          </a:p>
          <a:p>
            <a:r>
              <a:t>Materiales del curso: Procesos de Negocio; Organización de la Empresa.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1 - Instituto Geofísico del Perú</dc:title>
  <dc:subject>Laboratorio 1 - Diseño y Gestión de Procesos Organizacionales</dc:subject>
  <dc:creator>Grupo 9 - UNAC</dc:creator>
  <cp:lastModifiedBy>Grupo 9 - UNAC</cp:lastModifiedBy>
  <cp:revision>1</cp:revision>
  <dcterms:created xsi:type="dcterms:W3CDTF">2026-09-24T16:52:09Z</dcterms:created>
  <dcterms:modified xsi:type="dcterms:W3CDTF">2026-09-24T16:52:09Z</dcterms:modified>
</cp:coreProperties>
</file>
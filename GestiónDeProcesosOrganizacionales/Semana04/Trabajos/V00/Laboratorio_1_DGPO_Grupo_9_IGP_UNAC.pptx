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B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B80"/>
          </a:solidFill>
          <a:ln w="12700">
            <a:solidFill>
              <a:srgbClr val="003B80"/>
            </a:solidFill>
            <a:prstDash val="solid"/>
          </a:ln>
        </p:spPr>
      </p:sp>
      <p:pic>
        <p:nvPicPr>
          <p:cNvPr id="3" name="Image 0" descr="/mnt/data/75ea8243-f536-4e7d-82c9-725d5d68ca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94360"/>
            <a:ext cx="1143000" cy="1143000"/>
          </a:xfrm>
          <a:prstGeom prst="rect">
            <a:avLst/>
          </a:prstGeom>
        </p:spPr>
      </p:pic>
      <p:pic>
        <p:nvPicPr>
          <p:cNvPr id="4" name="Image 1" descr="/mnt/data/56774ee4-13b7-4637-a4cb-7c93e8ae34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0464" y="640080"/>
            <a:ext cx="1545472" cy="8686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7240" y="19202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6C21A"/>
                </a:solidFill>
              </a:rPr>
              <a:t>Laboratorio 1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77240" y="242316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Inicio del Proyecto de Curso</a:t>
            </a:r>
            <a:endParaRPr lang="en-US" sz="4000" dirty="0"/>
          </a:p>
        </p:txBody>
      </p:sp>
      <p:sp>
        <p:nvSpPr>
          <p:cNvPr id="7" name="Text 3"/>
          <p:cNvSpPr/>
          <p:nvPr/>
        </p:nvSpPr>
        <p:spPr>
          <a:xfrm>
            <a:off x="804672" y="3154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E7FF"/>
                </a:solidFill>
              </a:rPr>
              <a:t>Diseño y Gestión de Procesos Organizacionales · 2026-B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777240" y="3886200"/>
            <a:ext cx="6766560" cy="960120"/>
          </a:xfrm>
          <a:prstGeom prst="roundRect">
            <a:avLst>
              <a:gd name="adj" fmla="val 9524"/>
            </a:avLst>
          </a:prstGeom>
          <a:solidFill>
            <a:srgbClr val="0B4EA2">
              <a:alpha val="90000"/>
            </a:srgbClr>
          </a:solidFill>
          <a:ln w="12700">
            <a:solidFill>
              <a:srgbClr val="0B4EA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005840" y="409651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Organización bajo estudio: Instituto Geofísico del Perú (IGP)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005840" y="444398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7FF"/>
                </a:solidFill>
              </a:rPr>
              <a:t>Grupo 9 · Escuela Profesional de Ingeniería de Sistemas · UNAC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804672" y="598932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7FF"/>
                </a:solidFill>
              </a:rPr>
              <a:t>Docente: Ing. Eddie Malca Vicente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F6C21A"/>
          </a:solidFill>
          <a:ln w="12700">
            <a:solidFill>
              <a:srgbClr val="F6C2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0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Equipo de trabajo y alcance del laboratorio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868680"/>
            <a:ext cx="10789920" cy="0"/>
          </a:xfrm>
          <a:prstGeom prst="line">
            <a:avLst/>
          </a:prstGeom>
          <a:noFill/>
          <a:ln w="12700">
            <a:solidFill>
              <a:srgbClr val="DDE7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93268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La guía del laboratorio solicita una exposición grupal en PPT con organización, visión, misión, organigrama, gestión de procesos y aplicación a la UNAC.</a:t>
            </a:r>
            <a:endParaRPr lang="en-US" sz="1050" dirty="0"/>
          </a:p>
        </p:txBody>
      </p:sp>
      <p:pic>
        <p:nvPicPr>
          <p:cNvPr id="8" name="Image 0" descr="/mnt/data/75ea8243-f536-4e7d-82c9-725d5d68ca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219456"/>
            <a:ext cx="685800" cy="685800"/>
          </a:xfrm>
          <a:prstGeom prst="rect">
            <a:avLst/>
          </a:prstGeom>
        </p:spPr>
      </p:pic>
      <p:pic>
        <p:nvPicPr>
          <p:cNvPr id="9" name="Image 1" descr="/mnt/data/56774ee4-13b7-4637-a4cb-7c93e8ae34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5364" y="228600"/>
            <a:ext cx="943552" cy="53035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31520" y="1325880"/>
            <a:ext cx="493776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051560" y="16276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5EB8"/>
                </a:solidFill>
              </a:rPr>
              <a:t>Grupo 9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1051560" y="2057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Integrantes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1078992" y="2578608"/>
            <a:ext cx="109728" cy="109728"/>
          </a:xfrm>
          <a:prstGeom prst="ellipse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280160" y="2514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Pinto Pante Gabriela Betsabé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1078992" y="3081528"/>
            <a:ext cx="109728" cy="109728"/>
          </a:xfrm>
          <a:prstGeom prst="ellipse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280160" y="3017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Santos Benites Juan José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1078992" y="3584448"/>
            <a:ext cx="109728" cy="109728"/>
          </a:xfrm>
          <a:prstGeom prst="ellipse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280160" y="3520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Villanueva Portella Jhon Gesell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1078992" y="4087368"/>
            <a:ext cx="109728" cy="109728"/>
          </a:xfrm>
          <a:prstGeom prst="ellipse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280160" y="4023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Escalante Matta Juan José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5989320" y="1325880"/>
            <a:ext cx="5349240" cy="4434840"/>
          </a:xfrm>
          <a:prstGeom prst="roundRect">
            <a:avLst>
              <a:gd name="adj" fmla="val 1649"/>
            </a:avLst>
          </a:prstGeom>
          <a:solidFill>
            <a:srgbClr val="F0F7FF"/>
          </a:solidFill>
          <a:ln w="12700">
            <a:solidFill>
              <a:srgbClr val="B7D9F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355080" y="16459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Alcance de la presentación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6355080" y="2057400"/>
            <a:ext cx="45262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519672" y="2221992"/>
            <a:ext cx="384048" cy="384048"/>
          </a:xfrm>
          <a:prstGeom prst="ellipse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519672" y="231343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7013448" y="2221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Organización principal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7013448" y="2560320"/>
            <a:ext cx="365760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Instituto Geofísico del Perú (IGP).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6355080" y="2880360"/>
            <a:ext cx="45262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519672" y="3044952"/>
            <a:ext cx="384048" cy="384048"/>
          </a:xfrm>
          <a:prstGeom prst="ellipse">
            <a:avLst/>
          </a:prstGeom>
          <a:solidFill>
            <a:srgbClr val="6455A3"/>
          </a:solidFill>
          <a:ln w="12700">
            <a:solidFill>
              <a:srgbClr val="6455A3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519672" y="313639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7013448" y="3044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Contexto académico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7013448" y="3383280"/>
            <a:ext cx="36576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UNAC solo se analiza en el punto específico de aplicación universitaria.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6355080" y="3840480"/>
            <a:ext cx="45262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6519672" y="4005072"/>
            <a:ext cx="384048" cy="384048"/>
          </a:xfrm>
          <a:prstGeom prst="ellipse">
            <a:avLst/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519672" y="409651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7013448" y="4005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Base conceptual</a:t>
            </a:r>
            <a:endParaRPr lang="en-US" sz="1300" dirty="0"/>
          </a:p>
        </p:txBody>
      </p:sp>
      <p:sp>
        <p:nvSpPr>
          <p:cNvPr id="37" name="Text 33"/>
          <p:cNvSpPr/>
          <p:nvPr/>
        </p:nvSpPr>
        <p:spPr>
          <a:xfrm>
            <a:off x="7013448" y="4343400"/>
            <a:ext cx="365760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Gestión de procesos, estructura organizativa y entidades públicas.</a:t>
            </a:r>
            <a:endParaRPr lang="en-US" sz="1050" dirty="0"/>
          </a:p>
        </p:txBody>
      </p:sp>
      <p:sp>
        <p:nvSpPr>
          <p:cNvPr id="38" name="Shape 34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0160">
            <a:solidFill>
              <a:srgbClr val="DDE7F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594360" y="6601968"/>
            <a:ext cx="10927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Fuente: Guía del Laboratorio 1; Sílabus DGPO 2026-B; material del curso.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F6C21A"/>
          </a:solidFill>
          <a:ln w="12700">
            <a:solidFill>
              <a:srgbClr val="F6C2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0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Marco conceptual del curso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868680"/>
            <a:ext cx="10789920" cy="0"/>
          </a:xfrm>
          <a:prstGeom prst="line">
            <a:avLst/>
          </a:prstGeom>
          <a:noFill/>
          <a:ln w="12700">
            <a:solidFill>
              <a:srgbClr val="DDE7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93268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El proyecto se alinea con la Unidad 1: información, organización, procesos y herramientas de representación.</a:t>
            </a:r>
            <a:endParaRPr lang="en-US" sz="1050" dirty="0"/>
          </a:p>
        </p:txBody>
      </p:sp>
      <p:pic>
        <p:nvPicPr>
          <p:cNvPr id="8" name="Image 0" descr="/mnt/data/75ea8243-f536-4e7d-82c9-725d5d68ca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219456"/>
            <a:ext cx="685800" cy="685800"/>
          </a:xfrm>
          <a:prstGeom prst="rect">
            <a:avLst/>
          </a:prstGeom>
        </p:spPr>
      </p:pic>
      <p:pic>
        <p:nvPicPr>
          <p:cNvPr id="9" name="Image 1" descr="/mnt/data/56774ee4-13b7-4637-a4cb-7c93e8ae34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5364" y="228600"/>
            <a:ext cx="943552" cy="5303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7240" y="1234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EB8"/>
                </a:solidFill>
              </a:rPr>
              <a:t>Idea central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1609344"/>
            <a:ext cx="43891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Un proceso organiza entradas, actividades, responsables y salidas con valor para un usuario, ciudadano o área interna.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5577840" y="1417320"/>
            <a:ext cx="1600200" cy="731520"/>
          </a:xfrm>
          <a:prstGeom prst="roundRect">
            <a:avLst>
              <a:gd name="adj" fmla="val 10000"/>
            </a:avLst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650992" y="1490472"/>
            <a:ext cx="14538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Entradas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(datos/documentos)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178040" y="1783080"/>
            <a:ext cx="548640" cy="0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7726680" y="1417320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799832" y="1490472"/>
            <a:ext cx="12710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Proceso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(actividades)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9144000" y="1783080"/>
            <a:ext cx="548640" cy="0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9692640" y="1417320"/>
            <a:ext cx="1645920" cy="731520"/>
          </a:xfrm>
          <a:prstGeom prst="roundRect">
            <a:avLst>
              <a:gd name="adj" fmla="val 10000"/>
            </a:avLst>
          </a:prstGeom>
          <a:solidFill>
            <a:srgbClr val="6455A3"/>
          </a:solidFill>
          <a:ln w="12700">
            <a:solidFill>
              <a:srgbClr val="6455A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765792" y="1490472"/>
            <a:ext cx="14996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Salidas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(servicios/decisiones)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731520" y="283464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005840" y="31089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Procesos de negocio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1005840" y="35204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Conjunto de actividades que transforman recursos e información en un producto o servicio valioso.</a:t>
            </a:r>
            <a:endParaRPr lang="en-US" sz="1350" dirty="0"/>
          </a:p>
        </p:txBody>
      </p:sp>
      <p:sp>
        <p:nvSpPr>
          <p:cNvPr id="23" name="Shape 19"/>
          <p:cNvSpPr/>
          <p:nvPr/>
        </p:nvSpPr>
        <p:spPr>
          <a:xfrm>
            <a:off x="1005840" y="4334256"/>
            <a:ext cx="1508760" cy="320040"/>
          </a:xfrm>
          <a:prstGeom prst="roundRect">
            <a:avLst>
              <a:gd name="adj" fmla="val 22857"/>
            </a:avLst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078992" y="4402836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Valor agregado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4480560" y="283464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754880" y="31089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Gestión de procesos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4754880" y="35204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Identifica, mide, relaciona y mejora procesos para elevar productividad, calidad, tiempo y costo.</a:t>
            </a:r>
            <a:endParaRPr lang="en-US" sz="1350" dirty="0"/>
          </a:p>
        </p:txBody>
      </p:sp>
      <p:sp>
        <p:nvSpPr>
          <p:cNvPr id="28" name="Shape 24"/>
          <p:cNvSpPr/>
          <p:nvPr/>
        </p:nvSpPr>
        <p:spPr>
          <a:xfrm>
            <a:off x="4754880" y="4334256"/>
            <a:ext cx="1691640" cy="320040"/>
          </a:xfrm>
          <a:prstGeom prst="roundRect">
            <a:avLst>
              <a:gd name="adj" fmla="val 22857"/>
            </a:avLst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828032" y="4402836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Mejora continua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8229600" y="2834640"/>
            <a:ext cx="31089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503920" y="31089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Estructura organizativa</a:t>
            </a:r>
            <a:endParaRPr lang="en-US" sz="1600" dirty="0"/>
          </a:p>
        </p:txBody>
      </p:sp>
      <p:sp>
        <p:nvSpPr>
          <p:cNvPr id="32" name="Text 28"/>
          <p:cNvSpPr/>
          <p:nvPr/>
        </p:nvSpPr>
        <p:spPr>
          <a:xfrm>
            <a:off x="8503920" y="35204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Define responsabilidades, coordinación, jerarquía y flujos para lograr objetivos institucionales.</a:t>
            </a:r>
            <a:endParaRPr lang="en-US" sz="1350" dirty="0"/>
          </a:p>
        </p:txBody>
      </p:sp>
      <p:sp>
        <p:nvSpPr>
          <p:cNvPr id="33" name="Shape 29"/>
          <p:cNvSpPr/>
          <p:nvPr/>
        </p:nvSpPr>
        <p:spPr>
          <a:xfrm>
            <a:off x="8503920" y="4334256"/>
            <a:ext cx="1463040" cy="320040"/>
          </a:xfrm>
          <a:prstGeom prst="roundRect">
            <a:avLst>
              <a:gd name="adj" fmla="val 22857"/>
            </a:avLst>
          </a:prstGeom>
          <a:solidFill>
            <a:srgbClr val="6455A3"/>
          </a:solidFill>
          <a:ln w="12700">
            <a:solidFill>
              <a:srgbClr val="6455A3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8577072" y="4402836"/>
            <a:ext cx="1316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Coordinación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0160">
            <a:solidFill>
              <a:srgbClr val="DDE7F0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94360" y="6601968"/>
            <a:ext cx="10927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Fuentes: Procesos de Negocio.pdf; Organización de la Empresa.pdf; Sílabus DGPO 2026-B.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F6C21A"/>
          </a:solidFill>
          <a:ln w="12700">
            <a:solidFill>
              <a:srgbClr val="F6C2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0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Organización bajo estudio: Instituto Geofísico del Perú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868680"/>
            <a:ext cx="10789920" cy="0"/>
          </a:xfrm>
          <a:prstGeom prst="line">
            <a:avLst/>
          </a:prstGeom>
          <a:noFill/>
          <a:ln w="12700">
            <a:solidFill>
              <a:srgbClr val="DDE7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93268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Entidad pública especializada en investigación, estudios y desarrollo tecnológico en geofísica.</a:t>
            </a:r>
            <a:endParaRPr lang="en-US" sz="1050" dirty="0"/>
          </a:p>
        </p:txBody>
      </p:sp>
      <p:pic>
        <p:nvPicPr>
          <p:cNvPr id="8" name="Image 0" descr="/mnt/data/75ea8243-f536-4e7d-82c9-725d5d68ca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219456"/>
            <a:ext cx="685800" cy="685800"/>
          </a:xfrm>
          <a:prstGeom prst="rect">
            <a:avLst/>
          </a:prstGeom>
        </p:spPr>
      </p:pic>
      <p:pic>
        <p:nvPicPr>
          <p:cNvPr id="9" name="Image 1" descr="/mnt/data/56774ee4-13b7-4637-a4cb-7c93e8ae34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5364" y="228600"/>
            <a:ext cx="943552" cy="530352"/>
          </a:xfrm>
          <a:prstGeom prst="rect">
            <a:avLst/>
          </a:prstGeom>
        </p:spPr>
      </p:pic>
      <p:pic>
        <p:nvPicPr>
          <p:cNvPr id="10" name="Image 2" descr="/mnt/data/56774ee4-13b7-4637-a4cb-7c93e8ae347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319" y="1325880"/>
            <a:ext cx="2684242" cy="150876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731520" y="3154680"/>
            <a:ext cx="39319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1005840" y="34290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Rol institucional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1005840" y="3858768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El IGP desarrolla investigación, estudios y desarrollo tecnológico en el campo de la geofísica; su conocimiento apoya la gestión del riesgo y la toma de decisiones públicas.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1005840" y="50749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Fuente oficial: gob.pe / IGP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4983480" y="1325880"/>
            <a:ext cx="6355080" cy="4160520"/>
          </a:xfrm>
          <a:prstGeom prst="roundRect">
            <a:avLst>
              <a:gd name="adj" fmla="val 1758"/>
            </a:avLst>
          </a:prstGeom>
          <a:solidFill>
            <a:srgbClr val="F0F7FF"/>
          </a:solidFill>
          <a:ln w="12700">
            <a:solidFill>
              <a:srgbClr val="B7D9FF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5349240" y="16916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Campos de aporte público</a:t>
            </a:r>
            <a:endParaRPr lang="en-US" sz="1900" dirty="0"/>
          </a:p>
        </p:txBody>
      </p:sp>
      <p:sp>
        <p:nvSpPr>
          <p:cNvPr id="17" name="Shape 12"/>
          <p:cNvSpPr/>
          <p:nvPr/>
        </p:nvSpPr>
        <p:spPr>
          <a:xfrm>
            <a:off x="5394960" y="2148840"/>
            <a:ext cx="53949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4E5F8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5596128" y="224942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5EB8"/>
                </a:solidFill>
              </a:rPr>
              <a:t>Sismología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7132320" y="2249424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</a:rPr>
              <a:t>monitoreo y estudios sísmicos</a:t>
            </a:r>
            <a:endParaRPr lang="en-US" sz="1220" dirty="0"/>
          </a:p>
        </p:txBody>
      </p:sp>
      <p:sp>
        <p:nvSpPr>
          <p:cNvPr id="20" name="Shape 15"/>
          <p:cNvSpPr/>
          <p:nvPr/>
        </p:nvSpPr>
        <p:spPr>
          <a:xfrm>
            <a:off x="5394960" y="2880360"/>
            <a:ext cx="53949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4E5F8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596128" y="298094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5EB8"/>
                </a:solidFill>
              </a:rPr>
              <a:t>Vulcanología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7132320" y="2980944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</a:rPr>
              <a:t>observación y generación de información</a:t>
            </a:r>
            <a:endParaRPr lang="en-US" sz="1220" dirty="0"/>
          </a:p>
        </p:txBody>
      </p:sp>
      <p:sp>
        <p:nvSpPr>
          <p:cNvPr id="23" name="Shape 18"/>
          <p:cNvSpPr/>
          <p:nvPr/>
        </p:nvSpPr>
        <p:spPr>
          <a:xfrm>
            <a:off x="5394960" y="3611880"/>
            <a:ext cx="53949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4E5F8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596128" y="371246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5EB8"/>
                </a:solidFill>
              </a:rPr>
              <a:t>Clima y ambiente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7132320" y="3712464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</a:rPr>
              <a:t>investigación geofísica aplicada</a:t>
            </a:r>
            <a:endParaRPr lang="en-US" sz="1220" dirty="0"/>
          </a:p>
        </p:txBody>
      </p:sp>
      <p:sp>
        <p:nvSpPr>
          <p:cNvPr id="26" name="Shape 21"/>
          <p:cNvSpPr/>
          <p:nvPr/>
        </p:nvSpPr>
        <p:spPr>
          <a:xfrm>
            <a:off x="5394960" y="4343400"/>
            <a:ext cx="53949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4E5F8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596128" y="444398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5EB8"/>
                </a:solidFill>
              </a:rPr>
              <a:t>Datos científicos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7132320" y="4443984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</a:rPr>
              <a:t>productos técnicos y servicios de información</a:t>
            </a:r>
            <a:endParaRPr lang="en-US" sz="1220" dirty="0"/>
          </a:p>
        </p:txBody>
      </p:sp>
      <p:sp>
        <p:nvSpPr>
          <p:cNvPr id="29" name="Shape 24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0160">
            <a:solidFill>
              <a:srgbClr val="DDE7F0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594360" y="6601968"/>
            <a:ext cx="10927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Fuente web: Plataforma del Estado Peruano, “Instituto Geofísico del Perú”.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F6C21A"/>
          </a:solidFill>
          <a:ln w="12700">
            <a:solidFill>
              <a:srgbClr val="F6C2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0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Misión, visión y enfoque institucional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868680"/>
            <a:ext cx="10789920" cy="0"/>
          </a:xfrm>
          <a:prstGeom prst="line">
            <a:avLst/>
          </a:prstGeom>
          <a:noFill/>
          <a:ln w="12700">
            <a:solidFill>
              <a:srgbClr val="DDE7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93268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Se presenta una síntesis operativa para el laboratorio, basada en fuentes oficiales disponibles y en el objeto público del IGP.</a:t>
            </a:r>
            <a:endParaRPr lang="en-US" sz="1050" dirty="0"/>
          </a:p>
        </p:txBody>
      </p:sp>
      <p:pic>
        <p:nvPicPr>
          <p:cNvPr id="8" name="Image 0" descr="/mnt/data/75ea8243-f536-4e7d-82c9-725d5d68ca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219456"/>
            <a:ext cx="685800" cy="685800"/>
          </a:xfrm>
          <a:prstGeom prst="rect">
            <a:avLst/>
          </a:prstGeom>
        </p:spPr>
      </p:pic>
      <p:pic>
        <p:nvPicPr>
          <p:cNvPr id="9" name="Image 1" descr="/mnt/data/56774ee4-13b7-4637-a4cb-7c93e8ae34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5364" y="228600"/>
            <a:ext cx="943552" cy="53035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31520" y="123444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051560" y="15361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5EB8"/>
                </a:solidFill>
              </a:rPr>
              <a:t>Misión institucional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051560" y="1965960"/>
            <a:ext cx="452628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F172A"/>
                </a:solidFill>
              </a:rPr>
              <a:t>Realizar investigación científica, estudios y servicios especializados en geofísica, generando información útil para la sociedad y el Estado.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6263640" y="1234440"/>
            <a:ext cx="5029200" cy="1965960"/>
          </a:xfrm>
          <a:prstGeom prst="roundRect">
            <a:avLst>
              <a:gd name="adj" fmla="val 3721"/>
            </a:avLst>
          </a:prstGeom>
          <a:solidFill>
            <a:srgbClr val="FFF9E6"/>
          </a:solidFill>
          <a:ln w="12700">
            <a:solidFill>
              <a:srgbClr val="F4D46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583680" y="15361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6100"/>
                </a:solidFill>
              </a:rPr>
              <a:t>Visión de trabajo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583680" y="1965960"/>
            <a:ext cx="42062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F172A"/>
                </a:solidFill>
              </a:rPr>
              <a:t>Ser un referente nacional en información geofísica oportuna y confiable para investigación, prevención y gestión pública.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822960" y="3657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Nota metodológica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822960" y="4023360"/>
            <a:ext cx="10058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</a:rPr>
              <a:t>Cuando una fuente no detalla literalmente una “visión” vigente, se formula una visión de trabajo para el laboratorio, sin presentarla como cita textual institucional.</a:t>
            </a:r>
            <a:endParaRPr lang="en-US" sz="1450" dirty="0"/>
          </a:p>
        </p:txBody>
      </p:sp>
      <p:sp>
        <p:nvSpPr>
          <p:cNvPr id="18" name="Shape 14"/>
          <p:cNvSpPr/>
          <p:nvPr/>
        </p:nvSpPr>
        <p:spPr>
          <a:xfrm>
            <a:off x="1005840" y="4983480"/>
            <a:ext cx="9966960" cy="0"/>
          </a:xfrm>
          <a:prstGeom prst="line">
            <a:avLst/>
          </a:prstGeom>
          <a:noFill/>
          <a:ln w="15240">
            <a:solidFill>
              <a:srgbClr val="DDE7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097280" y="530352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70432" y="5376672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Investigación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2743200" y="5577840"/>
            <a:ext cx="548640" cy="0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22" name="Shape 18"/>
          <p:cNvSpPr/>
          <p:nvPr/>
        </p:nvSpPr>
        <p:spPr>
          <a:xfrm>
            <a:off x="3291840" y="5303520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364992" y="5376672"/>
            <a:ext cx="1133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Datos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4572000" y="5577840"/>
            <a:ext cx="548640" cy="0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25" name="Shape 21"/>
          <p:cNvSpPr/>
          <p:nvPr/>
        </p:nvSpPr>
        <p:spPr>
          <a:xfrm>
            <a:off x="5120640" y="530352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6455A3"/>
          </a:solidFill>
          <a:ln w="12700">
            <a:solidFill>
              <a:srgbClr val="6455A3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193792" y="5376672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Información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6766560" y="5577840"/>
            <a:ext cx="548640" cy="0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28" name="Shape 24"/>
          <p:cNvSpPr/>
          <p:nvPr/>
        </p:nvSpPr>
        <p:spPr>
          <a:xfrm>
            <a:off x="7315200" y="5303520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F6C21A"/>
          </a:solidFill>
          <a:ln w="12700">
            <a:solidFill>
              <a:srgbClr val="F6C21A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7388352" y="5376672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Decisión pública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9235440" y="5577840"/>
            <a:ext cx="548640" cy="0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31" name="Shape 27"/>
          <p:cNvSpPr/>
          <p:nvPr/>
        </p:nvSpPr>
        <p:spPr>
          <a:xfrm>
            <a:off x="9784080" y="5303520"/>
            <a:ext cx="1508760" cy="548640"/>
          </a:xfrm>
          <a:prstGeom prst="roundRect">
            <a:avLst>
              <a:gd name="adj" fmla="val 13333"/>
            </a:avLst>
          </a:prstGeom>
          <a:solidFill>
            <a:srgbClr val="003B80"/>
          </a:solidFill>
          <a:ln w="12700">
            <a:solidFill>
              <a:srgbClr val="003B80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9857232" y="5376672"/>
            <a:ext cx="1362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Valor social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0160">
            <a:solidFill>
              <a:srgbClr val="DDE7F0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594360" y="6601968"/>
            <a:ext cx="10927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Fuentes: gob.pe / IGP; MINAM; material del curso sobre proceso, salida y valor agregado.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F6C21A"/>
          </a:solidFill>
          <a:ln w="12700">
            <a:solidFill>
              <a:srgbClr val="F6C2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0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Organigrama básico propuesto del IGP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868680"/>
            <a:ext cx="10789920" cy="0"/>
          </a:xfrm>
          <a:prstGeom prst="line">
            <a:avLst/>
          </a:prstGeom>
          <a:noFill/>
          <a:ln w="12700">
            <a:solidFill>
              <a:srgbClr val="DDE7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93268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Estructura simplificada para fines académicos; no reemplaza el organigrama oficial vigente de la entidad.</a:t>
            </a:r>
            <a:endParaRPr lang="en-US" sz="1050" dirty="0"/>
          </a:p>
        </p:txBody>
      </p:sp>
      <p:pic>
        <p:nvPicPr>
          <p:cNvPr id="8" name="Image 0" descr="/mnt/data/75ea8243-f536-4e7d-82c9-725d5d68ca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219456"/>
            <a:ext cx="685800" cy="685800"/>
          </a:xfrm>
          <a:prstGeom prst="rect">
            <a:avLst/>
          </a:prstGeom>
        </p:spPr>
      </p:pic>
      <p:pic>
        <p:nvPicPr>
          <p:cNvPr id="9" name="Image 1" descr="/mnt/data/56774ee4-13b7-4637-a4cb-7c93e8ae34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5364" y="228600"/>
            <a:ext cx="943552" cy="53035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709160" y="1234440"/>
            <a:ext cx="2743200" cy="594360"/>
          </a:xfrm>
          <a:prstGeom prst="roundRect">
            <a:avLst>
              <a:gd name="adj" fmla="val 12308"/>
            </a:avLst>
          </a:prstGeom>
          <a:solidFill>
            <a:srgbClr val="003B80"/>
          </a:solidFill>
          <a:ln w="12700">
            <a:solidFill>
              <a:srgbClr val="003B8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782312" y="1307592"/>
            <a:ext cx="25968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Presidencia ejecutiva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/ Alta dirección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892040" y="233172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965192" y="2404872"/>
            <a:ext cx="22311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Gerencia general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1645920" y="3337560"/>
            <a:ext cx="2743200" cy="621792"/>
          </a:xfrm>
          <a:prstGeom prst="roundRect">
            <a:avLst>
              <a:gd name="adj" fmla="val 11765"/>
            </a:avLst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719072" y="3410712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Órganos de asesoramiento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y apoyo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709160" y="3337560"/>
            <a:ext cx="2743200" cy="621792"/>
          </a:xfrm>
          <a:prstGeom prst="roundRect">
            <a:avLst>
              <a:gd name="adj" fmla="val 11765"/>
            </a:avLst>
          </a:prstGeom>
          <a:solidFill>
            <a:srgbClr val="6455A3"/>
          </a:solidFill>
          <a:ln w="12700">
            <a:solidFill>
              <a:srgbClr val="6455A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782312" y="3410712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Órganos de línea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Investigación y servicios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7818120" y="3337560"/>
            <a:ext cx="2743200" cy="621792"/>
          </a:xfrm>
          <a:prstGeom prst="roundRect">
            <a:avLst>
              <a:gd name="adj" fmla="val 11765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891272" y="3410712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Órganos desconcentrados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y observatorios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1508760" y="4434840"/>
            <a:ext cx="3017520" cy="685800"/>
          </a:xfrm>
          <a:prstGeom prst="roundRect">
            <a:avLst>
              <a:gd name="adj" fmla="val 10667"/>
            </a:avLst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581912" y="4507992"/>
            <a:ext cx="287121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Planeamiento, presupuesto,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administración, TI, logística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617720" y="4434840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6455A3"/>
          </a:solidFill>
          <a:ln w="12700">
            <a:solidFill>
              <a:srgbClr val="6455A3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690872" y="4507992"/>
            <a:ext cx="277977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Sismología, volcanología,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ambiente, datos geofísicos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7909560" y="4434840"/>
            <a:ext cx="2651760" cy="685800"/>
          </a:xfrm>
          <a:prstGeom prst="roundRect">
            <a:avLst>
              <a:gd name="adj" fmla="val 10667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982712" y="4507992"/>
            <a:ext cx="250545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Redes de observación,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estaciones y sedes técnicas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868680" y="565099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Uso en el proyecto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868680" y="5961888"/>
            <a:ext cx="10149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</a:rPr>
              <a:t>Permite ubicar roles del proceso: investigador/locador, revisor técnico, responsable de conformidad y áreas administrativas.</a:t>
            </a:r>
            <a:endParaRPr lang="en-US" sz="1220" dirty="0"/>
          </a:p>
        </p:txBody>
      </p:sp>
      <p:sp>
        <p:nvSpPr>
          <p:cNvPr id="28" name="Shape 24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0160">
            <a:solidFill>
              <a:srgbClr val="DDE7F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94360" y="6601968"/>
            <a:ext cx="10927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Fuentes: Portal de transparencia / IGP; material Organización de la Empresa.pdf sobre estructura, coordinación y organigramas.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F6C21A"/>
          </a:solidFill>
          <a:ln w="12700">
            <a:solidFill>
              <a:srgbClr val="F6C2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0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Importancia de la gestión de procesos en una entidad pública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868680"/>
            <a:ext cx="10789920" cy="0"/>
          </a:xfrm>
          <a:prstGeom prst="line">
            <a:avLst/>
          </a:prstGeom>
          <a:noFill/>
          <a:ln w="12700">
            <a:solidFill>
              <a:srgbClr val="DDE7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93268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La gestión por procesos convierte actividades dispersas en servicios trazables, medibles y mejorables.</a:t>
            </a:r>
            <a:endParaRPr lang="en-US" sz="1050" dirty="0"/>
          </a:p>
        </p:txBody>
      </p:sp>
      <p:pic>
        <p:nvPicPr>
          <p:cNvPr id="8" name="Image 0" descr="/mnt/data/75ea8243-f536-4e7d-82c9-725d5d68ca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219456"/>
            <a:ext cx="685800" cy="685800"/>
          </a:xfrm>
          <a:prstGeom prst="rect">
            <a:avLst/>
          </a:prstGeom>
        </p:spPr>
      </p:pic>
      <p:pic>
        <p:nvPicPr>
          <p:cNvPr id="9" name="Image 1" descr="/mnt/data/56774ee4-13b7-4637-a4cb-7c93e8ae34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5364" y="228600"/>
            <a:ext cx="943552" cy="53035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77240" y="1417320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941832" y="1581912"/>
            <a:ext cx="384048" cy="384048"/>
          </a:xfrm>
          <a:prstGeom prst="ellipse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941832" y="167335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435608" y="15819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Transparencia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35608" y="1920240"/>
            <a:ext cx="23774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Registra quién hace qué, cuándo y con qué documento.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526280" y="1417320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690872" y="1581912"/>
            <a:ext cx="384048" cy="384048"/>
          </a:xfrm>
          <a:prstGeom prst="ellipse">
            <a:avLst/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690872" y="167335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5184648" y="15819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Eficiencia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184648" y="1920240"/>
            <a:ext cx="23774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Reduce reprocesos, esperas y pasos sin valor agregado.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8275320" y="1417320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439912" y="1581912"/>
            <a:ext cx="384048" cy="384048"/>
          </a:xfrm>
          <a:prstGeom prst="ellipse">
            <a:avLst/>
          </a:prstGeom>
          <a:solidFill>
            <a:srgbClr val="6455A3"/>
          </a:solidFill>
          <a:ln w="12700">
            <a:solidFill>
              <a:srgbClr val="6455A3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439912" y="167335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8933688" y="15819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Trazabilidad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8933688" y="1920240"/>
            <a:ext cx="23774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Permite seguir expedientes, estados y responsables.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2651760" y="3886200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2816352" y="4050792"/>
            <a:ext cx="384048" cy="384048"/>
          </a:xfrm>
          <a:prstGeom prst="ellipse">
            <a:avLst/>
          </a:prstGeom>
          <a:solidFill>
            <a:srgbClr val="F6C21A"/>
          </a:solidFill>
          <a:ln w="12700">
            <a:solidFill>
              <a:srgbClr val="F6C21A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2816352" y="414223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3310128" y="40507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Control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3310128" y="4389120"/>
            <a:ext cx="23774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Facilita indicadores, evidencias, auditoría y rendición de cuentas.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6400800" y="3886200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6565392" y="4050792"/>
            <a:ext cx="384048" cy="384048"/>
          </a:xfrm>
          <a:prstGeom prst="ellipse">
            <a:avLst/>
          </a:prstGeom>
          <a:solidFill>
            <a:srgbClr val="003B80"/>
          </a:solidFill>
          <a:ln w="12700">
            <a:solidFill>
              <a:srgbClr val="003B80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565392" y="414223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7059168" y="40507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Calidad de servicio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7059168" y="4389120"/>
            <a:ext cx="23774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Alinea procedimientos con necesidades de ciudadanos, usuarios y áreas internas.</a:t>
            </a:r>
            <a:endParaRPr lang="en-US" sz="1050" dirty="0"/>
          </a:p>
        </p:txBody>
      </p:sp>
      <p:sp>
        <p:nvSpPr>
          <p:cNvPr id="35" name="Shape 31"/>
          <p:cNvSpPr/>
          <p:nvPr/>
        </p:nvSpPr>
        <p:spPr>
          <a:xfrm>
            <a:off x="822960" y="3401568"/>
            <a:ext cx="10561320" cy="0"/>
          </a:xfrm>
          <a:prstGeom prst="line">
            <a:avLst/>
          </a:prstGeom>
          <a:noFill/>
          <a:ln w="12700">
            <a:solidFill>
              <a:srgbClr val="DDE7F0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0160">
            <a:solidFill>
              <a:srgbClr val="DDE7F0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594360" y="6601968"/>
            <a:ext cx="10927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Fuentes: Procesos de Negocio.pdf; Sílabus DGPO 2026-B; Manual de Procesos IGP disponible en el portal institucional.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F6C21A"/>
          </a:solidFill>
          <a:ln w="12700">
            <a:solidFill>
              <a:srgbClr val="F6C2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0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IGP 1: Mesa de Partes Virtual y seguimiento de expedientes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868680"/>
            <a:ext cx="10789920" cy="0"/>
          </a:xfrm>
          <a:prstGeom prst="line">
            <a:avLst/>
          </a:prstGeom>
          <a:noFill/>
          <a:ln w="12700">
            <a:solidFill>
              <a:srgbClr val="DDE7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93268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Ejemplo real de proceso digital que registra documentos, genera expediente y permite consultar estados.</a:t>
            </a:r>
            <a:endParaRPr lang="en-US" sz="1050" dirty="0"/>
          </a:p>
        </p:txBody>
      </p:sp>
      <p:pic>
        <p:nvPicPr>
          <p:cNvPr id="8" name="Image 0" descr="/mnt/data/75ea8243-f536-4e7d-82c9-725d5d68ca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219456"/>
            <a:ext cx="685800" cy="685800"/>
          </a:xfrm>
          <a:prstGeom prst="rect">
            <a:avLst/>
          </a:prstGeom>
        </p:spPr>
      </p:pic>
      <p:pic>
        <p:nvPicPr>
          <p:cNvPr id="9" name="Image 1" descr="/mnt/data/56774ee4-13b7-4637-a4cb-7c93e8ae34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5364" y="228600"/>
            <a:ext cx="943552" cy="530352"/>
          </a:xfrm>
          <a:prstGeom prst="rect">
            <a:avLst/>
          </a:prstGeom>
        </p:spPr>
      </p:pic>
      <p:pic>
        <p:nvPicPr>
          <p:cNvPr id="10" name="Image 2" descr="/mnt/data/d451ba8f-916c-426e-acb6-2c2adbe6e8b0.png">    </p:cNvPr>
          <p:cNvPicPr>
            <a:picLocks noChangeAspect="1"/>
          </p:cNvPicPr>
          <p:nvPr/>
        </p:nvPicPr>
        <p:blipFill>
          <a:blip r:embed="rId3"/>
          <a:srcRect l="782" r="782" t="0" b="0"/>
          <a:stretch/>
        </p:blipFill>
        <p:spPr>
          <a:xfrm>
            <a:off x="731520" y="1325880"/>
            <a:ext cx="5166360" cy="2926080"/>
          </a:xfrm>
          <a:prstGeom prst="rect">
            <a:avLst/>
          </a:prstGeom>
        </p:spPr>
      </p:pic>
      <p:pic>
        <p:nvPicPr>
          <p:cNvPr id="11" name="Image 3" descr="/mnt/data/81d27562-7f89-4821-a51b-89c1d149653f.png">    </p:cNvPr>
          <p:cNvPicPr>
            <a:picLocks noChangeAspect="1"/>
          </p:cNvPicPr>
          <p:nvPr/>
        </p:nvPicPr>
        <p:blipFill>
          <a:blip r:embed="rId4"/>
          <a:srcRect l="999" r="999" t="0" b="0"/>
          <a:stretch/>
        </p:blipFill>
        <p:spPr>
          <a:xfrm>
            <a:off x="6172200" y="1325880"/>
            <a:ext cx="5212080" cy="292608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777240" y="4526280"/>
            <a:ext cx="10607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1051560" y="46817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EB8"/>
                </a:solidFill>
              </a:rPr>
              <a:t>Lectura del proceso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1051560" y="5010912"/>
            <a:ext cx="10012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0F172A"/>
                </a:solidFill>
              </a:rPr>
              <a:t>Entrada: documento principal y anexos. Actividad: registro y derivación. Salida: expediente/trámite con estado consultable. Control: trazabilidad por fecha, número y oficina en atención.</a:t>
            </a:r>
            <a:endParaRPr lang="en-US" sz="1280" dirty="0"/>
          </a:p>
        </p:txBody>
      </p:sp>
      <p:sp>
        <p:nvSpPr>
          <p:cNvPr id="15" name="Text 9"/>
          <p:cNvSpPr/>
          <p:nvPr/>
        </p:nvSpPr>
        <p:spPr>
          <a:xfrm>
            <a:off x="1051560" y="537667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Evidencia: captura de uso del integrante Jhon G. Villanueva; el Manual de Procesos IGP reconoce las Mesas de Partes como medio oficial.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0160">
            <a:solidFill>
              <a:srgbClr val="DDE7F0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594360" y="6601968"/>
            <a:ext cx="10927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Fuentes: Capturas proporcionadas por el integrante; Manual de Procesos del IGP; portal IGP Mesa de Partes Virtual.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F6C21A"/>
          </a:solidFill>
          <a:ln w="12700">
            <a:solidFill>
              <a:srgbClr val="F6C2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0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IGP 2: entregables de locadores de servicios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868680"/>
            <a:ext cx="10789920" cy="0"/>
          </a:xfrm>
          <a:prstGeom prst="line">
            <a:avLst/>
          </a:prstGeom>
          <a:noFill/>
          <a:ln w="12700">
            <a:solidFill>
              <a:srgbClr val="DDE7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93268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Se distingue la experiencia directa del integrante de la información oficial verificable.</a:t>
            </a:r>
            <a:endParaRPr lang="en-US" sz="1050" dirty="0"/>
          </a:p>
        </p:txBody>
      </p:sp>
      <p:pic>
        <p:nvPicPr>
          <p:cNvPr id="8" name="Image 0" descr="/mnt/data/75ea8243-f536-4e7d-82c9-725d5d68ca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219456"/>
            <a:ext cx="685800" cy="685800"/>
          </a:xfrm>
          <a:prstGeom prst="rect">
            <a:avLst/>
          </a:prstGeom>
        </p:spPr>
      </p:pic>
      <p:pic>
        <p:nvPicPr>
          <p:cNvPr id="9" name="Image 1" descr="/mnt/data/56774ee4-13b7-4637-a4cb-7c93e8ae34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5364" y="228600"/>
            <a:ext cx="943552" cy="53035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194560" y="2212848"/>
            <a:ext cx="329184" cy="0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1" name="Shape 7"/>
          <p:cNvSpPr/>
          <p:nvPr/>
        </p:nvSpPr>
        <p:spPr>
          <a:xfrm>
            <a:off x="3941064" y="2212848"/>
            <a:ext cx="329184" cy="0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5687568" y="2212848"/>
            <a:ext cx="329184" cy="0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7434072" y="2212848"/>
            <a:ext cx="329184" cy="0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9180576" y="2212848"/>
            <a:ext cx="329184" cy="0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777240" y="1920240"/>
            <a:ext cx="1417320" cy="594360"/>
          </a:xfrm>
          <a:prstGeom prst="roundRect">
            <a:avLst>
              <a:gd name="adj" fmla="val 12308"/>
            </a:avLst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50392" y="1993392"/>
            <a:ext cx="12710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Informe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2523744" y="1920240"/>
            <a:ext cx="1417320" cy="594360"/>
          </a:xfrm>
          <a:prstGeom prst="roundRect">
            <a:avLst>
              <a:gd name="adj" fmla="val 12308"/>
            </a:avLst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596896" y="1993392"/>
            <a:ext cx="12710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V.B. técnico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270248" y="1920240"/>
            <a:ext cx="1417320" cy="594360"/>
          </a:xfrm>
          <a:prstGeom prst="roundRect">
            <a:avLst>
              <a:gd name="adj" fmla="val 12308"/>
            </a:avLst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343400" y="1993392"/>
            <a:ext cx="12710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Registro MPV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016752" y="1920240"/>
            <a:ext cx="1417320" cy="594360"/>
          </a:xfrm>
          <a:prstGeom prst="roundRect">
            <a:avLst>
              <a:gd name="adj" fmla="val 12308"/>
            </a:avLst>
          </a:prstGeom>
          <a:solidFill>
            <a:srgbClr val="6455A3"/>
          </a:solidFill>
          <a:ln w="12700">
            <a:solidFill>
              <a:srgbClr val="6455A3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089904" y="1993392"/>
            <a:ext cx="12710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Expediente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7763256" y="1920240"/>
            <a:ext cx="1417320" cy="594360"/>
          </a:xfrm>
          <a:prstGeom prst="roundRect">
            <a:avLst>
              <a:gd name="adj" fmla="val 12308"/>
            </a:avLst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836408" y="1993392"/>
            <a:ext cx="12710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Conformidad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9509760" y="1920240"/>
            <a:ext cx="1417320" cy="594360"/>
          </a:xfrm>
          <a:prstGeom prst="roundRect">
            <a:avLst>
              <a:gd name="adj" fmla="val 12308"/>
            </a:avLst>
          </a:prstGeom>
          <a:solidFill>
            <a:srgbClr val="003B80"/>
          </a:solidFill>
          <a:ln w="12700">
            <a:solidFill>
              <a:srgbClr val="003B8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9582912" y="1993392"/>
            <a:ext cx="12710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Derivación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777240" y="3063240"/>
            <a:ext cx="52120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1078992" y="3337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Documentos del trámite</a:t>
            </a: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>
            <a:off x="1060704" y="3767328"/>
            <a:ext cx="109728" cy="109728"/>
          </a:xfrm>
          <a:prstGeom prst="ellipse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261872" y="370332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Informe como documento principal</a:t>
            </a:r>
            <a:endParaRPr lang="en-US" sz="1250" dirty="0"/>
          </a:p>
        </p:txBody>
      </p:sp>
      <p:sp>
        <p:nvSpPr>
          <p:cNvPr id="31" name="Shape 27"/>
          <p:cNvSpPr/>
          <p:nvPr/>
        </p:nvSpPr>
        <p:spPr>
          <a:xfrm>
            <a:off x="1060704" y="4114800"/>
            <a:ext cx="109728" cy="109728"/>
          </a:xfrm>
          <a:prstGeom prst="ellipse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261872" y="405079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Orden de servicio</a:t>
            </a:r>
            <a:endParaRPr lang="en-US" sz="1250" dirty="0"/>
          </a:p>
        </p:txBody>
      </p:sp>
      <p:sp>
        <p:nvSpPr>
          <p:cNvPr id="33" name="Shape 29"/>
          <p:cNvSpPr/>
          <p:nvPr/>
        </p:nvSpPr>
        <p:spPr>
          <a:xfrm>
            <a:off x="1060704" y="4462272"/>
            <a:ext cx="109728" cy="109728"/>
          </a:xfrm>
          <a:prstGeom prst="ellipse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261872" y="4398264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Recibo por honorarios</a:t>
            </a:r>
            <a:endParaRPr lang="en-US" sz="1250" dirty="0"/>
          </a:p>
        </p:txBody>
      </p:sp>
      <p:sp>
        <p:nvSpPr>
          <p:cNvPr id="35" name="Shape 31"/>
          <p:cNvSpPr/>
          <p:nvPr/>
        </p:nvSpPr>
        <p:spPr>
          <a:xfrm>
            <a:off x="1060704" y="4809744"/>
            <a:ext cx="109728" cy="109728"/>
          </a:xfrm>
          <a:prstGeom prst="ellipse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1261872" y="4745736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Suspensión de cuarta categoría, cuando corresponde</a:t>
            </a:r>
            <a:endParaRPr lang="en-US" sz="1250" dirty="0"/>
          </a:p>
        </p:txBody>
      </p:sp>
      <p:sp>
        <p:nvSpPr>
          <p:cNvPr id="37" name="Shape 33"/>
          <p:cNvSpPr/>
          <p:nvPr/>
        </p:nvSpPr>
        <p:spPr>
          <a:xfrm>
            <a:off x="6263640" y="3063240"/>
            <a:ext cx="5074920" cy="2286000"/>
          </a:xfrm>
          <a:prstGeom prst="roundRect">
            <a:avLst>
              <a:gd name="adj" fmla="val 3200"/>
            </a:avLst>
          </a:prstGeom>
          <a:solidFill>
            <a:srgbClr val="FFF9E6"/>
          </a:solidFill>
          <a:ln w="12700">
            <a:solidFill>
              <a:srgbClr val="F4D46E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6565392" y="333756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6100"/>
                </a:solidFill>
              </a:rPr>
              <a:t>Reglas observadas por experiencia</a:t>
            </a:r>
            <a:endParaRPr lang="en-US" sz="1600" dirty="0"/>
          </a:p>
        </p:txBody>
      </p:sp>
      <p:sp>
        <p:nvSpPr>
          <p:cNvPr id="39" name="Shape 35"/>
          <p:cNvSpPr/>
          <p:nvPr/>
        </p:nvSpPr>
        <p:spPr>
          <a:xfrm>
            <a:off x="6547104" y="3767328"/>
            <a:ext cx="109728" cy="109728"/>
          </a:xfrm>
          <a:prstGeom prst="ellipse">
            <a:avLst/>
          </a:prstGeom>
          <a:solidFill>
            <a:srgbClr val="F6C21A"/>
          </a:solidFill>
          <a:ln w="12700">
            <a:solidFill>
              <a:srgbClr val="F6C21A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6748272" y="370332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El producto debe cumplir lo requerido para obtener V.B.</a:t>
            </a:r>
            <a:endParaRPr lang="en-US" sz="1220" dirty="0"/>
          </a:p>
        </p:txBody>
      </p:sp>
      <p:sp>
        <p:nvSpPr>
          <p:cNvPr id="41" name="Shape 37"/>
          <p:cNvSpPr/>
          <p:nvPr/>
        </p:nvSpPr>
        <p:spPr>
          <a:xfrm>
            <a:off x="6547104" y="4178808"/>
            <a:ext cx="109728" cy="109728"/>
          </a:xfrm>
          <a:prstGeom prst="ellipse">
            <a:avLst/>
          </a:prstGeom>
          <a:solidFill>
            <a:srgbClr val="F6C21A"/>
          </a:solidFill>
          <a:ln w="12700">
            <a:solidFill>
              <a:srgbClr val="F6C21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6748272" y="411480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La presentación fuera de plazo puede activar penalidad contractual.</a:t>
            </a:r>
            <a:endParaRPr lang="en-US" sz="1220" dirty="0"/>
          </a:p>
        </p:txBody>
      </p:sp>
      <p:sp>
        <p:nvSpPr>
          <p:cNvPr id="43" name="Shape 39"/>
          <p:cNvSpPr/>
          <p:nvPr/>
        </p:nvSpPr>
        <p:spPr>
          <a:xfrm>
            <a:off x="6547104" y="4590288"/>
            <a:ext cx="109728" cy="109728"/>
          </a:xfrm>
          <a:prstGeom prst="ellipse">
            <a:avLst/>
          </a:prstGeom>
          <a:solidFill>
            <a:srgbClr val="F6C21A"/>
          </a:solidFill>
          <a:ln w="12700">
            <a:solidFill>
              <a:srgbClr val="F6C21A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6748272" y="45262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La etapa administrativa posterior debe verificarse con documentación del caso.</a:t>
            </a:r>
            <a:endParaRPr lang="en-US" sz="1220" dirty="0"/>
          </a:p>
        </p:txBody>
      </p:sp>
      <p:sp>
        <p:nvSpPr>
          <p:cNvPr id="45" name="Text 41"/>
          <p:cNvSpPr/>
          <p:nvPr/>
        </p:nvSpPr>
        <p:spPr>
          <a:xfrm>
            <a:off x="868680" y="5715000"/>
            <a:ext cx="10287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Nota: esta diapositiva no afirma reglas internas no documentadas; marca la experiencia como insumo para el levantamiento AS-IS.</a:t>
            </a:r>
            <a:endParaRPr lang="en-US" sz="1150" dirty="0"/>
          </a:p>
        </p:txBody>
      </p:sp>
      <p:sp>
        <p:nvSpPr>
          <p:cNvPr id="46" name="Shape 42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0160">
            <a:solidFill>
              <a:srgbClr val="DDE7F0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94360" y="6601968"/>
            <a:ext cx="10927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Fuentes: experiencia directa del integrante Jhon Gesell Villanueva Portella; Mesa de Partes Virtual IGP; futuras validaciones del proceso.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F6C21A"/>
          </a:solidFill>
          <a:ln w="12700">
            <a:solidFill>
              <a:srgbClr val="F6C2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0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IGP 3: adquisición de bienes mediante Perú Compras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868680"/>
            <a:ext cx="10789920" cy="0"/>
          </a:xfrm>
          <a:prstGeom prst="line">
            <a:avLst/>
          </a:prstGeom>
          <a:noFill/>
          <a:ln w="12700">
            <a:solidFill>
              <a:srgbClr val="DDE7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93268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Para comprar equipos informáticos no basta preferir hardware potente: se requiere adecuación a fichas-producto, catálogo, presupuesto y reglas públicas.</a:t>
            </a:r>
            <a:endParaRPr lang="en-US" sz="1050" dirty="0"/>
          </a:p>
        </p:txBody>
      </p:sp>
      <p:pic>
        <p:nvPicPr>
          <p:cNvPr id="8" name="Image 0" descr="/mnt/data/75ea8243-f536-4e7d-82c9-725d5d68ca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219456"/>
            <a:ext cx="685800" cy="685800"/>
          </a:xfrm>
          <a:prstGeom prst="rect">
            <a:avLst/>
          </a:prstGeom>
        </p:spPr>
      </p:pic>
      <p:pic>
        <p:nvPicPr>
          <p:cNvPr id="9" name="Image 1" descr="/mnt/data/56774ee4-13b7-4637-a4cb-7c93e8ae34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5364" y="228600"/>
            <a:ext cx="943552" cy="530352"/>
          </a:xfrm>
          <a:prstGeom prst="rect">
            <a:avLst/>
          </a:prstGeom>
        </p:spPr>
      </p:pic>
      <p:pic>
        <p:nvPicPr>
          <p:cNvPr id="10" name="Image 2" descr="/mnt/data/8e1a533b-00bd-4cef-9ea2-c657e2a0f4ab.png">    </p:cNvPr>
          <p:cNvPicPr>
            <a:picLocks noChangeAspect="1"/>
          </p:cNvPicPr>
          <p:nvPr/>
        </p:nvPicPr>
        <p:blipFill>
          <a:blip r:embed="rId3"/>
          <a:srcRect l="7356" r="7356" t="0" b="0"/>
          <a:stretch/>
        </p:blipFill>
        <p:spPr>
          <a:xfrm>
            <a:off x="685800" y="1234440"/>
            <a:ext cx="5257800" cy="333756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263640" y="1234440"/>
            <a:ext cx="507492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65392" y="1508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Lectura del proceso</a:t>
            </a:r>
            <a:endParaRPr lang="en-US" sz="1700" dirty="0"/>
          </a:p>
        </p:txBody>
      </p:sp>
      <p:sp>
        <p:nvSpPr>
          <p:cNvPr id="13" name="Shape 8"/>
          <p:cNvSpPr/>
          <p:nvPr/>
        </p:nvSpPr>
        <p:spPr>
          <a:xfrm>
            <a:off x="6565392" y="1965960"/>
            <a:ext cx="109728" cy="109728"/>
          </a:xfrm>
          <a:prstGeom prst="ellipse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766560" y="190195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Identificación de necesidad técnica.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565392" y="2404872"/>
            <a:ext cx="109728" cy="109728"/>
          </a:xfrm>
          <a:prstGeom prst="ellipse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766560" y="234086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Búsqueda en Catálogos Electrónicos.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565392" y="2843784"/>
            <a:ext cx="109728" cy="109728"/>
          </a:xfrm>
          <a:prstGeom prst="ellipse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766560" y="277977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Selección de ficha-producto disponible.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565392" y="3282696"/>
            <a:ext cx="109728" cy="109728"/>
          </a:xfrm>
          <a:prstGeom prst="ellipse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766560" y="321868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Validación presupuestal y contratación.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565392" y="3721608"/>
            <a:ext cx="109728" cy="109728"/>
          </a:xfrm>
          <a:prstGeom prst="ellipse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766560" y="36576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Recepción, conformidad y control.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822960" y="50749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475569"/>
                </a:solidFill>
              </a:rPr>
              <a:t>El buscador público registra acuerdos marco vigentes; el acuerdo EXT-CE-2022-5 corresponde a computadoras de escritorio, portátiles y escáneres.</a:t>
            </a:r>
            <a:endParaRPr lang="en-US" sz="1320" dirty="0"/>
          </a:p>
        </p:txBody>
      </p:sp>
      <p:sp>
        <p:nvSpPr>
          <p:cNvPr id="24" name="Shape 19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0160">
            <a:solidFill>
              <a:srgbClr val="DDE7F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94360" y="6601968"/>
            <a:ext cx="10927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Fuentes: CEAM - Perú Compras; Perú Compras, Catálogos Electrónicos como método especial de contratación.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F6C21A"/>
          </a:solidFill>
          <a:ln w="12700">
            <a:solidFill>
              <a:srgbClr val="F6C2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0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Cinco ejemplos de adecuada gestión de procesos en entidades públicas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868680"/>
            <a:ext cx="10789920" cy="0"/>
          </a:xfrm>
          <a:prstGeom prst="line">
            <a:avLst/>
          </a:prstGeom>
          <a:noFill/>
          <a:ln w="12700">
            <a:solidFill>
              <a:srgbClr val="DDE7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93268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Ejemplos verificables y útiles para explicar digitalización, trazabilidad, control y mejora.</a:t>
            </a:r>
            <a:endParaRPr lang="en-US" sz="1050" dirty="0"/>
          </a:p>
        </p:txBody>
      </p:sp>
      <p:pic>
        <p:nvPicPr>
          <p:cNvPr id="8" name="Image 0" descr="/mnt/data/75ea8243-f536-4e7d-82c9-725d5d68ca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219456"/>
            <a:ext cx="685800" cy="685800"/>
          </a:xfrm>
          <a:prstGeom prst="rect">
            <a:avLst/>
          </a:prstGeom>
        </p:spPr>
      </p:pic>
      <p:pic>
        <p:nvPicPr>
          <p:cNvPr id="9" name="Image 1" descr="/mnt/data/56774ee4-13b7-4637-a4cb-7c93e8ae34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5364" y="228600"/>
            <a:ext cx="943552" cy="53035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31520" y="1280160"/>
            <a:ext cx="33375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68680" y="142646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EB8"/>
                </a:solidFill>
              </a:rPr>
              <a:t>1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261872" y="142646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IGP: Mesa de Partes Virtual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261872" y="19202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</a:rPr>
              <a:t>Registro digital de documentos y seguimiento de expedientes.</a:t>
            </a:r>
            <a:endParaRPr lang="en-US" sz="1120" dirty="0"/>
          </a:p>
        </p:txBody>
      </p:sp>
      <p:sp>
        <p:nvSpPr>
          <p:cNvPr id="14" name="Shape 10"/>
          <p:cNvSpPr/>
          <p:nvPr/>
        </p:nvSpPr>
        <p:spPr>
          <a:xfrm>
            <a:off x="1261872" y="2578608"/>
            <a:ext cx="2286000" cy="320040"/>
          </a:xfrm>
          <a:prstGeom prst="roundRect">
            <a:avLst>
              <a:gd name="adj" fmla="val 22857"/>
            </a:avLst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335024" y="2647188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IGP / Manual de Procesos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553712" y="1280160"/>
            <a:ext cx="33375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690872" y="142646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66"/>
                </a:solidFill>
              </a:rPr>
              <a:t>2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5084064" y="142646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IGP: entregables por expediente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5084064" y="19202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</a:rPr>
              <a:t>Control de informes, anexos, V.B. y derivación administrativa.</a:t>
            </a:r>
            <a:endParaRPr lang="en-US" sz="1120" dirty="0"/>
          </a:p>
        </p:txBody>
      </p:sp>
      <p:sp>
        <p:nvSpPr>
          <p:cNvPr id="20" name="Shape 16"/>
          <p:cNvSpPr/>
          <p:nvPr/>
        </p:nvSpPr>
        <p:spPr>
          <a:xfrm>
            <a:off x="5084064" y="2578608"/>
            <a:ext cx="2286000" cy="320040"/>
          </a:xfrm>
          <a:prstGeom prst="roundRect">
            <a:avLst>
              <a:gd name="adj" fmla="val 22857"/>
            </a:avLst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57216" y="2647188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Experiencia del integrante + MPV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8375904" y="1280160"/>
            <a:ext cx="33375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513064" y="142646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55A3"/>
                </a:solidFill>
              </a:rPr>
              <a:t>3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8906256" y="142646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Perú Compras: CEAM</a:t>
            </a:r>
            <a:endParaRPr lang="en-US" sz="1350" dirty="0"/>
          </a:p>
        </p:txBody>
      </p:sp>
      <p:sp>
        <p:nvSpPr>
          <p:cNvPr id="25" name="Text 21"/>
          <p:cNvSpPr/>
          <p:nvPr/>
        </p:nvSpPr>
        <p:spPr>
          <a:xfrm>
            <a:off x="8906256" y="19202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</a:rPr>
              <a:t>Catálogos Electrónicos y fichas-producto para compras públicas.</a:t>
            </a:r>
            <a:endParaRPr lang="en-US" sz="1120" dirty="0"/>
          </a:p>
        </p:txBody>
      </p:sp>
      <p:sp>
        <p:nvSpPr>
          <p:cNvPr id="26" name="Shape 22"/>
          <p:cNvSpPr/>
          <p:nvPr/>
        </p:nvSpPr>
        <p:spPr>
          <a:xfrm>
            <a:off x="8906256" y="2578608"/>
            <a:ext cx="2286000" cy="320040"/>
          </a:xfrm>
          <a:prstGeom prst="roundRect">
            <a:avLst>
              <a:gd name="adj" fmla="val 22857"/>
            </a:avLst>
          </a:prstGeom>
          <a:solidFill>
            <a:srgbClr val="6455A3"/>
          </a:solidFill>
          <a:ln w="12700">
            <a:solidFill>
              <a:srgbClr val="6455A3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979408" y="2647188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Perú Compras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2651760" y="3931920"/>
            <a:ext cx="33375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788920" y="407822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C21A"/>
                </a:solidFill>
              </a:rPr>
              <a:t>4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3182112" y="40782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UNAC: mapa de procesos</a:t>
            </a:r>
            <a:endParaRPr lang="en-US" sz="1350" dirty="0"/>
          </a:p>
        </p:txBody>
      </p:sp>
      <p:sp>
        <p:nvSpPr>
          <p:cNvPr id="31" name="Text 27"/>
          <p:cNvSpPr/>
          <p:nvPr/>
        </p:nvSpPr>
        <p:spPr>
          <a:xfrm>
            <a:off x="3182112" y="45720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</a:rPr>
              <a:t>Documento oficial con mapa de procesos institucionales.</a:t>
            </a:r>
            <a:endParaRPr lang="en-US" sz="1120" dirty="0"/>
          </a:p>
        </p:txBody>
      </p:sp>
      <p:sp>
        <p:nvSpPr>
          <p:cNvPr id="32" name="Shape 28"/>
          <p:cNvSpPr/>
          <p:nvPr/>
        </p:nvSpPr>
        <p:spPr>
          <a:xfrm>
            <a:off x="3182112" y="5230368"/>
            <a:ext cx="2286000" cy="320040"/>
          </a:xfrm>
          <a:prstGeom prst="roundRect">
            <a:avLst>
              <a:gd name="adj" fmla="val 22857"/>
            </a:avLst>
          </a:prstGeom>
          <a:solidFill>
            <a:srgbClr val="F6C21A"/>
          </a:solidFill>
          <a:ln w="12700">
            <a:solidFill>
              <a:srgbClr val="F6C21A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3255264" y="5298948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UNAC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6473952" y="3931920"/>
            <a:ext cx="33375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611112" y="407822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B80"/>
                </a:solidFill>
              </a:rPr>
              <a:t>5</a:t>
            </a:r>
            <a:endParaRPr lang="en-US" sz="1600" dirty="0"/>
          </a:p>
        </p:txBody>
      </p:sp>
      <p:sp>
        <p:nvSpPr>
          <p:cNvPr id="36" name="Text 32"/>
          <p:cNvSpPr/>
          <p:nvPr/>
        </p:nvSpPr>
        <p:spPr>
          <a:xfrm>
            <a:off x="7004304" y="40782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IGP: retroalimentación al cliente</a:t>
            </a:r>
            <a:endParaRPr lang="en-US" sz="1350" dirty="0"/>
          </a:p>
        </p:txBody>
      </p:sp>
      <p:sp>
        <p:nvSpPr>
          <p:cNvPr id="37" name="Text 33"/>
          <p:cNvSpPr/>
          <p:nvPr/>
        </p:nvSpPr>
        <p:spPr>
          <a:xfrm>
            <a:off x="7004304" y="45720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</a:rPr>
              <a:t>Procedimiento formal para quejas, reclamos y seguimiento.</a:t>
            </a:r>
            <a:endParaRPr lang="en-US" sz="1120" dirty="0"/>
          </a:p>
        </p:txBody>
      </p:sp>
      <p:sp>
        <p:nvSpPr>
          <p:cNvPr id="38" name="Shape 34"/>
          <p:cNvSpPr/>
          <p:nvPr/>
        </p:nvSpPr>
        <p:spPr>
          <a:xfrm>
            <a:off x="7004304" y="5230368"/>
            <a:ext cx="2286000" cy="320040"/>
          </a:xfrm>
          <a:prstGeom prst="roundRect">
            <a:avLst>
              <a:gd name="adj" fmla="val 22857"/>
            </a:avLst>
          </a:prstGeom>
          <a:solidFill>
            <a:srgbClr val="003B80"/>
          </a:solidFill>
          <a:ln w="12700">
            <a:solidFill>
              <a:srgbClr val="003B8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7077456" y="5298948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Manual de Procesos IGP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0160">
            <a:solidFill>
              <a:srgbClr val="DDE7F0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94360" y="6601968"/>
            <a:ext cx="10927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Fuentes: IGP; Perú Compras; UNAC; material del curso.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F6C21A"/>
          </a:solidFill>
          <a:ln w="12700">
            <a:solidFill>
              <a:srgbClr val="F6C2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0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¿Cómo aplicaríamos la gestión de procesos en la UNAC?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868680"/>
            <a:ext cx="10789920" cy="0"/>
          </a:xfrm>
          <a:prstGeom prst="line">
            <a:avLst/>
          </a:prstGeom>
          <a:noFill/>
          <a:ln w="12700">
            <a:solidFill>
              <a:srgbClr val="DDE7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93268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Aplicación desde la perspectiva del estudiante de Ingeniería de Sistemas.</a:t>
            </a:r>
            <a:endParaRPr lang="en-US" sz="1050" dirty="0"/>
          </a:p>
        </p:txBody>
      </p:sp>
      <p:pic>
        <p:nvPicPr>
          <p:cNvPr id="8" name="Image 0" descr="/mnt/data/75ea8243-f536-4e7d-82c9-725d5d68ca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219456"/>
            <a:ext cx="685800" cy="685800"/>
          </a:xfrm>
          <a:prstGeom prst="rect">
            <a:avLst/>
          </a:prstGeom>
        </p:spPr>
      </p:pic>
      <p:pic>
        <p:nvPicPr>
          <p:cNvPr id="9" name="Image 1" descr="/mnt/data/56774ee4-13b7-4637-a4cb-7c93e8ae34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5364" y="228600"/>
            <a:ext cx="943552" cy="530352"/>
          </a:xfrm>
          <a:prstGeom prst="rect">
            <a:avLst/>
          </a:prstGeom>
        </p:spPr>
      </p:pic>
      <p:pic>
        <p:nvPicPr>
          <p:cNvPr id="10" name="Image 2" descr="/mnt/data/75ea8243-f536-4e7d-82c9-725d5d68cac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325880"/>
            <a:ext cx="1417320" cy="1417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423160" y="14173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UNAC como sistema de procesos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2423160" y="18288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</a:rPr>
              <a:t>La universidad ya publica un mapa de procesos institucional; el curso permite aterrizar esa visión en trámites estudiantiles y administrativos medibles.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822960" y="301752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987552" y="3182112"/>
            <a:ext cx="384048" cy="384048"/>
          </a:xfrm>
          <a:prstGeom prst="ellipse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987552" y="327355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1481328" y="31821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1. Seleccionar proceso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481328" y="3520440"/>
            <a:ext cx="23774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Matrícula, constancias, pagos, trámite documentario o atención SGA.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572000" y="301752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736592" y="3182112"/>
            <a:ext cx="384048" cy="384048"/>
          </a:xfrm>
          <a:prstGeom prst="ellipse">
            <a:avLst/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4736592" y="327355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5230368" y="31821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2. Levantar AS-IS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230368" y="3520440"/>
            <a:ext cx="23774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Entrevistas, observación y trazabilidad de solicitudes.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8321040" y="301752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8485632" y="3182112"/>
            <a:ext cx="384048" cy="384048"/>
          </a:xfrm>
          <a:prstGeom prst="ellipse">
            <a:avLst/>
          </a:prstGeom>
          <a:solidFill>
            <a:srgbClr val="6455A3"/>
          </a:solidFill>
          <a:ln w="12700">
            <a:solidFill>
              <a:srgbClr val="6455A3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485632" y="327355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8979408" y="31821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3. Medir desempeño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8979408" y="3520440"/>
            <a:ext cx="23774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Tiempo de ciclo, reprocesos, errores y satisfacción del usuario.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822960" y="443484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987552" y="4599432"/>
            <a:ext cx="384048" cy="384048"/>
          </a:xfrm>
          <a:prstGeom prst="ellipse">
            <a:avLst/>
          </a:prstGeom>
          <a:solidFill>
            <a:srgbClr val="F6C21A"/>
          </a:solidFill>
          <a:ln w="12700">
            <a:solidFill>
              <a:srgbClr val="F6C21A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987552" y="469087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1481328" y="4599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4. Rediseñar TO-BE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1481328" y="4937760"/>
            <a:ext cx="23774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Simplificación, digitalización, reglas claras y responsables.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4572000" y="443484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4736592" y="4599432"/>
            <a:ext cx="384048" cy="384048"/>
          </a:xfrm>
          <a:prstGeom prst="ellipse">
            <a:avLst/>
          </a:prstGeom>
          <a:solidFill>
            <a:srgbClr val="003B80"/>
          </a:solidFill>
          <a:ln w="12700">
            <a:solidFill>
              <a:srgbClr val="003B80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4736592" y="469087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5230368" y="4599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5. Controlar con KPIs</a:t>
            </a:r>
            <a:endParaRPr lang="en-US" sz="1300" dirty="0"/>
          </a:p>
        </p:txBody>
      </p:sp>
      <p:sp>
        <p:nvSpPr>
          <p:cNvPr id="37" name="Text 32"/>
          <p:cNvSpPr/>
          <p:nvPr/>
        </p:nvSpPr>
        <p:spPr>
          <a:xfrm>
            <a:off x="5230368" y="4937760"/>
            <a:ext cx="23774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Tablero de seguimiento por escuela, facultad y área.</a:t>
            </a:r>
            <a:endParaRPr lang="en-US" sz="1050" dirty="0"/>
          </a:p>
        </p:txBody>
      </p:sp>
      <p:sp>
        <p:nvSpPr>
          <p:cNvPr id="38" name="Shape 33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0160">
            <a:solidFill>
              <a:srgbClr val="DDE7F0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594360" y="6601968"/>
            <a:ext cx="10927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Fuentes: UNAC, Mapa de Procesos Institucional; Sílabus DGPO 2026-B sobre AS-IS, TO-BE e indicadores.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F6C21A"/>
          </a:solidFill>
          <a:ln w="12700">
            <a:solidFill>
              <a:srgbClr val="F6C2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0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Ruta propuesta del proyecto de curso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868680"/>
            <a:ext cx="10789920" cy="0"/>
          </a:xfrm>
          <a:prstGeom prst="line">
            <a:avLst/>
          </a:prstGeom>
          <a:noFill/>
          <a:ln w="12700">
            <a:solidFill>
              <a:srgbClr val="DDE7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93268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El Laboratorio 1 deja preparado el caso para los siguientes entregables del curso.</a:t>
            </a:r>
            <a:endParaRPr lang="en-US" sz="1050" dirty="0"/>
          </a:p>
        </p:txBody>
      </p:sp>
      <p:pic>
        <p:nvPicPr>
          <p:cNvPr id="8" name="Image 0" descr="/mnt/data/75ea8243-f536-4e7d-82c9-725d5d68ca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219456"/>
            <a:ext cx="685800" cy="685800"/>
          </a:xfrm>
          <a:prstGeom prst="rect">
            <a:avLst/>
          </a:prstGeom>
        </p:spPr>
      </p:pic>
      <p:pic>
        <p:nvPicPr>
          <p:cNvPr id="9" name="Image 1" descr="/mnt/data/56774ee4-13b7-4637-a4cb-7c93e8ae34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5364" y="228600"/>
            <a:ext cx="943552" cy="53035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057400" y="2880360"/>
            <a:ext cx="731520" cy="0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1" name="Shape 7"/>
          <p:cNvSpPr/>
          <p:nvPr/>
        </p:nvSpPr>
        <p:spPr>
          <a:xfrm>
            <a:off x="4206240" y="2880360"/>
            <a:ext cx="731520" cy="0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6355080" y="2880360"/>
            <a:ext cx="731520" cy="0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8503920" y="2880360"/>
            <a:ext cx="731520" cy="0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777240" y="233172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50392" y="2404872"/>
            <a:ext cx="11338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Lab 1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685800" y="31546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Organización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y contexto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2926080" y="233172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999232" y="2404872"/>
            <a:ext cx="11338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Lab 2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2834640" y="31546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Datos, entidades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y bases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5074920" y="233172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6455A3"/>
          </a:solidFill>
          <a:ln w="12700">
            <a:solidFill>
              <a:srgbClr val="6455A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48072" y="2404872"/>
            <a:ext cx="11338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Unidad 2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983480" y="31546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AS-IS 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diagnóstico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7223760" y="233172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6C21A"/>
          </a:solidFill>
          <a:ln w="12700">
            <a:solidFill>
              <a:srgbClr val="F6C21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296912" y="2404872"/>
            <a:ext cx="11338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Unidad 3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7132320" y="31546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TO-BE 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rediseño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9372600" y="233172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003B80"/>
          </a:solidFill>
          <a:ln w="12700">
            <a:solidFill>
              <a:srgbClr val="003B8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9445752" y="2404872"/>
            <a:ext cx="11338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Unidad 4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9281160" y="31546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KPIs 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control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1234440" y="459028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EB8"/>
                </a:solidFill>
              </a:rPr>
              <a:t>Proceso candidato para continuidad</a:t>
            </a:r>
            <a:endParaRPr lang="en-US" sz="1500" dirty="0"/>
          </a:p>
        </p:txBody>
      </p:sp>
      <p:sp>
        <p:nvSpPr>
          <p:cNvPr id="30" name="Text 26"/>
          <p:cNvSpPr/>
          <p:nvPr/>
        </p:nvSpPr>
        <p:spPr>
          <a:xfrm>
            <a:off x="1234440" y="491947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b="1" dirty="0">
                <a:solidFill>
                  <a:srgbClr val="0F172A"/>
                </a:solidFill>
              </a:rPr>
              <a:t>Presentación, revisión, conformidad y trámite de entregables de locadores de servicios en el IGP.</a:t>
            </a:r>
            <a:endParaRPr lang="en-US" sz="1410" dirty="0"/>
          </a:p>
        </p:txBody>
      </p:sp>
      <p:sp>
        <p:nvSpPr>
          <p:cNvPr id="31" name="Text 27"/>
          <p:cNvSpPr/>
          <p:nvPr/>
        </p:nvSpPr>
        <p:spPr>
          <a:xfrm>
            <a:off x="1234440" y="5321808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Por verificar: responsables, unidades administrativas y reglas contractuales específicas antes de modelar el AS-IS final.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0160">
            <a:solidFill>
              <a:srgbClr val="DDE7F0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594360" y="6601968"/>
            <a:ext cx="10927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Fuentes: Sílabus DGPO 2026-B; experiencia del integrante; futuras entrevistas y documentación del proceso.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F6C21A"/>
          </a:solidFill>
          <a:ln w="12700">
            <a:solidFill>
              <a:srgbClr val="F6C2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0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Referencias principales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868680"/>
            <a:ext cx="10789920" cy="0"/>
          </a:xfrm>
          <a:prstGeom prst="line">
            <a:avLst/>
          </a:prstGeom>
          <a:noFill/>
          <a:ln w="12700">
            <a:solidFill>
              <a:srgbClr val="DDE7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93268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Formato APA 7 simplificado para exposición.</a:t>
            </a:r>
            <a:endParaRPr lang="en-US" sz="1050" dirty="0"/>
          </a:p>
        </p:txBody>
      </p:sp>
      <p:pic>
        <p:nvPicPr>
          <p:cNvPr id="8" name="Image 0" descr="/mnt/data/75ea8243-f536-4e7d-82c9-725d5d68ca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219456"/>
            <a:ext cx="685800" cy="685800"/>
          </a:xfrm>
          <a:prstGeom prst="rect">
            <a:avLst/>
          </a:prstGeom>
        </p:spPr>
      </p:pic>
      <p:pic>
        <p:nvPicPr>
          <p:cNvPr id="9" name="Image 1" descr="/mnt/data/56774ee4-13b7-4637-a4cb-7c93e8ae34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5364" y="228600"/>
            <a:ext cx="943552" cy="5303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" y="1234440"/>
            <a:ext cx="10561320" cy="5120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0F172A"/>
                </a:solidFill>
              </a:rPr>
              <a:t>Instituto Geofísico del Perú. (s. f.). Información institucional: Qué hacemos. Plataforma del Estado Peruano. https://www.gob.pe/igp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0F172A"/>
                </a:solidFill>
              </a:rPr>
              <a:t>Instituto Geofísico del Perú. (2023). Manual de procesos y procedimientos del IGP. https://www.igp.gob.pe/informacion-institucional/public/files/instrumentos_gestion/mapro/2023/procesos/RG-0071_2023-PROC-Y-PROCED.pdf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0F172A"/>
                </a:solidFill>
              </a:rPr>
              <a:t>PERÚ COMPRAS. (s. f.). Buscador de fichas-producto de Catálogos Electrónicos. https://buscadorcatalogos.perucompras.gob.pe/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0F172A"/>
                </a:solidFill>
              </a:rPr>
              <a:t>PERÚ COMPRAS. (2020). Catálogos Electrónicos como método especial de contratación pública. https://central.perucompras.gob.pe/informacion/noticia.php?npid=NP00492020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0F172A"/>
                </a:solidFill>
              </a:rPr>
              <a:t>Universidad Nacional del Callao. (2026). Portal institucional y plataformas de acceso. https://unac.edu.pe/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0F172A"/>
                </a:solidFill>
              </a:rPr>
              <a:t>Universidad Nacional del Callao. (2026). Mapa de Procesos Institucional. https://unac.edu.pe/mapa-de-procesos-institucional/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0F172A"/>
                </a:solidFill>
              </a:rPr>
              <a:t>Malca Vicente, E. (2026). Sílabus: Diseño y Gestión de Procesos Organizacionales 2026-B. UNAC.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0F172A"/>
                </a:solidFill>
              </a:rPr>
              <a:t>Materiales del curso: Procesos de Negocio; Organización de la Empresa; Datos e Información.</a:t>
            </a:r>
            <a:endParaRPr lang="en-US" sz="10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Universidad Nacional del Callao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Laboratorio 1 - Instituto Geofísico del Perú</dc:title>
  <dc:subject>Laboratorio 1 - Diseño y Gestión de Procesos Organizacionales</dc:subject>
  <dc:creator>Grupo 9 - UNAC</dc:creator>
  <cp:lastModifiedBy>Grupo 9 - UNAC</cp:lastModifiedBy>
  <cp:revision>1</cp:revision>
  <dcterms:created xsi:type="dcterms:W3CDTF">2026-09-24T16:52:09Z</dcterms:created>
  <dcterms:modified xsi:type="dcterms:W3CDTF">2026-09-24T16:52:09Z</dcterms:modified>
</cp:coreProperties>
</file>
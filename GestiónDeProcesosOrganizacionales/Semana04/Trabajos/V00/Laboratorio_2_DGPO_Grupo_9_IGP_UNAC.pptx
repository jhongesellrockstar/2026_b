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73152" cy="685800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749808"/>
            <a:ext cx="1097280" cy="1097280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965" y="868680"/>
            <a:ext cx="1220110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0520" y="9326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E59"/>
                </a:solidFill>
              </a:rPr>
              <a:t>Laboratorio 2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160520" y="14813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67B1"/>
                </a:solidFill>
              </a:rPr>
              <a:t>Datos e información para procesos organizacionales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4160520" y="2029968"/>
            <a:ext cx="6492240" cy="0"/>
          </a:xfrm>
          <a:prstGeom prst="line">
            <a:avLst/>
          </a:prstGeom>
          <a:noFill/>
          <a:ln w="15240">
            <a:solidFill>
              <a:srgbClr val="D4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60520" y="23317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</a:rPr>
              <a:t>Organización principal: Instituto Geofísico del Perú (IGP)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</a:rPr>
              <a:t>Organización académica complementaria: Universidad Nacional del Callao (UNAC)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160520" y="32735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16F"/>
                </a:solidFill>
              </a:rPr>
              <a:t>Curso: Diseño y Gestión de Procesos Organizacionales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6616F"/>
                </a:solidFill>
              </a:rPr>
              <a:t>Docente: Ing. Eddie Malca Vicente · Semestre 2026-B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160520" y="4096512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51960" y="41696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Grupo 9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160520" y="455371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</a:rPr>
              <a:t>Pinto Pante Gabriela Betsabé · Santos Benites Juan José · Villanueva Portella Jhon Gesell · Escalante Matta Juan José</a:t>
            </a:r>
            <a:endParaRPr lang="en-US" sz="1180" dirty="0"/>
          </a:p>
        </p:txBody>
      </p:sp>
      <p:sp>
        <p:nvSpPr>
          <p:cNvPr id="14" name="Text 10"/>
          <p:cNvSpPr/>
          <p:nvPr/>
        </p:nvSpPr>
        <p:spPr>
          <a:xfrm>
            <a:off x="4160520" y="6172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6F"/>
                </a:solidFill>
              </a:rPr>
              <a:t>Escuela Profesional de Ingeniería de Sistemas · FIIS · UNAC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Preguntas que resuelve el Laboratorio 2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1435608"/>
            <a:ext cx="384048" cy="384048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15087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32588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Entidades de datos del IGP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09160" y="1435608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Distinguir entidades, documentos, atributos y estados.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185416"/>
            <a:ext cx="384048" cy="384048"/>
          </a:xfrm>
          <a:prstGeom prst="ellipse">
            <a:avLst/>
          </a:prstGeom>
          <a:solidFill>
            <a:srgbClr val="4CB3D8"/>
          </a:solidFill>
          <a:ln w="12700">
            <a:solidFill>
              <a:srgbClr val="4CB3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2585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325880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Entidades de datos de la UNAC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09160" y="218541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Mapa conceptual de relaciones académicas.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2935224"/>
            <a:ext cx="384048" cy="384048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" y="30083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325880" y="29169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Bases de datos para el IGP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709160" y="293522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Trazabilidad, consulta, interoperabilidad y control.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31520" y="3685032"/>
            <a:ext cx="384048" cy="384048"/>
          </a:xfrm>
          <a:prstGeom prst="ellipse">
            <a:avLst/>
          </a:prstGeom>
          <a:solidFill>
            <a:srgbClr val="4CB3D8"/>
          </a:solidFill>
          <a:ln w="12700">
            <a:solidFill>
              <a:srgbClr val="4CB3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37581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325880" y="3666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Plan de implementación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709160" y="368503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De requerimientos a mantenimiento, alineado a procesos.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31520" y="4434840"/>
            <a:ext cx="384048" cy="384048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1520" y="45079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325880" y="4416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</a:rPr>
              <a:t>Bases públicas del Perú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709160" y="443484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Plataformas nacionales relevantes con fuentes oficiales.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14400" y="548640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21875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51560" y="560527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875B"/>
                </a:solidFill>
              </a:rPr>
              <a:t>Criterio metodológico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51560" y="589788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El IGP se aborda como entidad pública de investigación; la UNAC se analiza solo cuando la pregunta lo solicita.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Marco conceptual del curso: dato, información y entidad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141732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5528" y="1508760"/>
            <a:ext cx="288950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Dato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Unidad mínima que requiere contexto para adquirir significado.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886200" y="1892808"/>
            <a:ext cx="73152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709160" y="141732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18888" y="1508760"/>
            <a:ext cx="288950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Procesamiento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</a:rPr>
              <a:t>Validación, organización, relación y transformación.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09560" y="1892808"/>
            <a:ext cx="73152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732520" y="1417320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42248" y="1508760"/>
            <a:ext cx="252374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Información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Datos procesados que reducen incertidumbre y apoyan decisiones.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77240" y="27432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Una entidad de datos representa un objeto relevante del negocio o de la gestión pública que necesita identificarse, describirse y relacionarse con otros objetos.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22960" y="3657600"/>
            <a:ext cx="1554480" cy="393192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77824" y="3694176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Concepto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377440" y="3657600"/>
            <a:ext cx="3657600" cy="393192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32304" y="369417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Pregunta clave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35040" y="3657600"/>
            <a:ext cx="5303520" cy="393192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89904" y="3694176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Ejemplo en IGP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22960" y="4050792"/>
            <a:ext cx="1554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7824" y="408736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Entidad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377440" y="4050792"/>
            <a:ext cx="3657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432304" y="40873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¿Qué objeto se administra?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035040" y="4050792"/>
            <a:ext cx="5303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89904" y="4087368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Orden de servicio, expediente, entregable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822960" y="4443984"/>
            <a:ext cx="15544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7824" y="44805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Atributo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377440" y="4443984"/>
            <a:ext cx="365760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432304" y="448056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¿Qué dato describe a una entidad?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035040" y="4443984"/>
            <a:ext cx="530352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89904" y="4480560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Fecha de registro, monto, estado, número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822960" y="4837176"/>
            <a:ext cx="1554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77824" y="4873752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Documento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2377440" y="4837176"/>
            <a:ext cx="3657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432304" y="487375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¿Qué evidencia se adjunta?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6035040" y="4837176"/>
            <a:ext cx="53035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089904" y="4873752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Informe, RxH, suspensión de 4.ª categoría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822960" y="5230368"/>
            <a:ext cx="155448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77824" y="5266944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Relación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2377440" y="5230368"/>
            <a:ext cx="365760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432304" y="526694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¿Cómo se vinculan los datos?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6035040" y="5230368"/>
            <a:ext cx="5303520" cy="393192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089904" y="5266944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</a:rPr>
              <a:t>Proveedor presenta entregables; expediente agrupa documentos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822960" y="58064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16F"/>
                </a:solidFill>
              </a:rPr>
              <a:t>Fuente base: materiales del curso “Datos e información” y “Sistemas de información”.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Proceso base para identificar entidades del IGP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12984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</a:rPr>
              <a:t>Proceso observado: presentación, revisión, conformidad y trámite de entregables de locadores de servicios.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179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Locador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elabora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entregable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24942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49631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0604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Revisor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evalúa y emite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observaciones/V.B.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12394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37083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8056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Responsable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firma o 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conformidad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9846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24535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5508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Mesa de Partes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registra documento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y genera expediente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7298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11987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Área administrativa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evalúa anexos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y deriva trámite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747504" y="2606040"/>
            <a:ext cx="42976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9994392" y="219456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104120" y="2286000"/>
            <a:ext cx="1380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Tesorería / pago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gestiona cierre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administrativo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22960" y="37033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6D5DF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60120" y="38221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5DF6"/>
                </a:solidFill>
              </a:rPr>
              <a:t>Documentos frecuentes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60120" y="4114800"/>
            <a:ext cx="4846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Informe principal · Orden de servicio · Recibo por honorarios · Suspensión de cuarta categoría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263640" y="370332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00800" y="38221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Condiciones de control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400800" y="4114800"/>
            <a:ext cx="4846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Si el entregable no cumple, no se firma. Si existe retraso, puede aplicarse penalidad según contrato o regla aplicable.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822960" y="517550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6F"/>
                </a:solidFill>
              </a:rPr>
              <a:t>Nota: las áreas administrativas posteriores se tratan como “pendientes de validación” cuando no existe evidencia formal del recorrido exacto.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822960" y="55778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16F"/>
                </a:solidFill>
              </a:rPr>
              <a:t>La Mesa de Partes Virtual del IGP cuenta con autenticación de usuario y función de registro/consulta de documentos.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1. Entidades de datos más importantes del IGP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2920" y="1298448"/>
            <a:ext cx="141732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57784" y="1335024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Entidad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1920240" y="1298448"/>
            <a:ext cx="292608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975104" y="1335024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Descripción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846320" y="1298448"/>
            <a:ext cx="333756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01184" y="1335024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Atributos principales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183880" y="1298448"/>
            <a:ext cx="3429000" cy="689719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38744" y="1335024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Relación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" y="1988167"/>
            <a:ext cx="141732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7784" y="2024743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Proveedor / locador</a:t>
            </a:r>
            <a:endParaRPr lang="en-US" sz="710" dirty="0"/>
          </a:p>
        </p:txBody>
      </p:sp>
      <p:sp>
        <p:nvSpPr>
          <p:cNvPr id="18" name="Shape 14"/>
          <p:cNvSpPr/>
          <p:nvPr/>
        </p:nvSpPr>
        <p:spPr>
          <a:xfrm>
            <a:off x="1920240" y="1988167"/>
            <a:ext cx="292608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975104" y="2024743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Persona externa que presta un servicio y emite RxH.</a:t>
            </a:r>
            <a:endParaRPr lang="en-US" sz="710" dirty="0"/>
          </a:p>
        </p:txBody>
      </p:sp>
      <p:sp>
        <p:nvSpPr>
          <p:cNvPr id="20" name="Shape 16"/>
          <p:cNvSpPr/>
          <p:nvPr/>
        </p:nvSpPr>
        <p:spPr>
          <a:xfrm>
            <a:off x="4846320" y="1988167"/>
            <a:ext cx="333756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01184" y="2024743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RUC/DNI, nombre, contacto, RNP, condición tributaria</a:t>
            </a:r>
            <a:endParaRPr lang="en-US" sz="710" dirty="0"/>
          </a:p>
        </p:txBody>
      </p:sp>
      <p:sp>
        <p:nvSpPr>
          <p:cNvPr id="22" name="Shape 18"/>
          <p:cNvSpPr/>
          <p:nvPr/>
        </p:nvSpPr>
        <p:spPr>
          <a:xfrm>
            <a:off x="8183880" y="1988167"/>
            <a:ext cx="342900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38744" y="2024743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Tiene órdenes de servicio y entregables</a:t>
            </a:r>
            <a:endParaRPr lang="en-US" sz="710" dirty="0"/>
          </a:p>
        </p:txBody>
      </p:sp>
      <p:sp>
        <p:nvSpPr>
          <p:cNvPr id="24" name="Shape 20"/>
          <p:cNvSpPr/>
          <p:nvPr/>
        </p:nvSpPr>
        <p:spPr>
          <a:xfrm>
            <a:off x="502920" y="2677886"/>
            <a:ext cx="141732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7784" y="2714462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Orden de servicio</a:t>
            </a:r>
            <a:endParaRPr lang="en-US" sz="710" dirty="0"/>
          </a:p>
        </p:txBody>
      </p:sp>
      <p:sp>
        <p:nvSpPr>
          <p:cNvPr id="26" name="Shape 22"/>
          <p:cNvSpPr/>
          <p:nvPr/>
        </p:nvSpPr>
        <p:spPr>
          <a:xfrm>
            <a:off x="1920240" y="2677886"/>
            <a:ext cx="292608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975104" y="2714462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Documento contractual que define alcance, monto y plazos.</a:t>
            </a:r>
            <a:endParaRPr lang="en-US" sz="710" dirty="0"/>
          </a:p>
        </p:txBody>
      </p:sp>
      <p:sp>
        <p:nvSpPr>
          <p:cNvPr id="28" name="Shape 24"/>
          <p:cNvSpPr/>
          <p:nvPr/>
        </p:nvSpPr>
        <p:spPr>
          <a:xfrm>
            <a:off x="4846320" y="2677886"/>
            <a:ext cx="333756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01184" y="2714462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N.º OS, fecha, monto, plazo, objeto, área usuaria</a:t>
            </a:r>
            <a:endParaRPr lang="en-US" sz="710" dirty="0"/>
          </a:p>
        </p:txBody>
      </p:sp>
      <p:sp>
        <p:nvSpPr>
          <p:cNvPr id="30" name="Shape 26"/>
          <p:cNvSpPr/>
          <p:nvPr/>
        </p:nvSpPr>
        <p:spPr>
          <a:xfrm>
            <a:off x="8183880" y="2677886"/>
            <a:ext cx="342900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38744" y="2714462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Origina entregables y condiciona conformidad</a:t>
            </a:r>
            <a:endParaRPr lang="en-US" sz="710" dirty="0"/>
          </a:p>
        </p:txBody>
      </p:sp>
      <p:sp>
        <p:nvSpPr>
          <p:cNvPr id="32" name="Shape 28"/>
          <p:cNvSpPr/>
          <p:nvPr/>
        </p:nvSpPr>
        <p:spPr>
          <a:xfrm>
            <a:off x="502920" y="3367605"/>
            <a:ext cx="141732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57784" y="3404181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Entregable</a:t>
            </a:r>
            <a:endParaRPr lang="en-US" sz="710" dirty="0"/>
          </a:p>
        </p:txBody>
      </p:sp>
      <p:sp>
        <p:nvSpPr>
          <p:cNvPr id="34" name="Shape 30"/>
          <p:cNvSpPr/>
          <p:nvPr/>
        </p:nvSpPr>
        <p:spPr>
          <a:xfrm>
            <a:off x="1920240" y="3367605"/>
            <a:ext cx="292608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975104" y="3404181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Producto comprometido por el locador.</a:t>
            </a:r>
            <a:endParaRPr lang="en-US" sz="710" dirty="0"/>
          </a:p>
        </p:txBody>
      </p:sp>
      <p:sp>
        <p:nvSpPr>
          <p:cNvPr id="36" name="Shape 32"/>
          <p:cNvSpPr/>
          <p:nvPr/>
        </p:nvSpPr>
        <p:spPr>
          <a:xfrm>
            <a:off x="4846320" y="3367605"/>
            <a:ext cx="333756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901184" y="3404181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N.º, periodo, fecha límite, estado, porcentaje de avance</a:t>
            </a:r>
            <a:endParaRPr lang="en-US" sz="710" dirty="0"/>
          </a:p>
        </p:txBody>
      </p:sp>
      <p:sp>
        <p:nvSpPr>
          <p:cNvPr id="38" name="Shape 34"/>
          <p:cNvSpPr/>
          <p:nvPr/>
        </p:nvSpPr>
        <p:spPr>
          <a:xfrm>
            <a:off x="8183880" y="3367605"/>
            <a:ext cx="342900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238744" y="3404181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Se sustenta con informe y anexos</a:t>
            </a:r>
            <a:endParaRPr lang="en-US" sz="710" dirty="0"/>
          </a:p>
        </p:txBody>
      </p:sp>
      <p:sp>
        <p:nvSpPr>
          <p:cNvPr id="40" name="Shape 36"/>
          <p:cNvSpPr/>
          <p:nvPr/>
        </p:nvSpPr>
        <p:spPr>
          <a:xfrm>
            <a:off x="502920" y="4057323"/>
            <a:ext cx="141732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57784" y="4093899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Informe</a:t>
            </a:r>
            <a:endParaRPr lang="en-US" sz="710" dirty="0"/>
          </a:p>
        </p:txBody>
      </p:sp>
      <p:sp>
        <p:nvSpPr>
          <p:cNvPr id="42" name="Shape 38"/>
          <p:cNvSpPr/>
          <p:nvPr/>
        </p:nvSpPr>
        <p:spPr>
          <a:xfrm>
            <a:off x="1920240" y="4057323"/>
            <a:ext cx="292608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975104" y="4093899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Documento técnico principal del entregable.</a:t>
            </a:r>
            <a:endParaRPr lang="en-US" sz="710" dirty="0"/>
          </a:p>
        </p:txBody>
      </p:sp>
      <p:sp>
        <p:nvSpPr>
          <p:cNvPr id="44" name="Shape 40"/>
          <p:cNvSpPr/>
          <p:nvPr/>
        </p:nvSpPr>
        <p:spPr>
          <a:xfrm>
            <a:off x="4846320" y="4057323"/>
            <a:ext cx="333756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901184" y="4093899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Código, fecha, versión, asunto, firmantes, folios</a:t>
            </a:r>
            <a:endParaRPr lang="en-US" sz="710" dirty="0"/>
          </a:p>
        </p:txBody>
      </p:sp>
      <p:sp>
        <p:nvSpPr>
          <p:cNvPr id="46" name="Shape 42"/>
          <p:cNvSpPr/>
          <p:nvPr/>
        </p:nvSpPr>
        <p:spPr>
          <a:xfrm>
            <a:off x="8183880" y="4057323"/>
            <a:ext cx="342900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238744" y="4093899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Se registra en expediente</a:t>
            </a:r>
            <a:endParaRPr lang="en-US" sz="710" dirty="0"/>
          </a:p>
        </p:txBody>
      </p:sp>
      <p:sp>
        <p:nvSpPr>
          <p:cNvPr id="48" name="Shape 44"/>
          <p:cNvSpPr/>
          <p:nvPr/>
        </p:nvSpPr>
        <p:spPr>
          <a:xfrm>
            <a:off x="502920" y="4747042"/>
            <a:ext cx="141732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57784" y="4783618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Expediente</a:t>
            </a:r>
            <a:endParaRPr lang="en-US" sz="710" dirty="0"/>
          </a:p>
        </p:txBody>
      </p:sp>
      <p:sp>
        <p:nvSpPr>
          <p:cNvPr id="50" name="Shape 46"/>
          <p:cNvSpPr/>
          <p:nvPr/>
        </p:nvSpPr>
        <p:spPr>
          <a:xfrm>
            <a:off x="1920240" y="4747042"/>
            <a:ext cx="292608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975104" y="4783618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Unidad de trazabilidad documental del trámite.</a:t>
            </a:r>
            <a:endParaRPr lang="en-US" sz="710" dirty="0"/>
          </a:p>
        </p:txBody>
      </p:sp>
      <p:sp>
        <p:nvSpPr>
          <p:cNvPr id="52" name="Shape 48"/>
          <p:cNvSpPr/>
          <p:nvPr/>
        </p:nvSpPr>
        <p:spPr>
          <a:xfrm>
            <a:off x="4846320" y="4747042"/>
            <a:ext cx="333756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901184" y="4783618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N.º expediente, fecha, estado, oficina actual</a:t>
            </a:r>
            <a:endParaRPr lang="en-US" sz="710" dirty="0"/>
          </a:p>
        </p:txBody>
      </p:sp>
      <p:sp>
        <p:nvSpPr>
          <p:cNvPr id="54" name="Shape 50"/>
          <p:cNvSpPr/>
          <p:nvPr/>
        </p:nvSpPr>
        <p:spPr>
          <a:xfrm>
            <a:off x="8183880" y="4747042"/>
            <a:ext cx="3429000" cy="689719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8238744" y="4783618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Agrupa documentos y estados</a:t>
            </a:r>
            <a:endParaRPr lang="en-US" sz="710" dirty="0"/>
          </a:p>
        </p:txBody>
      </p:sp>
      <p:sp>
        <p:nvSpPr>
          <p:cNvPr id="56" name="Shape 52"/>
          <p:cNvSpPr/>
          <p:nvPr/>
        </p:nvSpPr>
        <p:spPr>
          <a:xfrm>
            <a:off x="502920" y="5436761"/>
            <a:ext cx="141732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557784" y="5473337"/>
            <a:ext cx="130759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Oficina / área</a:t>
            </a:r>
            <a:endParaRPr lang="en-US" sz="710" dirty="0"/>
          </a:p>
        </p:txBody>
      </p:sp>
      <p:sp>
        <p:nvSpPr>
          <p:cNvPr id="58" name="Shape 54"/>
          <p:cNvSpPr/>
          <p:nvPr/>
        </p:nvSpPr>
        <p:spPr>
          <a:xfrm>
            <a:off x="1920240" y="5436761"/>
            <a:ext cx="292608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1975104" y="5473337"/>
            <a:ext cx="281635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Unidad que revisa, deriva o atiende el trámite.</a:t>
            </a:r>
            <a:endParaRPr lang="en-US" sz="710" dirty="0"/>
          </a:p>
        </p:txBody>
      </p:sp>
      <p:sp>
        <p:nvSpPr>
          <p:cNvPr id="60" name="Shape 56"/>
          <p:cNvSpPr/>
          <p:nvPr/>
        </p:nvSpPr>
        <p:spPr>
          <a:xfrm>
            <a:off x="4846320" y="5436761"/>
            <a:ext cx="333756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901184" y="5473337"/>
            <a:ext cx="322783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Código, nombre, responsable, función</a:t>
            </a:r>
            <a:endParaRPr lang="en-US" sz="710" dirty="0"/>
          </a:p>
        </p:txBody>
      </p:sp>
      <p:sp>
        <p:nvSpPr>
          <p:cNvPr id="62" name="Shape 58"/>
          <p:cNvSpPr/>
          <p:nvPr/>
        </p:nvSpPr>
        <p:spPr>
          <a:xfrm>
            <a:off x="8183880" y="5436761"/>
            <a:ext cx="3429000" cy="689719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238744" y="5473337"/>
            <a:ext cx="3319272" cy="616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11827"/>
                </a:solidFill>
              </a:rPr>
              <a:t>Recibe expedientes y emite respuestas</a:t>
            </a:r>
            <a:endParaRPr lang="en-US" sz="710" dirty="0"/>
          </a:p>
        </p:txBody>
      </p:sp>
      <p:sp>
        <p:nvSpPr>
          <p:cNvPr id="64" name="Text 60"/>
          <p:cNvSpPr/>
          <p:nvPr/>
        </p:nvSpPr>
        <p:spPr>
          <a:xfrm>
            <a:off x="658368" y="623620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16F"/>
                </a:solidFill>
              </a:rPr>
              <a:t>Criterio: se privilegian entidades con identidad propia, ciclo de vida y relaciones estables dentro del proceso.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1. Modelo conceptual simplificado del IGP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24028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4709160" y="1828800"/>
            <a:ext cx="91440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7269480" y="1828800"/>
            <a:ext cx="91440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9738360" y="1828800"/>
            <a:ext cx="68580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400800" y="2240280"/>
            <a:ext cx="0" cy="77724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400800" y="3749040"/>
            <a:ext cx="0" cy="77724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961120" y="3749040"/>
            <a:ext cx="0" cy="77724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572000" y="3749040"/>
            <a:ext cx="0" cy="77724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85800" y="141732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5528" y="1508760"/>
            <a:ext cx="13350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Proveedor 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locador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063240" y="141732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72968" y="150876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Orden de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servicio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623560" y="141732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33288" y="150876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Entregable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83880" y="141732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93608" y="1508760"/>
            <a:ext cx="13350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Informe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0424160" y="141732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533888" y="1508760"/>
            <a:ext cx="1106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Expediente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623560" y="30175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733288" y="3108960"/>
            <a:ext cx="14264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Revisor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623560" y="45262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733288" y="461772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Responsable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de conformidad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749040" y="45262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58768" y="461772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Documentos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anexos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138160" y="45262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247888" y="4617720"/>
            <a:ext cx="1426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Estado del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trámite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22960" y="57607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6616F"/>
                </a:solidFill>
              </a:rPr>
              <a:t>Lectura: el locador se vincula a una orden de servicio; esta genera entregables. El informe y anexos forman el expediente; revisor y responsable actúan como controles del proceso.</a:t>
            </a:r>
            <a:endParaRPr lang="en-US" sz="1120" dirty="0"/>
          </a:p>
        </p:txBody>
      </p:sp>
      <p:sp>
        <p:nvSpPr>
          <p:cNvPr id="35" name="Shape 3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1. Elementos que no deben confundirse con entidades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1417320"/>
            <a:ext cx="2286000" cy="627017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6384" y="1453896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Elemento evaluado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3017520" y="1417320"/>
            <a:ext cx="2743200" cy="627017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72384" y="1453896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Clasificación recomendada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5760720" y="1417320"/>
            <a:ext cx="5715000" cy="627017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15584" y="1453896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Justificación técnica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731520" y="2044337"/>
            <a:ext cx="2286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6384" y="2080913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Recibo por honorarios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017520" y="2044337"/>
            <a:ext cx="27432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72384" y="2080913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Documento / comprobante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760720" y="2044337"/>
            <a:ext cx="5715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15584" y="2080913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Puede tener datos propios, pero funciona como evidencia tributaria del servicio prestado.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31520" y="2671354"/>
            <a:ext cx="2286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" y="2707930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Suspensión de cuarta categoría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3017520" y="2671354"/>
            <a:ext cx="27432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72384" y="2707930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Documento tributario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760720" y="2671354"/>
            <a:ext cx="5715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15584" y="2707930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Acredita condición tributaria; se asocia al proveedor y al periodo.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731520" y="3298371"/>
            <a:ext cx="2286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6384" y="3334947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Estado del trámite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017520" y="3298371"/>
            <a:ext cx="27432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072384" y="3334947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Atributo / catálogo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5760720" y="3298371"/>
            <a:ext cx="5715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15584" y="3334947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Describe la situación del expediente: registrado, observado, derivado, en proceso, cerrado.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731520" y="3925389"/>
            <a:ext cx="2286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86384" y="3961965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Conformidad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017520" y="3925389"/>
            <a:ext cx="27432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072384" y="3961965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Documento o evento de control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5760720" y="3925389"/>
            <a:ext cx="5715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15584" y="3961965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Materializa la aprobación; puede ser entidad si requiere historial y firmas.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731520" y="4552406"/>
            <a:ext cx="2286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86384" y="4588982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Pago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3017520" y="4552406"/>
            <a:ext cx="27432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072384" y="4588982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Evento financiero / transacción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5760720" y="4552406"/>
            <a:ext cx="5715000" cy="627017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815584" y="4588982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Puede ser entidad en un módulo financiero, pero en este laboratorio se modela como salida administrativa.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731520" y="5179423"/>
            <a:ext cx="2286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86384" y="5215999"/>
            <a:ext cx="2176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Revisor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3017520" y="5179423"/>
            <a:ext cx="27432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072384" y="5215999"/>
            <a:ext cx="26334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Rol asociado a persona/servidor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5760720" y="5179423"/>
            <a:ext cx="5715000" cy="627017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815584" y="5215999"/>
            <a:ext cx="5605272" cy="553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Conviene modelar la persona y registrar su rol dentro del proceso.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914400" y="5806440"/>
            <a:ext cx="103327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1167B1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051560" y="592531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67B1"/>
                </a:solidFill>
              </a:rPr>
              <a:t>Regla de decisión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1051560" y="6217920"/>
            <a:ext cx="1005840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Una entidad debe tener identidad propia, atributos, ciclo de vida y relaciones. Si solo describe a otra entidad, probablemente sea atributo; si solo prueba un hecho, probablemente sea documento.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2. Entidades de datos de la UNAC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92024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429768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667512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9052560" y="1828800"/>
            <a:ext cx="822960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897880" y="2240280"/>
            <a:ext cx="0" cy="73152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897880" y="3703320"/>
            <a:ext cx="0" cy="731520"/>
          </a:xfrm>
          <a:prstGeom prst="line">
            <a:avLst/>
          </a:prstGeom>
          <a:noFill/>
          <a:ln w="20320">
            <a:solidFill>
              <a:srgbClr val="21875B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498080" y="4434840"/>
            <a:ext cx="822960" cy="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297680" y="4434840"/>
            <a:ext cx="-822960" cy="0"/>
          </a:xfrm>
          <a:prstGeom prst="line">
            <a:avLst/>
          </a:prstGeom>
          <a:noFill/>
          <a:ln w="20320">
            <a:solidFill>
              <a:srgbClr val="6D5DF6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4360" y="1444752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" y="1536192"/>
            <a:ext cx="1106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Facultad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74320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5292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Escuela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profesional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2064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3036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Plan 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estudios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49808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0780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Asignatura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875520" y="1444752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985248" y="1536192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Docente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120640" y="29718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30368" y="306324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Periodo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académico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120640" y="44348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EAF7F0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30368" y="452628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Matrícula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1920240" y="40690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029968" y="416052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Estudiante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321040" y="40690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9E6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430768" y="4160520"/>
            <a:ext cx="13350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Evaluación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y nota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77240" y="57150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6616F"/>
                </a:solidFill>
              </a:rPr>
              <a:t>La UNAC publica accesos institucionales como SGA, mesa de partes, URA, biblioteca, repositorio, licenciamiento, modelo educativo y mapa de procesos institucional.</a:t>
            </a:r>
            <a:endParaRPr lang="en-US" sz="1080" dirty="0"/>
          </a:p>
        </p:txBody>
      </p:sp>
      <p:sp>
        <p:nvSpPr>
          <p:cNvPr id="35" name="Shape 3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2. Cuadro de entidades académicas de la UNAC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1325880"/>
            <a:ext cx="2011680" cy="56388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77824" y="136245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Entidad</a:t>
            </a:r>
            <a:endParaRPr lang="en-US" sz="880" dirty="0"/>
          </a:p>
        </p:txBody>
      </p:sp>
      <p:sp>
        <p:nvSpPr>
          <p:cNvPr id="10" name="Shape 6"/>
          <p:cNvSpPr/>
          <p:nvPr/>
        </p:nvSpPr>
        <p:spPr>
          <a:xfrm>
            <a:off x="2834640" y="1325880"/>
            <a:ext cx="3749040" cy="56388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9504" y="136245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Descripción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6583680" y="1325880"/>
            <a:ext cx="4800600" cy="56388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38544" y="136245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Relación principal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822960" y="188976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7824" y="192633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Estudiante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834640" y="188976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889504" y="192633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Persona matriculada en un programa académico.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583680" y="188976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38544" y="192633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Se matricula en asignaturas y genera expediente académico.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822960" y="245364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7824" y="249021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Docente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834640" y="245364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889504" y="249021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Responsable de conducir asignaturas y registrar evaluaciones.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6583680" y="245364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38544" y="249021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Dicta asignaturas en un periodo académico.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822960" y="301752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77824" y="305409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Asignatura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834640" y="301752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889504" y="305409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Unidad curricular del plan de estudios.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583680" y="301752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38544" y="305409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Pertenece a un plan; recibe matrícula y evaluaciones.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822960" y="358140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77824" y="361797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Plan de estudios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2834640" y="358140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889504" y="361797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Estructura curricular por escuela profesional.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6583680" y="358140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638544" y="361797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Ordena ciclos, créditos y requisitos.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822960" y="414528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77824" y="418185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Matrícula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2834640" y="414528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889504" y="418185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Registro académico por estudiante, asignatura y periodo.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6583680" y="414528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638544" y="418185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Relaciona estudiante + asignatura + periodo.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822960" y="470916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77824" y="474573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Evaluación / nota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2834640" y="470916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889504" y="474573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Resultado del desempeño académico.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6583680" y="470916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638544" y="474573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Depende de matrícula y asignatura.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822960" y="5273040"/>
            <a:ext cx="201168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77824" y="530961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Expediente académico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2834640" y="5273040"/>
            <a:ext cx="374904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2889504" y="530961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Historial consolidado del estudiante.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6583680" y="5273040"/>
            <a:ext cx="4800600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638544" y="530961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Integra matrículas, notas y situación académica.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822960" y="5836920"/>
            <a:ext cx="201168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77824" y="5873496"/>
            <a:ext cx="190195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Aula / ambiente</a:t>
            </a:r>
            <a:endParaRPr lang="en-US" sz="800" dirty="0"/>
          </a:p>
        </p:txBody>
      </p:sp>
      <p:sp>
        <p:nvSpPr>
          <p:cNvPr id="58" name="Shape 54"/>
          <p:cNvSpPr/>
          <p:nvPr/>
        </p:nvSpPr>
        <p:spPr>
          <a:xfrm>
            <a:off x="2834640" y="5836920"/>
            <a:ext cx="374904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2889504" y="5873496"/>
            <a:ext cx="363931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Espacio físico o virtual de enseñanza.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6583680" y="5836920"/>
            <a:ext cx="4800600" cy="56388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638544" y="5873496"/>
            <a:ext cx="46908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Se asigna a horarios y secciones.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3. Importancia de las bases de datos para el IGP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1417320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0120" y="157276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Trazabilidad</a:t>
            </a:r>
            <a:endParaRPr lang="en-US" sz="1070" dirty="0"/>
          </a:p>
        </p:txBody>
      </p:sp>
      <p:sp>
        <p:nvSpPr>
          <p:cNvPr id="10" name="Text 6"/>
          <p:cNvSpPr/>
          <p:nvPr/>
        </p:nvSpPr>
        <p:spPr>
          <a:xfrm>
            <a:off x="3063240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Conocer qué documento ingresó, cuándo, quién lo revisa y en qué estado se encuentra.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2258568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0120" y="241401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Interoperabilidad</a:t>
            </a:r>
            <a:endParaRPr lang="en-US" sz="1070" dirty="0"/>
          </a:p>
        </p:txBody>
      </p:sp>
      <p:sp>
        <p:nvSpPr>
          <p:cNvPr id="13" name="Text 9"/>
          <p:cNvSpPr/>
          <p:nvPr/>
        </p:nvSpPr>
        <p:spPr>
          <a:xfrm>
            <a:off x="30632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Relacionar personas, órdenes, expedientes, oficinas, entregables y pagos sin duplicar información.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099816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325526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Control</a:t>
            </a:r>
            <a:endParaRPr lang="en-US" sz="1070" dirty="0"/>
          </a:p>
        </p:txBody>
      </p:sp>
      <p:sp>
        <p:nvSpPr>
          <p:cNvPr id="16" name="Text 12"/>
          <p:cNvSpPr/>
          <p:nvPr/>
        </p:nvSpPr>
        <p:spPr>
          <a:xfrm>
            <a:off x="3063240" y="3172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Verificar plazos, conformidades, observaciones, penalidades y evidencia documental.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" y="3941064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60120" y="409651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Consulta</a:t>
            </a:r>
            <a:endParaRPr lang="en-US" sz="1070" dirty="0"/>
          </a:p>
        </p:txBody>
      </p:sp>
      <p:sp>
        <p:nvSpPr>
          <p:cNvPr id="19" name="Text 15"/>
          <p:cNvSpPr/>
          <p:nvPr/>
        </p:nvSpPr>
        <p:spPr>
          <a:xfrm>
            <a:off x="3063240" y="40142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Recuperar antecedentes, informes y estados para decisiones técnicas o administrativas.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22960" y="4782312"/>
            <a:ext cx="2057400" cy="502920"/>
          </a:xfrm>
          <a:prstGeom prst="roundRect">
            <a:avLst>
              <a:gd name="adj" fmla="val 9091"/>
            </a:avLst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0120" y="493776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Toma de decisiones</a:t>
            </a:r>
            <a:endParaRPr lang="en-US" sz="1070" dirty="0"/>
          </a:p>
        </p:txBody>
      </p:sp>
      <p:sp>
        <p:nvSpPr>
          <p:cNvPr id="22" name="Text 18"/>
          <p:cNvSpPr/>
          <p:nvPr/>
        </p:nvSpPr>
        <p:spPr>
          <a:xfrm>
            <a:off x="3063240" y="48554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Generar indicadores sobre tiempos de ciclo, carga documental y puntos de demora.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960120" y="5760720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21875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97280" y="587959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875B"/>
                </a:solidFill>
              </a:rPr>
              <a:t>Enfoque del curso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097280" y="6172200"/>
            <a:ext cx="9966960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La base de datos no se analiza solo como software: se entiende como soporte de procesos, responsables, reglas, documentos y decisiones.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3. Cinco bases de datos conceptuales para el IGP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417320"/>
            <a:ext cx="2788920" cy="66294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32104" y="145389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 de datos conceptual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566160" y="1417320"/>
            <a:ext cx="3886200" cy="66294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21024" y="145389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Finalidad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452360" y="1417320"/>
            <a:ext cx="3977640" cy="66294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07224" y="145389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Entidades vinculadas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77240" y="2080260"/>
            <a:ext cx="278892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32104" y="211683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Expedientes y mesa de partes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3566160" y="2080260"/>
            <a:ext cx="388620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21024" y="211683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Registrar, consultar y trazar documentos ingresados.</a:t>
            </a:r>
            <a:endParaRPr lang="en-US" sz="830" dirty="0"/>
          </a:p>
        </p:txBody>
      </p:sp>
      <p:sp>
        <p:nvSpPr>
          <p:cNvPr id="18" name="Shape 14"/>
          <p:cNvSpPr/>
          <p:nvPr/>
        </p:nvSpPr>
        <p:spPr>
          <a:xfrm>
            <a:off x="7452360" y="2080260"/>
            <a:ext cx="39776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07224" y="211683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Documento, expediente, oficina, estado, usuario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777240" y="2743200"/>
            <a:ext cx="278892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2104" y="277977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Proveedores y órdenes de servicio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3566160" y="2743200"/>
            <a:ext cx="388620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21024" y="277977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Controlar contratación de locadores y servicios.</a:t>
            </a:r>
            <a:endParaRPr lang="en-US" sz="830" dirty="0"/>
          </a:p>
        </p:txBody>
      </p:sp>
      <p:sp>
        <p:nvSpPr>
          <p:cNvPr id="24" name="Shape 20"/>
          <p:cNvSpPr/>
          <p:nvPr/>
        </p:nvSpPr>
        <p:spPr>
          <a:xfrm>
            <a:off x="7452360" y="2743200"/>
            <a:ext cx="397764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07224" y="277977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Proveedor, OS, proyecto, área usuaria, plazo</a:t>
            </a:r>
            <a:endParaRPr lang="en-US" sz="830" dirty="0"/>
          </a:p>
        </p:txBody>
      </p:sp>
      <p:sp>
        <p:nvSpPr>
          <p:cNvPr id="26" name="Shape 22"/>
          <p:cNvSpPr/>
          <p:nvPr/>
        </p:nvSpPr>
        <p:spPr>
          <a:xfrm>
            <a:off x="777240" y="3406140"/>
            <a:ext cx="278892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2104" y="344271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Entregables y conformidades</a:t>
            </a:r>
            <a:endParaRPr lang="en-US" sz="830" dirty="0"/>
          </a:p>
        </p:txBody>
      </p:sp>
      <p:sp>
        <p:nvSpPr>
          <p:cNvPr id="28" name="Shape 24"/>
          <p:cNvSpPr/>
          <p:nvPr/>
        </p:nvSpPr>
        <p:spPr>
          <a:xfrm>
            <a:off x="3566160" y="3406140"/>
            <a:ext cx="388620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21024" y="344271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Monitorear cumplimiento técnico y administrativo.</a:t>
            </a:r>
            <a:endParaRPr lang="en-US" sz="830" dirty="0"/>
          </a:p>
        </p:txBody>
      </p:sp>
      <p:sp>
        <p:nvSpPr>
          <p:cNvPr id="30" name="Shape 26"/>
          <p:cNvSpPr/>
          <p:nvPr/>
        </p:nvSpPr>
        <p:spPr>
          <a:xfrm>
            <a:off x="7452360" y="3406140"/>
            <a:ext cx="39776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507224" y="344271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Entregable, informe, revisor, responsable, conformidad</a:t>
            </a:r>
            <a:endParaRPr lang="en-US" sz="830" dirty="0"/>
          </a:p>
        </p:txBody>
      </p:sp>
      <p:sp>
        <p:nvSpPr>
          <p:cNvPr id="32" name="Shape 28"/>
          <p:cNvSpPr/>
          <p:nvPr/>
        </p:nvSpPr>
        <p:spPr>
          <a:xfrm>
            <a:off x="777240" y="4069080"/>
            <a:ext cx="278892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2104" y="410565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Gestión de proyectos presupuestales</a:t>
            </a:r>
            <a:endParaRPr lang="en-US" sz="830" dirty="0"/>
          </a:p>
        </p:txBody>
      </p:sp>
      <p:sp>
        <p:nvSpPr>
          <p:cNvPr id="34" name="Shape 30"/>
          <p:cNvSpPr/>
          <p:nvPr/>
        </p:nvSpPr>
        <p:spPr>
          <a:xfrm>
            <a:off x="3566160" y="4069080"/>
            <a:ext cx="388620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21024" y="410565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Relacionar proyectos, productos, gastos y resultados.</a:t>
            </a:r>
            <a:endParaRPr lang="en-US" sz="830" dirty="0"/>
          </a:p>
        </p:txBody>
      </p:sp>
      <p:sp>
        <p:nvSpPr>
          <p:cNvPr id="36" name="Shape 32"/>
          <p:cNvSpPr/>
          <p:nvPr/>
        </p:nvSpPr>
        <p:spPr>
          <a:xfrm>
            <a:off x="7452360" y="4069080"/>
            <a:ext cx="3977640" cy="66294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507224" y="410565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Proyecto, actividad, presupuesto, entregable, indicador</a:t>
            </a:r>
            <a:endParaRPr lang="en-US" sz="830" dirty="0"/>
          </a:p>
        </p:txBody>
      </p:sp>
      <p:sp>
        <p:nvSpPr>
          <p:cNvPr id="38" name="Shape 34"/>
          <p:cNvSpPr/>
          <p:nvPr/>
        </p:nvSpPr>
        <p:spPr>
          <a:xfrm>
            <a:off x="777240" y="4732020"/>
            <a:ext cx="278892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32104" y="4768596"/>
            <a:ext cx="26791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Bienes y adquisiciones</a:t>
            </a:r>
            <a:endParaRPr lang="en-US" sz="830" dirty="0"/>
          </a:p>
        </p:txBody>
      </p:sp>
      <p:sp>
        <p:nvSpPr>
          <p:cNvPr id="40" name="Shape 36"/>
          <p:cNvSpPr/>
          <p:nvPr/>
        </p:nvSpPr>
        <p:spPr>
          <a:xfrm>
            <a:off x="3566160" y="4732020"/>
            <a:ext cx="388620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21024" y="4768596"/>
            <a:ext cx="377647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Trazar requerimientos, fichas-producto y órdenes de compra.</a:t>
            </a:r>
            <a:endParaRPr lang="en-US" sz="830" dirty="0"/>
          </a:p>
        </p:txBody>
      </p:sp>
      <p:sp>
        <p:nvSpPr>
          <p:cNvPr id="42" name="Shape 38"/>
          <p:cNvSpPr/>
          <p:nvPr/>
        </p:nvSpPr>
        <p:spPr>
          <a:xfrm>
            <a:off x="7452360" y="4732020"/>
            <a:ext cx="3977640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507224" y="4768596"/>
            <a:ext cx="386791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827"/>
                </a:solidFill>
              </a:rPr>
              <a:t>Bien, requerimiento, ficha CEAM, proveedor, recepción</a:t>
            </a:r>
            <a:endParaRPr lang="en-US" sz="830" dirty="0"/>
          </a:p>
        </p:txBody>
      </p:sp>
      <p:sp>
        <p:nvSpPr>
          <p:cNvPr id="44" name="Text 40"/>
          <p:cNvSpPr/>
          <p:nvPr/>
        </p:nvSpPr>
        <p:spPr>
          <a:xfrm>
            <a:off x="822960" y="56509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Estas bases son denominaciones funcionales para el análisis académico; no se afirman como nombres de sistemas internos del IGP.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822960" y="599846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616F"/>
                </a:solidFill>
              </a:rPr>
              <a:t>El Buscador de Catálogos Electrónicos de Perú Compras publica fichas-producto y acuerdos marco vigentes para bienes como computadoras, impresoras y equipos multimedia.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4. Plan para construir e implementar una base de datos del IGP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292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01498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Requerimientos</a:t>
            </a:r>
            <a:endParaRPr lang="en-US" sz="1070" dirty="0"/>
          </a:p>
        </p:txBody>
      </p:sp>
      <p:sp>
        <p:nvSpPr>
          <p:cNvPr id="12" name="Text 8"/>
          <p:cNvSpPr/>
          <p:nvPr/>
        </p:nvSpPr>
        <p:spPr>
          <a:xfrm>
            <a:off x="101498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Entrevistas, observación y revisión documental del proceso.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3154680" y="187452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8328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9300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9300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89534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Actores y entidades</a:t>
            </a:r>
            <a:endParaRPr lang="en-US" sz="1070" dirty="0"/>
          </a:p>
        </p:txBody>
      </p:sp>
      <p:sp>
        <p:nvSpPr>
          <p:cNvPr id="18" name="Text 14"/>
          <p:cNvSpPr/>
          <p:nvPr/>
        </p:nvSpPr>
        <p:spPr>
          <a:xfrm>
            <a:off x="389534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Locador, revisor, expediente, informe, OS, oficina.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6035040" y="187452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26364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7336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7336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77570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Modelo conceptual</a:t>
            </a:r>
            <a:endParaRPr lang="en-US" sz="1070" dirty="0"/>
          </a:p>
        </p:txBody>
      </p:sp>
      <p:sp>
        <p:nvSpPr>
          <p:cNvPr id="24" name="Text 20"/>
          <p:cNvSpPr/>
          <p:nvPr/>
        </p:nvSpPr>
        <p:spPr>
          <a:xfrm>
            <a:off x="677570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ER inicial y reglas de negocio.</a:t>
            </a:r>
            <a:endParaRPr lang="en-US" sz="840" dirty="0"/>
          </a:p>
        </p:txBody>
      </p:sp>
      <p:sp>
        <p:nvSpPr>
          <p:cNvPr id="25" name="Shape 21"/>
          <p:cNvSpPr/>
          <p:nvPr/>
        </p:nvSpPr>
        <p:spPr>
          <a:xfrm>
            <a:off x="8915400" y="187452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9144000" y="141732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253728" y="159105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253728" y="1655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9656064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Modelo lógico</a:t>
            </a:r>
            <a:endParaRPr lang="en-US" sz="1070" dirty="0"/>
          </a:p>
        </p:txBody>
      </p:sp>
      <p:sp>
        <p:nvSpPr>
          <p:cNvPr id="30" name="Text 26"/>
          <p:cNvSpPr/>
          <p:nvPr/>
        </p:nvSpPr>
        <p:spPr>
          <a:xfrm>
            <a:off x="9656064" y="1810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Tablas, claves primarias y foráneas.</a:t>
            </a:r>
            <a:endParaRPr lang="en-US" sz="840" dirty="0"/>
          </a:p>
        </p:txBody>
      </p:sp>
      <p:sp>
        <p:nvSpPr>
          <p:cNvPr id="31" name="Shape 27"/>
          <p:cNvSpPr/>
          <p:nvPr/>
        </p:nvSpPr>
        <p:spPr>
          <a:xfrm>
            <a:off x="50292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1264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1264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01498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Normalización</a:t>
            </a:r>
            <a:endParaRPr lang="en-US" sz="1070" dirty="0"/>
          </a:p>
        </p:txBody>
      </p:sp>
      <p:sp>
        <p:nvSpPr>
          <p:cNvPr id="35" name="Text 31"/>
          <p:cNvSpPr/>
          <p:nvPr/>
        </p:nvSpPr>
        <p:spPr>
          <a:xfrm>
            <a:off x="101498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Eliminar redundancia y dependencias inconsistentes.</a:t>
            </a:r>
            <a:endParaRPr lang="en-US" sz="840" dirty="0"/>
          </a:p>
        </p:txBody>
      </p:sp>
      <p:sp>
        <p:nvSpPr>
          <p:cNvPr id="36" name="Shape 32"/>
          <p:cNvSpPr/>
          <p:nvPr/>
        </p:nvSpPr>
        <p:spPr>
          <a:xfrm>
            <a:off x="3154680" y="333756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338328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49300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9300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389534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Diseño físico</a:t>
            </a:r>
            <a:endParaRPr lang="en-US" sz="1070" dirty="0"/>
          </a:p>
        </p:txBody>
      </p:sp>
      <p:sp>
        <p:nvSpPr>
          <p:cNvPr id="41" name="Text 37"/>
          <p:cNvSpPr/>
          <p:nvPr/>
        </p:nvSpPr>
        <p:spPr>
          <a:xfrm>
            <a:off x="389534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Motor, índices, almacenamiento, backups.</a:t>
            </a:r>
            <a:endParaRPr lang="en-US" sz="840" dirty="0"/>
          </a:p>
        </p:txBody>
      </p:sp>
      <p:sp>
        <p:nvSpPr>
          <p:cNvPr id="42" name="Shape 38"/>
          <p:cNvSpPr/>
          <p:nvPr/>
        </p:nvSpPr>
        <p:spPr>
          <a:xfrm>
            <a:off x="6035040" y="333756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626364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0F6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37336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37336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677570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Seguridad</a:t>
            </a:r>
            <a:endParaRPr lang="en-US" sz="1070" dirty="0"/>
          </a:p>
        </p:txBody>
      </p:sp>
      <p:sp>
        <p:nvSpPr>
          <p:cNvPr id="47" name="Text 43"/>
          <p:cNvSpPr/>
          <p:nvPr/>
        </p:nvSpPr>
        <p:spPr>
          <a:xfrm>
            <a:off x="677570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Roles, perfiles, trazabilidad, auditoría.</a:t>
            </a:r>
            <a:endParaRPr lang="en-US" sz="840" dirty="0"/>
          </a:p>
        </p:txBody>
      </p:sp>
      <p:sp>
        <p:nvSpPr>
          <p:cNvPr id="48" name="Shape 44"/>
          <p:cNvSpPr/>
          <p:nvPr/>
        </p:nvSpPr>
        <p:spPr>
          <a:xfrm>
            <a:off x="8915400" y="3337560"/>
            <a:ext cx="292608" cy="0"/>
          </a:xfrm>
          <a:prstGeom prst="line">
            <a:avLst/>
          </a:prstGeom>
          <a:noFill/>
          <a:ln w="20320">
            <a:solidFill>
              <a:srgbClr val="1167B1"/>
            </a:solidFill>
            <a:prstDash val="solid"/>
            <a:headEnd type="none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9144000" y="2880360"/>
            <a:ext cx="2606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253728" y="3054096"/>
            <a:ext cx="310896" cy="310896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9253728" y="3118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9656064" y="2999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2E59"/>
                </a:solidFill>
              </a:rPr>
              <a:t>Pruebas e implementación</a:t>
            </a:r>
            <a:endParaRPr lang="en-US" sz="1070" dirty="0"/>
          </a:p>
        </p:txBody>
      </p:sp>
      <p:sp>
        <p:nvSpPr>
          <p:cNvPr id="53" name="Text 49"/>
          <p:cNvSpPr/>
          <p:nvPr/>
        </p:nvSpPr>
        <p:spPr>
          <a:xfrm>
            <a:off x="965606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Migración, capacitación, despliegue y mantenimiento.</a:t>
            </a:r>
            <a:endParaRPr lang="en-US" sz="840" dirty="0"/>
          </a:p>
        </p:txBody>
      </p:sp>
      <p:sp>
        <p:nvSpPr>
          <p:cNvPr id="54" name="Shape 50"/>
          <p:cNvSpPr/>
          <p:nvPr/>
        </p:nvSpPr>
        <p:spPr>
          <a:xfrm>
            <a:off x="731520" y="489204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21875B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868680" y="50109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875B"/>
                </a:solidFill>
              </a:rPr>
              <a:t>Alineamiento organizacional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868680" y="530352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El plan debe iniciar con el proceso y sus decisiones; la programación viene después del modelo de información y de las reglas de gestión.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4. Controles mínimos: calidad, seguridad y gobierno de datos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0F6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463040" y="1783080"/>
            <a:ext cx="594360" cy="59436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46304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Calidad de datos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6012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Validaciones de RUC/DNI, fechas, códigos de expediente y duplicados.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01752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03320" y="1783080"/>
            <a:ext cx="594360" cy="594360"/>
          </a:xfrm>
          <a:prstGeom prst="ellipse">
            <a:avLst/>
          </a:prstGeom>
          <a:solidFill>
            <a:srgbClr val="21875B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0332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0040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Seguridad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20040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Perfiles por rol: registro, revisión, aprobación, consulta y auditoría.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25780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0F6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43600" y="1783080"/>
            <a:ext cx="594360" cy="594360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4360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44068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Trazabilidad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44068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Bitácora de cambios, fecha/hora, usuario y estado anterior/nuevo.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49808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83880" y="1783080"/>
            <a:ext cx="594360" cy="59436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8388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68096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Interoperabilidad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768096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Catálogos únicos para oficinas, proyectos, documentos y estados.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9738360" y="150876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0F6FF"/>
          </a:solidFill>
          <a:ln w="12700">
            <a:solidFill>
              <a:srgbClr val="D4DE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424160" y="1783080"/>
            <a:ext cx="594360" cy="594360"/>
          </a:xfrm>
          <a:prstGeom prst="ellipse">
            <a:avLst/>
          </a:prstGeom>
          <a:solidFill>
            <a:srgbClr val="4CB3D8"/>
          </a:solidFill>
          <a:ln w="12700">
            <a:solidFill>
              <a:srgbClr val="4CB3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0424160" y="19293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92124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</a:rPr>
              <a:t>Indicadores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9921240" y="3063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Tiempo de ciclo, documentos observados, expedientes vencidos y carga por oficina.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914400" y="5212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616F"/>
                </a:solidFill>
              </a:rPr>
              <a:t>Sin gobierno de datos, una base puede almacenar información, pero no garantiza confiabilidad ni utilidad para la gestión.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5. Cinco bases o plataformas públicas importantes del Perú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1417320"/>
            <a:ext cx="3200400" cy="70866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6384" y="145389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Base / plataforma</a:t>
            </a:r>
            <a:endParaRPr lang="en-US" sz="890" dirty="0"/>
          </a:p>
        </p:txBody>
      </p:sp>
      <p:sp>
        <p:nvSpPr>
          <p:cNvPr id="10" name="Shape 6"/>
          <p:cNvSpPr/>
          <p:nvPr/>
        </p:nvSpPr>
        <p:spPr>
          <a:xfrm>
            <a:off x="3931920" y="1417320"/>
            <a:ext cx="2560320" cy="70866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86784" y="145389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Entidad responsable</a:t>
            </a:r>
            <a:endParaRPr lang="en-US" sz="890" dirty="0"/>
          </a:p>
        </p:txBody>
      </p:sp>
      <p:sp>
        <p:nvSpPr>
          <p:cNvPr id="12" name="Shape 8"/>
          <p:cNvSpPr/>
          <p:nvPr/>
        </p:nvSpPr>
        <p:spPr>
          <a:xfrm>
            <a:off x="6492240" y="1417320"/>
            <a:ext cx="4983480" cy="708660"/>
          </a:xfrm>
          <a:prstGeom prst="rect">
            <a:avLst/>
          </a:prstGeom>
          <a:solidFill>
            <a:srgbClr val="0B2E59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47104" y="145389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Relevancia institucional</a:t>
            </a:r>
            <a:endParaRPr lang="en-US" sz="890" dirty="0"/>
          </a:p>
        </p:txBody>
      </p:sp>
      <p:sp>
        <p:nvSpPr>
          <p:cNvPr id="14" name="Shape 10"/>
          <p:cNvSpPr/>
          <p:nvPr/>
        </p:nvSpPr>
        <p:spPr>
          <a:xfrm>
            <a:off x="731520" y="2125980"/>
            <a:ext cx="320040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6384" y="216255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Registro de Identificación / DNI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3931920" y="2125980"/>
            <a:ext cx="256032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86784" y="216255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RENIEC</a:t>
            </a:r>
            <a:endParaRPr lang="en-US" sz="820" dirty="0"/>
          </a:p>
        </p:txBody>
      </p:sp>
      <p:sp>
        <p:nvSpPr>
          <p:cNvPr id="18" name="Shape 14"/>
          <p:cNvSpPr/>
          <p:nvPr/>
        </p:nvSpPr>
        <p:spPr>
          <a:xfrm>
            <a:off x="6492240" y="2125980"/>
            <a:ext cx="498348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47104" y="216255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Identifica a las personas y habilita autenticación y trámites digitales.</a:t>
            </a:r>
            <a:endParaRPr lang="en-US" sz="820" dirty="0"/>
          </a:p>
        </p:txBody>
      </p:sp>
      <p:sp>
        <p:nvSpPr>
          <p:cNvPr id="20" name="Shape 16"/>
          <p:cNvSpPr/>
          <p:nvPr/>
        </p:nvSpPr>
        <p:spPr>
          <a:xfrm>
            <a:off x="731520" y="2834640"/>
            <a:ext cx="320040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" y="287121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Consulta RUC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3931920" y="2834640"/>
            <a:ext cx="256032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986784" y="287121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SUNAT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6492240" y="2834640"/>
            <a:ext cx="498348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47104" y="287121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Permite verificar contribuyentes, condición y datos tributarios básicos.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731520" y="3543300"/>
            <a:ext cx="320040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6384" y="357987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Consulta Amigable / Transparencia Económica</a:t>
            </a:r>
            <a:endParaRPr lang="en-US" sz="820" dirty="0"/>
          </a:p>
        </p:txBody>
      </p:sp>
      <p:sp>
        <p:nvSpPr>
          <p:cNvPr id="28" name="Shape 24"/>
          <p:cNvSpPr/>
          <p:nvPr/>
        </p:nvSpPr>
        <p:spPr>
          <a:xfrm>
            <a:off x="3931920" y="3543300"/>
            <a:ext cx="256032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986784" y="357987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MEF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6492240" y="3543300"/>
            <a:ext cx="498348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47104" y="357987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Permite consultar ejecución presupuestal y gasto público.</a:t>
            </a:r>
            <a:endParaRPr lang="en-US" sz="820" dirty="0"/>
          </a:p>
        </p:txBody>
      </p:sp>
      <p:sp>
        <p:nvSpPr>
          <p:cNvPr id="32" name="Shape 28"/>
          <p:cNvSpPr/>
          <p:nvPr/>
        </p:nvSpPr>
        <p:spPr>
          <a:xfrm>
            <a:off x="731520" y="4251960"/>
            <a:ext cx="320040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86384" y="428853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Plataforma Nacional de Datos Abiertos</a:t>
            </a:r>
            <a:endParaRPr lang="en-US" sz="820" dirty="0"/>
          </a:p>
        </p:txBody>
      </p:sp>
      <p:sp>
        <p:nvSpPr>
          <p:cNvPr id="34" name="Shape 30"/>
          <p:cNvSpPr/>
          <p:nvPr/>
        </p:nvSpPr>
        <p:spPr>
          <a:xfrm>
            <a:off x="3931920" y="4251960"/>
            <a:ext cx="256032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986784" y="428853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Estado peruano</a:t>
            </a:r>
            <a:endParaRPr lang="en-US" sz="820" dirty="0"/>
          </a:p>
        </p:txBody>
      </p:sp>
      <p:sp>
        <p:nvSpPr>
          <p:cNvPr id="36" name="Shape 32"/>
          <p:cNvSpPr/>
          <p:nvPr/>
        </p:nvSpPr>
        <p:spPr>
          <a:xfrm>
            <a:off x="6492240" y="4251960"/>
            <a:ext cx="4983480" cy="708660"/>
          </a:xfrm>
          <a:prstGeom prst="rect">
            <a:avLst/>
          </a:prstGeom>
          <a:solidFill>
            <a:srgbClr val="F7FAFC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547104" y="428853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Centraliza datasets públicos reutilizables por ciudadanía, academia y empresas.</a:t>
            </a:r>
            <a:endParaRPr lang="en-US" sz="820" dirty="0"/>
          </a:p>
        </p:txBody>
      </p:sp>
      <p:sp>
        <p:nvSpPr>
          <p:cNvPr id="38" name="Shape 34"/>
          <p:cNvSpPr/>
          <p:nvPr/>
        </p:nvSpPr>
        <p:spPr>
          <a:xfrm>
            <a:off x="731520" y="4960620"/>
            <a:ext cx="320040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86384" y="4997196"/>
            <a:ext cx="309067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SEACE / contratación pública</a:t>
            </a:r>
            <a:endParaRPr lang="en-US" sz="820" dirty="0"/>
          </a:p>
        </p:txBody>
      </p:sp>
      <p:sp>
        <p:nvSpPr>
          <p:cNvPr id="40" name="Shape 36"/>
          <p:cNvSpPr/>
          <p:nvPr/>
        </p:nvSpPr>
        <p:spPr>
          <a:xfrm>
            <a:off x="3931920" y="4960620"/>
            <a:ext cx="256032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986784" y="4997196"/>
            <a:ext cx="245059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OSCE / Perú Compras</a:t>
            </a:r>
            <a:endParaRPr lang="en-US" sz="820" dirty="0"/>
          </a:p>
        </p:txBody>
      </p:sp>
      <p:sp>
        <p:nvSpPr>
          <p:cNvPr id="42" name="Shape 38"/>
          <p:cNvSpPr/>
          <p:nvPr/>
        </p:nvSpPr>
        <p:spPr>
          <a:xfrm>
            <a:off x="6492240" y="4960620"/>
            <a:ext cx="4983480" cy="7086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E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547104" y="4997196"/>
            <a:ext cx="4873752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Da trazabilidad a procesos de contratación, bienes, proveedores y órdenes.</a:t>
            </a:r>
            <a:endParaRPr lang="en-US" sz="820" dirty="0"/>
          </a:p>
        </p:txBody>
      </p:sp>
      <p:sp>
        <p:nvSpPr>
          <p:cNvPr id="44" name="Text 40"/>
          <p:cNvSpPr/>
          <p:nvPr/>
        </p:nvSpPr>
        <p:spPr>
          <a:xfrm>
            <a:off x="822960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6F"/>
                </a:solidFill>
              </a:rPr>
              <a:t>Selección orientada a bases de datos con impacto transversal en identidad, tributación, presupuesto, datos abiertos y contrataciones del Estado.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Conclusiones del Laboratorio 2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1527048"/>
            <a:ext cx="438912" cy="438912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1627632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508760" y="15544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Las entidades del IGP se deben definir por su función dentro del proceso, no por la existencia de un archivo adjunto.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2368296"/>
            <a:ext cx="438912" cy="438912"/>
          </a:xfrm>
          <a:prstGeom prst="ellipse">
            <a:avLst/>
          </a:prstGeom>
          <a:solidFill>
            <a:srgbClr val="21875B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2468880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508760" y="23957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El proceso de entregables permite integrar datos, documentos, roles, decisiones, controles y estados de trámite.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" y="3209544"/>
            <a:ext cx="438912" cy="438912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331012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508760" y="323697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En la UNAC, las entidades académicas se articulan alrededor de matrícula, asignatura, docente, estudiante y periodo.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22960" y="4050792"/>
            <a:ext cx="438912" cy="438912"/>
          </a:xfrm>
          <a:prstGeom prst="ellipse">
            <a:avLst/>
          </a:prstGeom>
          <a:solidFill>
            <a:srgbClr val="21875B"/>
          </a:solidFill>
          <a:ln w="12700">
            <a:solidFill>
              <a:srgbClr val="21875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4151376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508760" y="407822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Una base de datos institucional debe diseñarse desde procesos y reglas de negocio antes de seleccionar tecnología.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914400" y="5285232"/>
            <a:ext cx="10332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6D5D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51560" y="540410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5DF6"/>
                </a:solidFill>
              </a:rPr>
              <a:t>Siguiente paso del proyecto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51560" y="569671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Usar estas entidades como base para caracterizar el proceso, elaborar SIPOC, flujograma AS-IS y posteriormente proponer mejoras TO-BE.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Grupo 9 · Diseño y Gestión de Procesos Organizacionales · 2026-B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0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Laboratorio 2</a:t>
            </a:r>
            <a:endParaRPr lang="en-US" sz="850" dirty="0"/>
          </a:p>
        </p:txBody>
      </p:sp>
      <p:pic>
        <p:nvPicPr>
          <p:cNvPr id="4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247" y="54864"/>
            <a:ext cx="310896" cy="310896"/>
          </a:xfrm>
          <a:prstGeom prst="rect">
            <a:avLst/>
          </a:prstGeom>
        </p:spPr>
      </p:pic>
      <p:pic>
        <p:nvPicPr>
          <p:cNvPr id="5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441" y="91440"/>
            <a:ext cx="455508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E59"/>
                </a:solidFill>
              </a:rPr>
              <a:t>Referencias en formato APA 7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502920" y="1106424"/>
            <a:ext cx="1115568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1261872"/>
            <a:ext cx="1088136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Malca Vicente, E. (2026). Sílabo: Diseño y Gestión de Procesos Organizacionales. Universidad Nacional del Callao.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Malca Vicente, E. (2026). Datos e información [material de clase]. Universidad Nacional del Callao.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Malca Vicente, E. (2026). Sistemas de información – clasificación [material de clase]. Universidad Nacional del Callao.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Hernández Trasobares, A. (s. f.). Los sistemas de información: evolución y desarrollo. Universidad de Zaragoza.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Instituto Geofísico del Perú. (2026). Mesa de Partes Virtual. https://www.igp.gob.pe/servicios/mesa-partes-virtual/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Perú Compras. (2026). Buscador de fichas-producto – Catálogos Electrónicos. https://buscadorcatalogos.perucompras.gob.pe/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Universidad Nacional del Callao. (2026). Portal institucional. https://www.unac.edu.pe/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RENIEC. (2026). Plataforma de identidad digital y servicios en línea. https://identidad.reniec.gob.pe/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SUNAT. (2026). Consulta RUC. https://e-consultaruc.sunat.gob.pe/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MEF. (2026). Consulta Amigable – Transparencia Económica. https://apps5.mineco.gob.pe/transparencia/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Estado Peruano. (2026). Plataforma Nacional de Datos Abiertos. https://www.datosabiertos.gob.pe/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</a:rPr>
              <a:t>OSCE. (2026). Sistema Electrónico de Contrataciones del Estado – SEACE. https://www.gob.pe/osce/</a:t>
            </a:r>
            <a:endParaRPr lang="en-US" sz="840" dirty="0"/>
          </a:p>
        </p:txBody>
      </p:sp>
      <p:sp>
        <p:nvSpPr>
          <p:cNvPr id="9" name="Shape 5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10160">
            <a:solidFill>
              <a:srgbClr val="D4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Referencias · APA 7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6616F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2 - Datos e información</dc:title>
  <dc:subject>Laboratorio 2 - Diseño y Gestión de Procesos Organizacionales</dc:subject>
  <dc:creator>Grupo 9 - UNAC</dc:creator>
  <cp:lastModifiedBy>Grupo 9 - UNAC</cp:lastModifiedBy>
  <cp:revision>1</cp:revision>
  <dcterms:created xsi:type="dcterms:W3CDTF">2026-09-24T17:03:00Z</dcterms:created>
  <dcterms:modified xsi:type="dcterms:W3CDTF">2026-09-24T17:03:00Z</dcterms:modified>
</cp:coreProperties>
</file>